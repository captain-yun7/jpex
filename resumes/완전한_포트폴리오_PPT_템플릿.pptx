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0"/>
            <a:ext cx="1828800" cy="2743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7200" b="1">
                <a:solidFill>
                  <a:srgbClr val="E6E6E6"/>
                </a:solidFill>
              </a:defRPr>
            </a:pPr>
            <a:r>
              <a:t>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>
                <a:solidFill>
                  <a:srgbClr val="6496C8"/>
                </a:solidFill>
              </a:defRPr>
            </a:pPr>
            <a:r>
              <a:t>미래를 설계하는 개발자</a:t>
            </a:r>
          </a:p>
          <a:p>
            <a:pPr>
              <a:defRPr sz="2800">
                <a:solidFill>
                  <a:srgbClr val="6496C8"/>
                </a:solidFill>
              </a:defRPr>
            </a:pPr>
            <a:r>
              <a:t>이미래 입니다.</a:t>
            </a:r>
          </a:p>
        </p:txBody>
      </p:sp>
      <p:sp>
        <p:nvSpPr>
          <p:cNvPr id="4" name="Oval 3"/>
          <p:cNvSpPr/>
          <p:nvPr/>
        </p:nvSpPr>
        <p:spPr>
          <a:xfrm>
            <a:off x="1097280" y="2011680"/>
            <a:ext cx="1828800" cy="1828800"/>
          </a:xfrm>
          <a:prstGeom prst="ellipse">
            <a:avLst/>
          </a:prstGeom>
          <a:solidFill>
            <a:srgbClr val="C8DCF0"/>
          </a:solidFill>
          <a:ln w="38100">
            <a:solidFill>
              <a:srgbClr val="649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646464"/>
                </a:solidFill>
              </a:defRPr>
            </a:pPr>
            <a:r>
              <a:t>프로필</a:t>
            </a:r>
          </a:p>
          <a:p>
            <a:r>
              <a:t>사진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02336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282828"/>
                </a:solidFill>
              </a:defRPr>
            </a:pPr>
            <a:r>
              <a:t>이미래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8912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646464"/>
                </a:solidFill>
              </a:defRPr>
            </a:pPr>
            <a:r>
              <a:t>1995.08.28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84632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496C8"/>
                </a:solidFill>
              </a:defRPr>
            </a:pPr>
            <a:r>
              <a:t>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8463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C3C3C"/>
                </a:solidFill>
              </a:defRPr>
            </a:pPr>
            <a:r>
              <a:t>010.7552.3951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166359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496C8"/>
                </a:solidFill>
              </a:defRPr>
            </a:pPr>
            <a:r>
              <a:t>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66359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C3C3C"/>
                </a:solidFill>
              </a:defRPr>
            </a:pPr>
            <a:r>
              <a:t>mirae3951@gmail.com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486399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496C8"/>
                </a:solidFill>
              </a:defRPr>
            </a:pPr>
            <a:r>
              <a:t>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486399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C3C3C"/>
                </a:solidFill>
              </a:defRPr>
            </a:pPr>
            <a:r>
              <a:t>서울 강서구 화곡동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40480" y="457200"/>
            <a:ext cx="18288" cy="64008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0" y="4572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6496C8"/>
                </a:solidFill>
              </a:defRPr>
            </a:pPr>
            <a:r>
              <a:t>경력사항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777240"/>
            <a:ext cx="4572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defRPr sz="1000">
                <a:solidFill>
                  <a:srgbClr val="505050"/>
                </a:solidFill>
              </a:defRPr>
            </a:pPr>
            <a:r>
              <a:t>개발직 경력: 1년 11개월</a:t>
            </a:r>
          </a:p>
          <a:p>
            <a:r>
              <a:t>2023.05 ~ 2025.04        인피닉 ( AI팀, 연구원 )</a:t>
            </a:r>
          </a:p>
          <a:p>
            <a:r>
              <a:t>                                     - AI 연구소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173736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6496C8"/>
                </a:solidFill>
              </a:defRPr>
            </a:pPr>
            <a:r>
              <a:t>교육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2057400"/>
            <a:ext cx="4572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05050"/>
                </a:solidFill>
              </a:defRPr>
            </a:pPr>
            <a:r>
              <a:t>2025.04 ~ 진행중        AWS 클라우드를 활용한</a:t>
            </a:r>
          </a:p>
          <a:p>
            <a:r>
              <a:t>                                     MSA 기반 자바 개발자 과정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27432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6496C8"/>
                </a:solidFill>
              </a:defRPr>
            </a:pPr>
            <a:r>
              <a:t>자격증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3063240"/>
            <a:ext cx="4572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defRPr sz="1000">
                <a:solidFill>
                  <a:srgbClr val="505050"/>
                </a:solidFill>
              </a:defRPr>
            </a:pPr>
            <a:r>
              <a:t>- 빅데이터 분석기사</a:t>
            </a:r>
          </a:p>
          <a:p>
            <a:r>
              <a:t>- SQL (SQLD)</a:t>
            </a:r>
          </a:p>
          <a:p>
            <a:r>
              <a:t>- 데이터 분석 준전문가 (ADsP)</a:t>
            </a:r>
          </a:p>
          <a:p>
            <a:r>
              <a:t>- 컴퓨터 활용 능력 (1급)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384048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6496C8"/>
                </a:solidFill>
              </a:defRPr>
            </a:pPr>
            <a:r>
              <a:t>스킬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75120" y="4160520"/>
            <a:ext cx="731520" cy="228600"/>
          </a:xfrm>
          <a:prstGeom prst="roundRect">
            <a:avLst/>
          </a:prstGeom>
          <a:solidFill>
            <a:srgbClr val="F0F5FA"/>
          </a:solidFill>
          <a:ln>
            <a:solidFill>
              <a:srgbClr val="649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6496C8"/>
                </a:solidFill>
              </a:defRPr>
            </a:pPr>
            <a:r>
              <a:t>Languages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79" y="4160520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3C3C3C"/>
                </a:solidFill>
              </a:defRPr>
            </a:pPr>
            <a:r>
              <a:t>Python, Java, JavaScript, TypeScript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675120" y="4453128"/>
            <a:ext cx="731520" cy="228600"/>
          </a:xfrm>
          <a:prstGeom prst="roundRect">
            <a:avLst/>
          </a:prstGeom>
          <a:solidFill>
            <a:srgbClr val="F0F5FA"/>
          </a:solidFill>
          <a:ln>
            <a:solidFill>
              <a:srgbClr val="649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6496C8"/>
                </a:solidFill>
              </a:defRPr>
            </a:pPr>
            <a:r>
              <a:t>Backend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9" y="4453128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3C3C3C"/>
                </a:solidFill>
              </a:defRPr>
            </a:pPr>
            <a:r>
              <a:t>Spring Boot, Spring Cloud, Spring Security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75120" y="4745736"/>
            <a:ext cx="731520" cy="228600"/>
          </a:xfrm>
          <a:prstGeom prst="roundRect">
            <a:avLst/>
          </a:prstGeom>
          <a:solidFill>
            <a:srgbClr val="F0F5FA"/>
          </a:solidFill>
          <a:ln>
            <a:solidFill>
              <a:srgbClr val="649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6496C8"/>
                </a:solidFill>
              </a:defRPr>
            </a:pPr>
            <a:r>
              <a:t>Frontend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4745736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3C3C3C"/>
                </a:solidFill>
              </a:defRPr>
            </a:pPr>
            <a:r>
              <a:t>React, Next.js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675120" y="5038344"/>
            <a:ext cx="731520" cy="228600"/>
          </a:xfrm>
          <a:prstGeom prst="roundRect">
            <a:avLst/>
          </a:prstGeom>
          <a:solidFill>
            <a:srgbClr val="F0F5FA"/>
          </a:solidFill>
          <a:ln>
            <a:solidFill>
              <a:srgbClr val="649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6496C8"/>
                </a:solidFill>
              </a:defRPr>
            </a:pPr>
            <a:r>
              <a:t>Database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79" y="5038344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3C3C3C"/>
                </a:solidFill>
              </a:defRPr>
            </a:pPr>
            <a:r>
              <a:t>MySQL, Postgre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675120" y="5330952"/>
            <a:ext cx="731520" cy="228600"/>
          </a:xfrm>
          <a:prstGeom prst="roundRect">
            <a:avLst/>
          </a:prstGeom>
          <a:solidFill>
            <a:srgbClr val="F0F5FA"/>
          </a:solidFill>
          <a:ln>
            <a:solidFill>
              <a:srgbClr val="649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6496C8"/>
                </a:solidFill>
              </a:defRPr>
            </a:pPr>
            <a:r>
              <a:t>Infra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79" y="5330952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3C3C3C"/>
                </a:solidFill>
              </a:defRPr>
            </a:pPr>
            <a:r>
              <a:t>Docker, Kubernetes, AWS, Linux, WSL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675120" y="5623560"/>
            <a:ext cx="731520" cy="228600"/>
          </a:xfrm>
          <a:prstGeom prst="roundRect">
            <a:avLst/>
          </a:prstGeom>
          <a:solidFill>
            <a:srgbClr val="F0F5FA"/>
          </a:solidFill>
          <a:ln>
            <a:solidFill>
              <a:srgbClr val="649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6496C8"/>
                </a:solidFill>
              </a:defRPr>
            </a:pPr>
            <a:r>
              <a:t>DL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79" y="5623560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3C3C3C"/>
                </a:solidFill>
              </a:defRPr>
            </a:pPr>
            <a:r>
              <a:t>PyTorch, TensorFlow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675120" y="5916168"/>
            <a:ext cx="731520" cy="228600"/>
          </a:xfrm>
          <a:prstGeom prst="roundRect">
            <a:avLst/>
          </a:prstGeom>
          <a:solidFill>
            <a:srgbClr val="F0F5FA"/>
          </a:solidFill>
          <a:ln>
            <a:solidFill>
              <a:srgbClr val="649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6496C8"/>
                </a:solidFill>
              </a:defRPr>
            </a:pPr>
            <a:r>
              <a:t>ML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79" y="5916168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3C3C3C"/>
                </a:solidFill>
              </a:defRPr>
            </a:pPr>
            <a:r>
              <a:t>Pandas, Numpy, Selenium, Scikit-learn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675120" y="6208776"/>
            <a:ext cx="731520" cy="228600"/>
          </a:xfrm>
          <a:prstGeom prst="roundRect">
            <a:avLst/>
          </a:prstGeom>
          <a:solidFill>
            <a:srgbClr val="F0F5FA"/>
          </a:solidFill>
          <a:ln>
            <a:solidFill>
              <a:srgbClr val="649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6496C8"/>
                </a:solidFill>
              </a:defRPr>
            </a:pPr>
            <a:r>
              <a:t>Tools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98079" y="6208776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3C3C3C"/>
                </a:solidFill>
              </a:defRPr>
            </a:pPr>
            <a:r>
              <a:t>GitHub, Notion, Postman, Wandb, Figma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87B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0" y="0"/>
            <a:ext cx="457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3657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프로젝트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3657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유기견 입양 플랫폼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2608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E682"/>
                </a:solidFill>
              </a:defRPr>
            </a:pPr>
            <a:r>
              <a:t>프로젝트 개요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9184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기간 : 2025.06 ~ 2025.07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9319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E682"/>
                </a:solidFill>
              </a:defRPr>
            </a:pPr>
            <a:r>
              <a:t>목표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29768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유기동물 입양과 보호를 지원하는 기능 충실 플랫폼 개발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21208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E682"/>
                </a:solidFill>
              </a:defRPr>
            </a:pPr>
            <a:r>
              <a:t>사용 기술 &amp; 모델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5778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Back : Spring Boot, Spring Security, JPA, PostgreSQL, Docker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9436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Front: Next.js, Axios, Zustand, Tailwind CSS, Figma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0" y="457200"/>
            <a:ext cx="3657600" cy="2743200"/>
          </a:xfrm>
          <a:prstGeom prst="roundRect">
            <a:avLst/>
          </a:prstGeom>
          <a:solidFill>
            <a:srgbClr val="FFFACD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969696"/>
                </a:solidFill>
              </a:defRPr>
            </a:pPr>
            <a:r>
              <a:t>[프로젝트 이미지 또는 스크린샷]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03520" y="3657600"/>
            <a:ext cx="1645920" cy="548640"/>
          </a:xfrm>
          <a:prstGeom prst="roundRect">
            <a:avLst/>
          </a:prstGeom>
          <a:solidFill>
            <a:srgbClr val="6496C8"/>
          </a:solidFill>
          <a:ln>
            <a:solidFill>
              <a:srgbClr val="50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팀 협업 체계화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36576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900">
                <a:solidFill>
                  <a:srgbClr val="505050"/>
                </a:solidFill>
              </a:defRPr>
            </a:pPr>
            <a:r>
              <a:t>- 요구사항 API 명세서 수립</a:t>
            </a:r>
          </a:p>
          <a:p>
            <a:r>
              <a:t>- Kanban 보드 활용</a:t>
            </a:r>
          </a:p>
          <a:p>
            <a:r>
              <a:t>- GitHub Flow 전략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03520" y="4572000"/>
            <a:ext cx="1645920" cy="548640"/>
          </a:xfrm>
          <a:prstGeom prst="roundRect">
            <a:avLst/>
          </a:prstGeom>
          <a:solidFill>
            <a:srgbClr val="6496C8"/>
          </a:solidFill>
          <a:ln>
            <a:solidFill>
              <a:srgbClr val="50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커뮤니티 기능 개발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0" y="45720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900">
                <a:solidFill>
                  <a:srgbClr val="505050"/>
                </a:solidFill>
              </a:defRPr>
            </a:pPr>
            <a:r>
              <a:t>- 자유게시판 개발</a:t>
            </a:r>
          </a:p>
          <a:p>
            <a:r>
              <a:t>- SSR + CSR 프론트 구현</a:t>
            </a:r>
          </a:p>
          <a:p>
            <a:r>
              <a:t>- API 테스트 진행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303520" y="5486400"/>
            <a:ext cx="1645920" cy="548640"/>
          </a:xfrm>
          <a:prstGeom prst="roundRect">
            <a:avLst/>
          </a:prstGeom>
          <a:solidFill>
            <a:srgbClr val="6496C8"/>
          </a:solidFill>
          <a:ln>
            <a:solidFill>
              <a:srgbClr val="50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성능 최적화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54864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900">
                <a:solidFill>
                  <a:srgbClr val="505050"/>
                </a:solidFill>
              </a:defRPr>
            </a:pPr>
            <a:r>
              <a:t>- 초기 로딩(FCP) 지연과 SEO 문제 해결</a:t>
            </a:r>
          </a:p>
          <a:p>
            <a:r>
              <a:t>- 대량 엔티티 최적화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i="1">
                <a:solidFill>
                  <a:srgbClr val="646464"/>
                </a:solidFill>
              </a:defRPr>
            </a:pPr>
            <a:r>
              <a:t>Project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6496C8"/>
                </a:solidFill>
              </a:defRPr>
            </a:pPr>
            <a:r>
              <a:t>01 협업 전략  |  주요 협업 방식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4114800" cy="2743200"/>
          </a:xfrm>
          <a:prstGeom prst="roundRect">
            <a:avLst/>
          </a:prstGeom>
          <a:solidFill>
            <a:srgbClr val="F0F5FA"/>
          </a:solidFill>
          <a:ln>
            <a:solidFill>
              <a:srgbClr val="96B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646464"/>
                </a:solidFill>
              </a:defRPr>
            </a:pPr>
            <a:r>
              <a:t>[협업 프로세스 플로우 차트]</a:t>
            </a:r>
          </a:p>
          <a:p/>
          <a:p>
            <a:r>
              <a:t>01 Figma → 02 GitHub Flow → 03 Kanban → 04 Daily Scrum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38912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6496C8"/>
                </a:solidFill>
              </a:defRPr>
            </a:pPr>
            <a:r>
              <a:t>02 주요 기능  |  전체 기능 및 담당 구현 기능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93776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C3C3C"/>
                </a:solidFill>
              </a:defRPr>
            </a:pPr>
            <a:r>
              <a:t>1. 공통 사용자 관리  - 회원가입, 인증/인가, 게정 관리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21208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C3C3C"/>
                </a:solidFill>
              </a:defRPr>
            </a:pPr>
            <a:r>
              <a:t>2. 공통 자유 게시판  - Q&amp;A와 커뮤니티 글·댓글 관리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48640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C3C3C"/>
                </a:solidFill>
              </a:defRPr>
            </a:pPr>
            <a:r>
              <a:t>3. 보호소 게정  - 입양 등록 등록 관리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76072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C3C3C"/>
                </a:solidFill>
              </a:defRPr>
            </a:pPr>
            <a:r>
              <a:t>4. 입양자 게정  - 입양 신청 관리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5943600"/>
            <a:ext cx="3657600" cy="640080"/>
          </a:xfrm>
          <a:prstGeom prst="roundRect">
            <a:avLst/>
          </a:prstGeom>
          <a:solidFill>
            <a:srgbClr val="FFFAE6"/>
          </a:solidFill>
          <a:ln>
            <a:solidFill>
              <a:srgbClr val="C8B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30000"/>
              </a:lnSpc>
              <a:defRPr sz="900">
                <a:solidFill>
                  <a:srgbClr val="505050"/>
                </a:solidFill>
              </a:defRPr>
            </a:pPr>
            <a:r>
              <a:t>Backend: 기본적인 CRUD, REST API 설계</a:t>
            </a:r>
          </a:p>
          <a:p>
            <a:r>
              <a:t>Frontend: 상태관리(Zustand), Axios-REST API 통신</a:t>
            </a:r>
          </a:p>
          <a:p>
            <a:r>
              <a:t>페이지네이션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91440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6496C8"/>
                </a:solidFill>
              </a:defRPr>
            </a:pPr>
            <a:r>
              <a:t>03 성능 최적화  |  이슈 해결 방식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54880" y="1463040"/>
            <a:ext cx="4114800" cy="1828800"/>
          </a:xfrm>
          <a:prstGeom prst="round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787878"/>
                </a:solidFill>
              </a:defRPr>
            </a:pPr>
            <a:r>
              <a:t>[개발 과정 스크린샷 이미지]</a:t>
            </a:r>
          </a:p>
          <a:p/>
          <a:p>
            <a:r>
              <a:t>예: GitHub PR, Postman 테스트 등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54880" y="3474720"/>
            <a:ext cx="1920240" cy="1097280"/>
          </a:xfrm>
          <a:prstGeom prst="roundRect">
            <a:avLst/>
          </a:prstGeom>
          <a:solidFill>
            <a:srgbClr val="6EA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30000"/>
              </a:lnSpc>
              <a:defRPr sz="1100" b="1">
                <a:solidFill>
                  <a:srgbClr val="FFFFFF"/>
                </a:solidFill>
              </a:defRPr>
            </a:pPr>
            <a:r>
              <a:t>대량 엔티티 최적화</a:t>
            </a:r>
          </a:p>
          <a:p/>
          <a:p>
            <a:r>
              <a:t>문제점</a:t>
            </a:r>
          </a:p>
          <a:p>
            <a:r>
              <a:t>필드 변경마다 엔티티를</a:t>
            </a:r>
          </a:p>
          <a:p>
            <a:r>
              <a:t>매번에서 율리고</a:t>
            </a:r>
          </a:p>
          <a:p>
            <a:r>
              <a:t>dirty checking 수행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6766560" y="3931920"/>
            <a:ext cx="457200" cy="274320"/>
          </a:xfrm>
          <a:prstGeom prst="rightArrow">
            <a:avLst/>
          </a:prstGeom>
          <a:solidFill>
            <a:srgbClr val="64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315200" y="3474720"/>
            <a:ext cx="1645920" cy="1097280"/>
          </a:xfrm>
          <a:prstGeom prst="roundRect">
            <a:avLst/>
          </a:prstGeom>
          <a:solidFill>
            <a:srgbClr val="FAFAFA"/>
          </a:solidFill>
          <a:ln w="25400">
            <a:solidFill>
              <a:srgbClr val="649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30000"/>
              </a:lnSpc>
              <a:defRPr sz="1000" b="1">
                <a:solidFill>
                  <a:srgbClr val="3C3C3C"/>
                </a:solidFill>
              </a:defRPr>
            </a:pPr>
            <a:r>
              <a:t>문제점</a:t>
            </a:r>
          </a:p>
          <a:p/>
          <a:p>
            <a:r>
              <a:t>CSR 방식</a:t>
            </a:r>
          </a:p>
          <a:p>
            <a:r>
              <a:t>초기 로딩 곤애</a:t>
            </a:r>
          </a:p>
          <a:p>
            <a:r>
              <a:t>→ FCP 지연,</a:t>
            </a:r>
          </a:p>
          <a:p>
            <a:r>
              <a:t>SEO 그레이</a:t>
            </a:r>
          </a:p>
          <a:p>
            <a:r>
              <a:t>인덱싱 실패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4846320"/>
            <a:ext cx="41148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C3C3C"/>
                </a:solidFill>
              </a:defRPr>
            </a:pPr>
            <a:r>
              <a:t>개선 방법</a:t>
            </a:r>
          </a:p>
          <a:p>
            <a:pPr>
              <a:spcAft>
                <a:spcPts val="500"/>
              </a:spcAft>
              <a:defRPr sz="900">
                <a:solidFill>
                  <a:srgbClr val="505050"/>
                </a:solidFill>
              </a:defRPr>
            </a:pPr>
            <a:r>
              <a:t>JPQL update + @Modifying 사용 → 엔티티 로드 없이 1쿼리시 벗자 처리</a:t>
            </a:r>
          </a:p>
          <a:p>
            <a:pPr>
              <a:defRPr sz="900" b="1">
                <a:solidFill>
                  <a:srgbClr val="323232"/>
                </a:solidFill>
              </a:defRPr>
            </a:pPr>
            <a:r>
              <a:t>&gt;&gt; Heap Usage 약 40% 감소 / 저리량 20% 증가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