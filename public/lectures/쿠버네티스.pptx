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6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8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</p:sldIdLst>
  <p:sldSz cx="18288000" cy="10287000"/>
  <p:notesSz cx="6858000" cy="9144000"/>
  <p:embeddedFontLst>
    <p:embeddedFont>
      <p:font typeface="옛간판 Bold" charset="1" panose="020B0500000000000000"/>
      <p:regular r:id="rId77"/>
    </p:embeddedFont>
    <p:embeddedFont>
      <p:font typeface="Inter Bold" charset="1" panose="020B0802030000000004"/>
      <p:regular r:id="rId78"/>
    </p:embeddedFont>
    <p:embeddedFont>
      <p:font typeface="Inter" charset="1" panose="020B0502030000000004"/>
      <p:regular r:id="rId79"/>
    </p:embeddedFont>
    <p:embeddedFont>
      <p:font typeface="옛간판" charset="1" panose="020B0500000000000000"/>
      <p:regular r:id="rId84"/>
    </p:embeddedFont>
    <p:embeddedFont>
      <p:font typeface="Inter Bold Italics" charset="1" panose="020B0802030000000004"/>
      <p:regular r:id="rId1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notesSlides/notesSlide18.xml" Type="http://schemas.openxmlformats.org/officeDocument/2006/relationships/notesSlide"/><Relationship Id="rId101" Target="notesSlides/notesSlide19.xml" Type="http://schemas.openxmlformats.org/officeDocument/2006/relationships/notesSlide"/><Relationship Id="rId102" Target="notesSlides/notesSlide20.xml" Type="http://schemas.openxmlformats.org/officeDocument/2006/relationships/notesSlide"/><Relationship Id="rId103" Target="notesSlides/notesSlide21.xml" Type="http://schemas.openxmlformats.org/officeDocument/2006/relationships/notesSlide"/><Relationship Id="rId104" Target="notesSlides/notesSlide22.xml" Type="http://schemas.openxmlformats.org/officeDocument/2006/relationships/notesSlide"/><Relationship Id="rId105" Target="notesSlides/notesSlide23.xml" Type="http://schemas.openxmlformats.org/officeDocument/2006/relationships/notesSlide"/><Relationship Id="rId106" Target="notesSlides/notesSlide24.xml" Type="http://schemas.openxmlformats.org/officeDocument/2006/relationships/notesSlide"/><Relationship Id="rId107" Target="notesSlides/notesSlide25.xml" Type="http://schemas.openxmlformats.org/officeDocument/2006/relationships/notesSlide"/><Relationship Id="rId108" Target="notesSlides/notesSlide26.xml" Type="http://schemas.openxmlformats.org/officeDocument/2006/relationships/notesSlide"/><Relationship Id="rId109" Target="notesSlides/notesSlide27.xml" Type="http://schemas.openxmlformats.org/officeDocument/2006/relationships/notesSlide"/><Relationship Id="rId11" Target="slides/slide6.xml" Type="http://schemas.openxmlformats.org/officeDocument/2006/relationships/slide"/><Relationship Id="rId110" Target="notesSlides/notesSlide28.xml" Type="http://schemas.openxmlformats.org/officeDocument/2006/relationships/notesSlide"/><Relationship Id="rId111" Target="notesSlides/notesSlide29.xml" Type="http://schemas.openxmlformats.org/officeDocument/2006/relationships/notesSlide"/><Relationship Id="rId112" Target="notesSlides/notesSlide30.xml" Type="http://schemas.openxmlformats.org/officeDocument/2006/relationships/notesSlide"/><Relationship Id="rId113" Target="notesSlides/notesSlide31.xml" Type="http://schemas.openxmlformats.org/officeDocument/2006/relationships/notesSlide"/><Relationship Id="rId114" Target="notesSlides/notesSlide32.xml" Type="http://schemas.openxmlformats.org/officeDocument/2006/relationships/notesSlide"/><Relationship Id="rId115" Target="notesSlides/notesSlide33.xml" Type="http://schemas.openxmlformats.org/officeDocument/2006/relationships/notesSlide"/><Relationship Id="rId116" Target="notesSlides/notesSlide34.xml" Type="http://schemas.openxmlformats.org/officeDocument/2006/relationships/notesSlide"/><Relationship Id="rId117" Target="notesSlides/notesSlide35.xml" Type="http://schemas.openxmlformats.org/officeDocument/2006/relationships/notesSlide"/><Relationship Id="rId118" Target="notesSlides/notesSlide36.xml" Type="http://schemas.openxmlformats.org/officeDocument/2006/relationships/notesSlide"/><Relationship Id="rId119" Target="notesSlides/notesSlide37.xml" Type="http://schemas.openxmlformats.org/officeDocument/2006/relationships/notesSlide"/><Relationship Id="rId12" Target="slides/slide7.xml" Type="http://schemas.openxmlformats.org/officeDocument/2006/relationships/slide"/><Relationship Id="rId120" Target="notesSlides/notesSlide38.xml" Type="http://schemas.openxmlformats.org/officeDocument/2006/relationships/notesSlide"/><Relationship Id="rId121" Target="notesSlides/notesSlide39.xml" Type="http://schemas.openxmlformats.org/officeDocument/2006/relationships/notesSlide"/><Relationship Id="rId122" Target="notesSlides/notesSlide40.xml" Type="http://schemas.openxmlformats.org/officeDocument/2006/relationships/notesSlide"/><Relationship Id="rId123" Target="notesSlides/notesSlide41.xml" Type="http://schemas.openxmlformats.org/officeDocument/2006/relationships/notesSlide"/><Relationship Id="rId124" Target="notesSlides/notesSlide42.xml" Type="http://schemas.openxmlformats.org/officeDocument/2006/relationships/notesSlide"/><Relationship Id="rId125" Target="notesSlides/notesSlide43.xml" Type="http://schemas.openxmlformats.org/officeDocument/2006/relationships/notesSlide"/><Relationship Id="rId126" Target="notesSlides/notesSlide44.xml" Type="http://schemas.openxmlformats.org/officeDocument/2006/relationships/notesSlide"/><Relationship Id="rId127" Target="notesSlides/notesSlide45.xml" Type="http://schemas.openxmlformats.org/officeDocument/2006/relationships/notesSlide"/><Relationship Id="rId128" Target="notesSlides/notesSlide46.xml" Type="http://schemas.openxmlformats.org/officeDocument/2006/relationships/notesSlide"/><Relationship Id="rId129" Target="notesSlides/notesSlide47.xml" Type="http://schemas.openxmlformats.org/officeDocument/2006/relationships/notesSlide"/><Relationship Id="rId13" Target="slides/slide8.xml" Type="http://schemas.openxmlformats.org/officeDocument/2006/relationships/slide"/><Relationship Id="rId130" Target="notesSlides/notesSlide48.xml" Type="http://schemas.openxmlformats.org/officeDocument/2006/relationships/notesSlide"/><Relationship Id="rId131" Target="notesSlides/notesSlide49.xml" Type="http://schemas.openxmlformats.org/officeDocument/2006/relationships/notesSlide"/><Relationship Id="rId132" Target="fonts/font132.fntdata" Type="http://schemas.openxmlformats.org/officeDocument/2006/relationships/font"/><Relationship Id="rId133" Target="notesSlides/notesSlide50.xml" Type="http://schemas.openxmlformats.org/officeDocument/2006/relationships/notesSlide"/><Relationship Id="rId134" Target="notesSlides/notesSlide51.xml" Type="http://schemas.openxmlformats.org/officeDocument/2006/relationships/notesSlide"/><Relationship Id="rId135" Target="notesSlides/notesSlide52.xml" Type="http://schemas.openxmlformats.org/officeDocument/2006/relationships/notesSlide"/><Relationship Id="rId136" Target="notesSlides/notesSlide53.xml" Type="http://schemas.openxmlformats.org/officeDocument/2006/relationships/notesSlide"/><Relationship Id="rId137" Target="notesSlides/notesSlide54.xml" Type="http://schemas.openxmlformats.org/officeDocument/2006/relationships/notesSlide"/><Relationship Id="rId138" Target="notesSlides/notesSlide55.xml" Type="http://schemas.openxmlformats.org/officeDocument/2006/relationships/notesSlide"/><Relationship Id="rId139" Target="notesSlides/notesSlide56.xml" Type="http://schemas.openxmlformats.org/officeDocument/2006/relationships/notesSlide"/><Relationship Id="rId14" Target="slides/slide9.xml" Type="http://schemas.openxmlformats.org/officeDocument/2006/relationships/slide"/><Relationship Id="rId140" Target="notesSlides/notesSlide57.xml" Type="http://schemas.openxmlformats.org/officeDocument/2006/relationships/notesSlide"/><Relationship Id="rId141" Target="notesSlides/notesSlide58.xml" Type="http://schemas.openxmlformats.org/officeDocument/2006/relationships/notesSlide"/><Relationship Id="rId142" Target="notesSlides/notesSlide59.xml" Type="http://schemas.openxmlformats.org/officeDocument/2006/relationships/notesSlide"/><Relationship Id="rId143" Target="notesSlides/notesSlide60.xml" Type="http://schemas.openxmlformats.org/officeDocument/2006/relationships/notesSlide"/><Relationship Id="rId144" Target="notesSlides/notesSlide61.xml" Type="http://schemas.openxmlformats.org/officeDocument/2006/relationships/notesSlide"/><Relationship Id="rId145" Target="notesSlides/notesSlide62.xml" Type="http://schemas.openxmlformats.org/officeDocument/2006/relationships/notes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fonts/font77.fntdata" Type="http://schemas.openxmlformats.org/officeDocument/2006/relationships/font"/><Relationship Id="rId78" Target="fonts/font78.fntdata" Type="http://schemas.openxmlformats.org/officeDocument/2006/relationships/font"/><Relationship Id="rId79" Target="fonts/font79.fntdata" Type="http://schemas.openxmlformats.org/officeDocument/2006/relationships/font"/><Relationship Id="rId8" Target="slides/slide3.xml" Type="http://schemas.openxmlformats.org/officeDocument/2006/relationships/slide"/><Relationship Id="rId80" Target="notesMasters/notesMaster1.xml" Type="http://schemas.openxmlformats.org/officeDocument/2006/relationships/notesMaster"/><Relationship Id="rId81" Target="theme/theme2.xml" Type="http://schemas.openxmlformats.org/officeDocument/2006/relationships/theme"/><Relationship Id="rId82" Target="notesSlides/notesSlide1.xml" Type="http://schemas.openxmlformats.org/officeDocument/2006/relationships/notesSlide"/><Relationship Id="rId83" Target="notesSlides/notesSlide2.xml" Type="http://schemas.openxmlformats.org/officeDocument/2006/relationships/notesSlide"/><Relationship Id="rId84" Target="fonts/font84.fntdata" Type="http://schemas.openxmlformats.org/officeDocument/2006/relationships/font"/><Relationship Id="rId85" Target="notesSlides/notesSlide3.xml" Type="http://schemas.openxmlformats.org/officeDocument/2006/relationships/notesSlide"/><Relationship Id="rId86" Target="notesSlides/notesSlide4.xml" Type="http://schemas.openxmlformats.org/officeDocument/2006/relationships/notesSlide"/><Relationship Id="rId87" Target="notesSlides/notesSlide5.xml" Type="http://schemas.openxmlformats.org/officeDocument/2006/relationships/notesSlide"/><Relationship Id="rId88" Target="notesSlides/notesSlide6.xml" Type="http://schemas.openxmlformats.org/officeDocument/2006/relationships/notesSlide"/><Relationship Id="rId89" Target="notesSlides/notesSlide7.xml" Type="http://schemas.openxmlformats.org/officeDocument/2006/relationships/notesSlide"/><Relationship Id="rId9" Target="slides/slide4.xml" Type="http://schemas.openxmlformats.org/officeDocument/2006/relationships/slide"/><Relationship Id="rId90" Target="notesSlides/notesSlide8.xml" Type="http://schemas.openxmlformats.org/officeDocument/2006/relationships/notesSlide"/><Relationship Id="rId91" Target="notesSlides/notesSlide9.xml" Type="http://schemas.openxmlformats.org/officeDocument/2006/relationships/notesSlide"/><Relationship Id="rId92" Target="notesSlides/notesSlide10.xml" Type="http://schemas.openxmlformats.org/officeDocument/2006/relationships/notesSlide"/><Relationship Id="rId93" Target="notesSlides/notesSlide11.xml" Type="http://schemas.openxmlformats.org/officeDocument/2006/relationships/notesSlide"/><Relationship Id="rId94" Target="notesSlides/notesSlide12.xml" Type="http://schemas.openxmlformats.org/officeDocument/2006/relationships/notesSlide"/><Relationship Id="rId95" Target="notesSlides/notesSlide13.xml" Type="http://schemas.openxmlformats.org/officeDocument/2006/relationships/notesSlide"/><Relationship Id="rId96" Target="notesSlides/notesSlide14.xml" Type="http://schemas.openxmlformats.org/officeDocument/2006/relationships/notesSlide"/><Relationship Id="rId97" Target="notesSlides/notesSlide15.xml" Type="http://schemas.openxmlformats.org/officeDocument/2006/relationships/notesSlide"/><Relationship Id="rId98" Target="notesSlides/notesSlide16.xml" Type="http://schemas.openxmlformats.org/officeDocument/2006/relationships/notesSlide"/><Relationship Id="rId99" Target="notesSlides/notesSlide17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_rels/notesSlide4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_rels/notesSlide4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4.xml" Type="http://schemas.openxmlformats.org/officeDocument/2006/relationships/slide"/></Relationships>
</file>

<file path=ppt/notesSlides/_rels/notesSlide4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5.xml" Type="http://schemas.openxmlformats.org/officeDocument/2006/relationships/slide"/></Relationships>
</file>

<file path=ppt/notesSlides/_rels/notesSlide4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6.xml" Type="http://schemas.openxmlformats.org/officeDocument/2006/relationships/slide"/></Relationships>
</file>

<file path=ppt/notesSlides/_rels/notesSlide4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7.xml" Type="http://schemas.openxmlformats.org/officeDocument/2006/relationships/slide"/></Relationships>
</file>

<file path=ppt/notesSlides/_rels/notesSlide4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8.xml" Type="http://schemas.openxmlformats.org/officeDocument/2006/relationships/slide"/></Relationships>
</file>

<file path=ppt/notesSlides/_rels/notesSlide4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9.xml" Type="http://schemas.openxmlformats.org/officeDocument/2006/relationships/slide"/></Relationships>
</file>

<file path=ppt/notesSlides/_rels/notesSlide4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0.xml" Type="http://schemas.openxmlformats.org/officeDocument/2006/relationships/slide"/></Relationships>
</file>

<file path=ppt/notesSlides/_rels/notesSlide5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3.xml" Type="http://schemas.openxmlformats.org/officeDocument/2006/relationships/slide"/></Relationships>
</file>

<file path=ppt/notesSlides/_rels/notesSlide5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4.xml" Type="http://schemas.openxmlformats.org/officeDocument/2006/relationships/slide"/></Relationships>
</file>

<file path=ppt/notesSlides/_rels/notesSlide5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5.xml" Type="http://schemas.openxmlformats.org/officeDocument/2006/relationships/slide"/></Relationships>
</file>

<file path=ppt/notesSlides/_rels/notesSlide5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6.xml" Type="http://schemas.openxmlformats.org/officeDocument/2006/relationships/slide"/></Relationships>
</file>

<file path=ppt/notesSlides/_rels/notesSlide5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7.xml" Type="http://schemas.openxmlformats.org/officeDocument/2006/relationships/slide"/></Relationships>
</file>

<file path=ppt/notesSlides/_rels/notesSlide5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8.xml" Type="http://schemas.openxmlformats.org/officeDocument/2006/relationships/slide"/></Relationships>
</file>

<file path=ppt/notesSlides/_rels/notesSlide5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9.xml" Type="http://schemas.openxmlformats.org/officeDocument/2006/relationships/slide"/></Relationships>
</file>

<file path=ppt/notesSlides/_rels/notesSlide5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0.xml" Type="http://schemas.openxmlformats.org/officeDocument/2006/relationships/slide"/></Relationships>
</file>

<file path=ppt/notesSlides/_rels/notesSlide5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1.xml" Type="http://schemas.openxmlformats.org/officeDocument/2006/relationships/slide"/></Relationships>
</file>

<file path=ppt/notesSlides/_rels/notesSlide5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2.xml" Type="http://schemas.openxmlformats.org/officeDocument/2006/relationships/slide"/></Relationships>
</file>

<file path=ppt/notesSlides/_rels/notesSlide6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3.xml" Type="http://schemas.openxmlformats.org/officeDocument/2006/relationships/slide"/></Relationships>
</file>

<file path=ppt/notesSlides/_rels/notesSlide6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4.xml" Type="http://schemas.openxmlformats.org/officeDocument/2006/relationships/slide"/></Relationships>
</file>

<file path=ppt/notesSlides/_rels/notesSlide6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이미지 (Image) 란?</a:t>
            </a:r>
          </a:p>
          <a:p>
            <a:r>
              <a:rPr lang="en-US"/>
              <a:t/>
            </a:r>
          </a:p>
          <a:p>
            <a:r>
              <a:rPr lang="en-US"/>
              <a:t>컨테이너 실행에 필요한 파일과 설정 값 등을 포함하는 것으로, 상태값을 가지지 않고 (Stateless) 변하지 않음 (Immutable).</a:t>
            </a:r>
          </a:p>
          <a:p>
            <a:r>
              <a:rPr lang="en-US"/>
              <a:t>컨테이너는 이미지를 실행한 상태(Runtime)라고 볼 수 있고 추가되거나 변하는 값는 컨테이너에 저장된다.</a:t>
            </a:r>
          </a:p>
          <a:p>
            <a:r>
              <a:rPr lang="en-US"/>
              <a:t>같은 이미지에서 여러개의 컨테이너를 생성할 수 있고 컨테이너의 상태가 바뀌거나 삭제되더라도 이미지는 변하지 않는다.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이미지 (Image) 란?</a:t>
            </a:r>
          </a:p>
          <a:p>
            <a:r>
              <a:rPr lang="en-US"/>
              <a:t/>
            </a:r>
          </a:p>
          <a:p>
            <a:r>
              <a:rPr lang="en-US"/>
              <a:t>컨테이너 실행에 필요한 파일과 설정 값 등을 포함하는 것으로, 상태값을 가지지 않고 (Stateless) 변하지 않음 (Immutable).</a:t>
            </a:r>
          </a:p>
          <a:p>
            <a:r>
              <a:rPr lang="en-US"/>
              <a:t>컨테이너는 이미지를 실행한 상태(Runtime)라고 볼 수 있고 추가되거나 변하는 값는 컨테이너에 저장된다.</a:t>
            </a:r>
          </a:p>
          <a:p>
            <a:r>
              <a:rPr lang="en-US"/>
              <a:t>같은 이미지에서 여러개의 컨테이너를 생성할 수 있고 컨테이너의 상태가 바뀌거나 삭제되더라도 이미지는 변하지 않는다.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이미지 (Image) 란?</a:t>
            </a:r>
          </a:p>
          <a:p>
            <a:r>
              <a:rPr lang="en-US"/>
              <a:t/>
            </a:r>
          </a:p>
          <a:p>
            <a:r>
              <a:rPr lang="en-US"/>
              <a:t>컨테이너 실행에 필요한 파일과 설정 값 등을 포함하는 것으로, 상태값을 가지지 않고 (Stateless) 변하지 않음 (Immutable).</a:t>
            </a:r>
          </a:p>
          <a:p>
            <a:r>
              <a:rPr lang="en-US"/>
              <a:t>컨테이너는 이미지를 실행한 상태(Runtime)라고 볼 수 있고 추가되거나 변하는 값는 컨테이너에 저장된다.</a:t>
            </a:r>
          </a:p>
          <a:p>
            <a:r>
              <a:rPr lang="en-US"/>
              <a:t>같은 이미지에서 여러개의 컨테이너를 생성할 수 있고 컨테이너의 상태가 바뀌거나 삭제되더라도 이미지는 변하지 않는다.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탄생 배경</a:t>
            </a:r>
          </a:p>
          <a:p>
            <a:r>
              <a:rPr lang="en-US"/>
              <a:t>컨테이너 기술의 발전:</a:t>
            </a:r>
          </a:p>
          <a:p>
            <a:r>
              <a:rPr lang="en-US"/>
              <a:t/>
            </a:r>
          </a:p>
          <a:p>
            <a:r>
              <a:rPr lang="en-US"/>
              <a:t>2010년대 초반, 컨테이너 기술이 급격히 발전하면서 애플리케이션 배포 및 관리의 새로운 패러다임이 등장했습니다. 특히, Docker의 등장으로 컨테이너 기술이 대중화되었습니다.</a:t>
            </a:r>
          </a:p>
          <a:p>
            <a:r>
              <a:rPr lang="en-US"/>
              <a:t>구글은 이미 내부적으로 Borg라는 컨테이너 관리 시스템을 사용하고 있었으며, 이를 통해 많은 경험을 쌓았습니다.</a:t>
            </a:r>
          </a:p>
          <a:p>
            <a:r>
              <a:rPr lang="en-US"/>
              <a:t>확장성과 자동화의 필요성:</a:t>
            </a:r>
          </a:p>
          <a:p>
            <a:r>
              <a:rPr lang="en-US"/>
              <a:t/>
            </a:r>
          </a:p>
          <a:p>
            <a:r>
              <a:rPr lang="en-US"/>
              <a:t>대규모 애플리케이션을 효율적으로 관리하고 자동화하기 위해서는 컨테이너 오케스트레이션이 필요했습니다.</a:t>
            </a:r>
          </a:p>
          <a:p>
            <a:r>
              <a:rPr lang="en-US"/>
              <a:t>구글은 내부적으로 쌓은 경험을 바탕으로 더 나은 오픈 소스 솔루션을 제공하고자 했습니다.</a:t>
            </a:r>
          </a:p>
          <a:p>
            <a:r>
              <a:rPr lang="en-US"/>
              <a:t/>
            </a:r>
          </a:p>
          <a:p>
            <a:r>
              <a:rPr lang="en-US"/>
              <a:t>개발 과정</a:t>
            </a:r>
          </a:p>
          <a:p>
            <a:r>
              <a:rPr lang="en-US"/>
              <a:t>프로젝트 시작:</a:t>
            </a:r>
          </a:p>
          <a:p>
            <a:r>
              <a:rPr lang="en-US"/>
              <a:t/>
            </a:r>
          </a:p>
          <a:p>
            <a:r>
              <a:rPr lang="en-US"/>
              <a:t>2014년 6월, 구글은 쿠버네티스 프로젝트를 시작하여 이를 오픈 소스로 공개했습니다.</a:t>
            </a:r>
          </a:p>
          <a:p>
            <a:r>
              <a:rPr lang="en-US"/>
              <a:t>초기에는 구글 엔지니어인 Joe Beda, Brendan Burns, Craig McLuckie 등이 주도적으로 개발에 참여했습니다.</a:t>
            </a:r>
          </a:p>
          <a:p>
            <a:r>
              <a:rPr lang="en-US"/>
              <a:t>오픈 소스 커뮤니티의 성장:</a:t>
            </a:r>
          </a:p>
          <a:p>
            <a:r>
              <a:rPr lang="en-US"/>
              <a:t/>
            </a:r>
          </a:p>
          <a:p>
            <a:r>
              <a:rPr lang="en-US"/>
              <a:t>오픈 소스로 공개된 후, 쿠버네티스는 빠르게 커뮤니티의 주목을 받았고, 많은 기여자들이 참여하기 시작했습니다.</a:t>
            </a:r>
          </a:p>
          <a:p>
            <a:r>
              <a:rPr lang="en-US"/>
              <a:t>CNCF(Cloud Native Computing Foundation)의 지원을 받으며 프로젝트가 더욱 발전하였습니다.</a:t>
            </a:r>
          </a:p>
          <a:p>
            <a:r>
              <a:rPr lang="en-US"/>
              <a:t>버전 릴리즈와 확장:</a:t>
            </a:r>
          </a:p>
          <a:p>
            <a:r>
              <a:rPr lang="en-US"/>
              <a:t/>
            </a:r>
          </a:p>
          <a:p>
            <a:r>
              <a:rPr lang="en-US"/>
              <a:t>2015년 7월, 쿠버네티스 1.0이 공식적으로 릴리즈되었고, 이후 꾸준한 업데이트와 개선이 이루어졌습니다.</a:t>
            </a:r>
          </a:p>
          <a:p>
            <a:r>
              <a:rPr lang="en-US"/>
              <a:t>다양한 클라우드 서비스 제공자들이 쿠버네티스를 지원하면서 더욱 널리 사용되었습니다.</a:t>
            </a:r>
          </a:p>
          <a:p>
            <a:r>
              <a:rPr lang="en-US"/>
              <a:t>주요 특징</a:t>
            </a:r>
          </a:p>
          <a:p>
            <a:r>
              <a:rPr lang="en-US"/>
              <a:t>자동화된 컨테이너 배포 및 관리: 쿠버네티스는 컨테이너화된 애플리케이션의 배포, 확장, 운영을 자동화합니다.</a:t>
            </a:r>
          </a:p>
          <a:p>
            <a:r>
              <a:rPr lang="en-US"/>
              <a:t>확장성: 수천 개의 노드를 효과적으로 관리할 수 있는 확장성을 제공합니다.</a:t>
            </a:r>
          </a:p>
          <a:p>
            <a:r>
              <a:rPr lang="en-US"/>
              <a:t>자체 치유(Self-healing): 장애가 발생한 컨테이너를 자동으로 재시작하거나 대체합니다.</a:t>
            </a:r>
          </a:p>
          <a:p>
            <a:r>
              <a:rPr lang="en-US"/>
              <a:t>롤아웃 및 롤백: 애플리케이션 업데이트 시 롤아웃과 롤백 기능을 지원하여 안정적인 배포를 보장합니다.</a:t>
            </a:r>
          </a:p>
          <a:p>
            <a:r>
              <a:rPr lang="en-US"/>
              <a:t>쿠버네티스는 현재 클라우드 네이티브 애플리케이션을 관리하는 데 표준이 되었으며, 많은 기업들이 이를 활용하여 애플리케이션의 효율성과 가용성을 높이고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탄생 배경</a:t>
            </a:r>
          </a:p>
          <a:p>
            <a:r>
              <a:rPr lang="en-US"/>
              <a:t>컨테이너 기술의 발전:</a:t>
            </a:r>
          </a:p>
          <a:p>
            <a:r>
              <a:rPr lang="en-US"/>
              <a:t/>
            </a:r>
          </a:p>
          <a:p>
            <a:r>
              <a:rPr lang="en-US"/>
              <a:t>2010년대 초반, 컨테이너 기술이 급격히 발전하면서 애플리케이션 배포 및 관리의 새로운 패러다임이 등장했습니다. 특히, Docker의 등장으로 컨테이너 기술이 대중화되었습니다.</a:t>
            </a:r>
          </a:p>
          <a:p>
            <a:r>
              <a:rPr lang="en-US"/>
              <a:t>구글은 이미 내부적으로 Borg라는 컨테이너 관리 시스템을 사용하고 있었으며, 이를 통해 많은 경험을 쌓았습니다.</a:t>
            </a:r>
          </a:p>
          <a:p>
            <a:r>
              <a:rPr lang="en-US"/>
              <a:t>확장성과 자동화의 필요성:</a:t>
            </a:r>
          </a:p>
          <a:p>
            <a:r>
              <a:rPr lang="en-US"/>
              <a:t/>
            </a:r>
          </a:p>
          <a:p>
            <a:r>
              <a:rPr lang="en-US"/>
              <a:t>대규모 애플리케이션을 효율적으로 관리하고 자동화하기 위해서는 컨테이너 오케스트레이션이 필요했습니다.</a:t>
            </a:r>
          </a:p>
          <a:p>
            <a:r>
              <a:rPr lang="en-US"/>
              <a:t>구글은 내부적으로 쌓은 경험을 바탕으로 더 나은 오픈 소스 솔루션을 제공하고자 했습니다.</a:t>
            </a:r>
          </a:p>
          <a:p>
            <a:r>
              <a:rPr lang="en-US"/>
              <a:t/>
            </a:r>
          </a:p>
          <a:p>
            <a:r>
              <a:rPr lang="en-US"/>
              <a:t>개발 과정</a:t>
            </a:r>
          </a:p>
          <a:p>
            <a:r>
              <a:rPr lang="en-US"/>
              <a:t>프로젝트 시작:</a:t>
            </a:r>
          </a:p>
          <a:p>
            <a:r>
              <a:rPr lang="en-US"/>
              <a:t/>
            </a:r>
          </a:p>
          <a:p>
            <a:r>
              <a:rPr lang="en-US"/>
              <a:t>2014년 6월, 구글은 쿠버네티스 프로젝트를 시작하여 이를 오픈 소스로 공개했습니다.</a:t>
            </a:r>
          </a:p>
          <a:p>
            <a:r>
              <a:rPr lang="en-US"/>
              <a:t>초기에는 구글 엔지니어인 Joe Beda, Brendan Burns, Craig McLuckie 등이 주도적으로 개발에 참여했습니다.</a:t>
            </a:r>
          </a:p>
          <a:p>
            <a:r>
              <a:rPr lang="en-US"/>
              <a:t>오픈 소스 커뮤니티의 성장:</a:t>
            </a:r>
          </a:p>
          <a:p>
            <a:r>
              <a:rPr lang="en-US"/>
              <a:t/>
            </a:r>
          </a:p>
          <a:p>
            <a:r>
              <a:rPr lang="en-US"/>
              <a:t>오픈 소스로 공개된 후, 쿠버네티스는 빠르게 커뮤니티의 주목을 받았고, 많은 기여자들이 참여하기 시작했습니다.</a:t>
            </a:r>
          </a:p>
          <a:p>
            <a:r>
              <a:rPr lang="en-US"/>
              <a:t>CNCF(Cloud Native Computing Foundation)의 지원을 받으며 프로젝트가 더욱 발전하였습니다.</a:t>
            </a:r>
          </a:p>
          <a:p>
            <a:r>
              <a:rPr lang="en-US"/>
              <a:t>버전 릴리즈와 확장:</a:t>
            </a:r>
          </a:p>
          <a:p>
            <a:r>
              <a:rPr lang="en-US"/>
              <a:t/>
            </a:r>
          </a:p>
          <a:p>
            <a:r>
              <a:rPr lang="en-US"/>
              <a:t>2015년 7월, 쿠버네티스 1.0이 공식적으로 릴리즈되었고, 이후 꾸준한 업데이트와 개선이 이루어졌습니다.</a:t>
            </a:r>
          </a:p>
          <a:p>
            <a:r>
              <a:rPr lang="en-US"/>
              <a:t>다양한 클라우드 서비스 제공자들이 쿠버네티스를 지원하면서 더욱 널리 사용되었습니다.</a:t>
            </a:r>
          </a:p>
          <a:p>
            <a:r>
              <a:rPr lang="en-US"/>
              <a:t>주요 특징</a:t>
            </a:r>
          </a:p>
          <a:p>
            <a:r>
              <a:rPr lang="en-US"/>
              <a:t>자동화된 컨테이너 배포 및 관리: 쿠버네티스는 컨테이너화된 애플리케이션의 배포, 확장, 운영을 자동화합니다.</a:t>
            </a:r>
          </a:p>
          <a:p>
            <a:r>
              <a:rPr lang="en-US"/>
              <a:t>확장성: 수천 개의 노드를 효과적으로 관리할 수 있는 확장성을 제공합니다.</a:t>
            </a:r>
          </a:p>
          <a:p>
            <a:r>
              <a:rPr lang="en-US"/>
              <a:t>자체 치유(Self-healing): 장애가 발생한 컨테이너를 자동으로 재시작하거나 대체합니다.</a:t>
            </a:r>
          </a:p>
          <a:p>
            <a:r>
              <a:rPr lang="en-US"/>
              <a:t>롤아웃 및 롤백: 애플리케이션 업데이트 시 롤아웃과 롤백 기능을 지원하여 안정적인 배포를 보장합니다.</a:t>
            </a:r>
          </a:p>
          <a:p>
            <a:r>
              <a:rPr lang="en-US"/>
              <a:t>쿠버네티스는 현재 클라우드 네이티브 애플리케이션을 관리하는 데 표준이 되었으며, 많은 기업들이 이를 활용하여 애플리케이션의 효율성과 가용성을 높이고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탄생 배경</a:t>
            </a:r>
          </a:p>
          <a:p>
            <a:r>
              <a:rPr lang="en-US"/>
              <a:t>컨테이너 기술의 발전:</a:t>
            </a:r>
          </a:p>
          <a:p>
            <a:r>
              <a:rPr lang="en-US"/>
              <a:t/>
            </a:r>
          </a:p>
          <a:p>
            <a:r>
              <a:rPr lang="en-US"/>
              <a:t>2010년대 초반, 컨테이너 기술이 급격히 발전하면서 애플리케이션 배포 및 관리의 새로운 패러다임이 등장했습니다. 특히, Docker의 등장으로 컨테이너 기술이 대중화되었습니다.</a:t>
            </a:r>
          </a:p>
          <a:p>
            <a:r>
              <a:rPr lang="en-US"/>
              <a:t>구글은 이미 내부적으로 Borg라는 컨테이너 관리 시스템을 사용하고 있었으며, 이를 통해 많은 경험을 쌓았습니다.</a:t>
            </a:r>
          </a:p>
          <a:p>
            <a:r>
              <a:rPr lang="en-US"/>
              <a:t>확장성과 자동화의 필요성:</a:t>
            </a:r>
          </a:p>
          <a:p>
            <a:r>
              <a:rPr lang="en-US"/>
              <a:t/>
            </a:r>
          </a:p>
          <a:p>
            <a:r>
              <a:rPr lang="en-US"/>
              <a:t>대규모 애플리케이션을 효율적으로 관리하고 자동화하기 위해서는 컨테이너 오케스트레이션이 필요했습니다.</a:t>
            </a:r>
          </a:p>
          <a:p>
            <a:r>
              <a:rPr lang="en-US"/>
              <a:t>구글은 내부적으로 쌓은 경험을 바탕으로 더 나은 오픈 소스 솔루션을 제공하고자 했습니다.</a:t>
            </a:r>
          </a:p>
          <a:p>
            <a:r>
              <a:rPr lang="en-US"/>
              <a:t/>
            </a:r>
          </a:p>
          <a:p>
            <a:r>
              <a:rPr lang="en-US"/>
              <a:t>개발 과정</a:t>
            </a:r>
          </a:p>
          <a:p>
            <a:r>
              <a:rPr lang="en-US"/>
              <a:t>프로젝트 시작:</a:t>
            </a:r>
          </a:p>
          <a:p>
            <a:r>
              <a:rPr lang="en-US"/>
              <a:t/>
            </a:r>
          </a:p>
          <a:p>
            <a:r>
              <a:rPr lang="en-US"/>
              <a:t>2014년 6월, 구글은 쿠버네티스 프로젝트를 시작하여 이를 오픈 소스로 공개했습니다.</a:t>
            </a:r>
          </a:p>
          <a:p>
            <a:r>
              <a:rPr lang="en-US"/>
              <a:t>초기에는 구글 엔지니어인 Joe Beda, Brendan Burns, Craig McLuckie 등이 주도적으로 개발에 참여했습니다.</a:t>
            </a:r>
          </a:p>
          <a:p>
            <a:r>
              <a:rPr lang="en-US"/>
              <a:t>오픈 소스 커뮤니티의 성장:</a:t>
            </a:r>
          </a:p>
          <a:p>
            <a:r>
              <a:rPr lang="en-US"/>
              <a:t/>
            </a:r>
          </a:p>
          <a:p>
            <a:r>
              <a:rPr lang="en-US"/>
              <a:t>오픈 소스로 공개된 후, 쿠버네티스는 빠르게 커뮤니티의 주목을 받았고, 많은 기여자들이 참여하기 시작했습니다.</a:t>
            </a:r>
          </a:p>
          <a:p>
            <a:r>
              <a:rPr lang="en-US"/>
              <a:t>CNCF(Cloud Native Computing Foundation)의 지원을 받으며 프로젝트가 더욱 발전하였습니다.</a:t>
            </a:r>
          </a:p>
          <a:p>
            <a:r>
              <a:rPr lang="en-US"/>
              <a:t>버전 릴리즈와 확장:</a:t>
            </a:r>
          </a:p>
          <a:p>
            <a:r>
              <a:rPr lang="en-US"/>
              <a:t/>
            </a:r>
          </a:p>
          <a:p>
            <a:r>
              <a:rPr lang="en-US"/>
              <a:t>2015년 7월, 쿠버네티스 1.0이 공식적으로 릴리즈되었고, 이후 꾸준한 업데이트와 개선이 이루어졌습니다.</a:t>
            </a:r>
          </a:p>
          <a:p>
            <a:r>
              <a:rPr lang="en-US"/>
              <a:t>다양한 클라우드 서비스 제공자들이 쿠버네티스를 지원하면서 더욱 널리 사용되었습니다.</a:t>
            </a:r>
          </a:p>
          <a:p>
            <a:r>
              <a:rPr lang="en-US"/>
              <a:t>주요 특징</a:t>
            </a:r>
          </a:p>
          <a:p>
            <a:r>
              <a:rPr lang="en-US"/>
              <a:t>자동화된 컨테이너 배포 및 관리: 쿠버네티스는 컨테이너화된 애플리케이션의 배포, 확장, 운영을 자동화합니다.</a:t>
            </a:r>
          </a:p>
          <a:p>
            <a:r>
              <a:rPr lang="en-US"/>
              <a:t>확장성: 수천 개의 노드를 효과적으로 관리할 수 있는 확장성을 제공합니다.</a:t>
            </a:r>
          </a:p>
          <a:p>
            <a:r>
              <a:rPr lang="en-US"/>
              <a:t>자체 치유(Self-healing): 장애가 발생한 컨테이너를 자동으로 재시작하거나 대체합니다.</a:t>
            </a:r>
          </a:p>
          <a:p>
            <a:r>
              <a:rPr lang="en-US"/>
              <a:t>롤아웃 및 롤백: 애플리케이션 업데이트 시 롤아웃과 롤백 기능을 지원하여 안정적인 배포를 보장합니다.</a:t>
            </a:r>
          </a:p>
          <a:p>
            <a:r>
              <a:rPr lang="en-US"/>
              <a:t>쿠버네티스는 현재 클라우드 네이티브 애플리케이션을 관리하는 데 표준이 되었으며, 많은 기업들이 이를 활용하여 애플리케이션의 효율성과 가용성을 높이고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마스터 노드:</a:t>
            </a:r>
          </a:p>
          <a:p>
            <a:r>
              <a:rPr lang="en-US"/>
              <a:t/>
            </a:r>
          </a:p>
          <a:p>
            <a:r>
              <a:rPr lang="en-US"/>
              <a:t>API 서버: 클러스터와의 통신을 담당.</a:t>
            </a:r>
          </a:p>
          <a:p>
            <a:r>
              <a:rPr lang="en-US"/>
              <a:t>컨트롤러 매니저: 상태 관리.</a:t>
            </a:r>
          </a:p>
          <a:p>
            <a:r>
              <a:rPr lang="en-US"/>
              <a:t>스케줄러: 워커 노드에 파드를 할당.</a:t>
            </a:r>
          </a:p>
          <a:p>
            <a:r>
              <a:rPr lang="en-US"/>
              <a:t>ETCD: 클러스터 상태를 저장하는 데이터베이스.</a:t>
            </a:r>
          </a:p>
          <a:p>
            <a:r>
              <a:rPr lang="en-US"/>
              <a:t>워커 노드:</a:t>
            </a:r>
          </a:p>
          <a:p>
            <a:r>
              <a:rPr lang="en-US"/>
              <a:t/>
            </a:r>
          </a:p>
          <a:p>
            <a:r>
              <a:rPr lang="en-US"/>
              <a:t>쿠블렛: 파드 실행 관리.</a:t>
            </a:r>
          </a:p>
          <a:p>
            <a:r>
              <a:rPr lang="en-US"/>
              <a:t>컨테이너 런타임: 컨테이너 실행 (예: Docker).</a:t>
            </a:r>
          </a:p>
          <a:p>
            <a:r>
              <a:rPr lang="en-US"/>
              <a:t>kube-proxy: 네트워크 통신 처리.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쿠버네티스의 기본 사항과</a:t>
            </a:r>
          </a:p>
          <a:p>
            <a:r>
              <a:rPr lang="en-US"/>
              <a:t/>
            </a:r>
          </a:p>
          <a:p>
            <a:r>
              <a:rPr lang="en-US"/>
              <a:t>쿠버네티스 클러스터와의 상호 작용을 시작해보도록 하죠.</a:t>
            </a:r>
          </a:p>
          <a:p>
            <a:r>
              <a:rPr lang="en-US"/>
              <a:t/>
            </a:r>
          </a:p>
          <a:p>
            <a:r>
              <a:rPr lang="en-US"/>
              <a:t>'create deployment' 명령을 사용하여</a:t>
            </a:r>
          </a:p>
          <a:p>
            <a:r>
              <a:rPr lang="en-US"/>
              <a:t/>
            </a:r>
          </a:p>
          <a:p>
            <a:r>
              <a:rPr lang="en-US"/>
              <a:t>deployment를 만드는 방법을 배웠습니다.</a:t>
            </a:r>
          </a:p>
          <a:p>
            <a:r>
              <a:rPr lang="en-US"/>
              <a:t/>
            </a:r>
          </a:p>
          <a:p>
            <a:r>
              <a:rPr lang="en-US"/>
              <a:t>'set image' 명령으로</a:t>
            </a:r>
          </a:p>
          <a:p>
            <a:r>
              <a:rPr lang="en-US"/>
              <a:t/>
            </a:r>
          </a:p>
          <a:p>
            <a:r>
              <a:rPr lang="en-US"/>
              <a:t>deployment 이미지를 업데이트하는 방법도 배웠죠.</a:t>
            </a:r>
          </a:p>
          <a:p>
            <a:r>
              <a:rPr lang="en-US"/>
              <a:t/>
            </a:r>
          </a:p>
          <a:p>
            <a:r>
              <a:rPr lang="en-US"/>
              <a:t>그리고 'expose' 명령과 같은 몇몇 다른 명령도 보았습니다.</a:t>
            </a:r>
          </a:p>
          <a:p>
            <a:r>
              <a:rPr lang="en-US"/>
              <a:t/>
            </a:r>
          </a:p>
          <a:p>
            <a:r>
              <a:rPr lang="en-US"/>
              <a:t>하지만, 이러한 모든 명령에는 한 가지 잠재적인 문제가 있습니다.</a:t>
            </a:r>
          </a:p>
          <a:p>
            <a:r>
              <a:rPr lang="en-US"/>
              <a:t/>
            </a:r>
          </a:p>
          <a:p>
            <a:r>
              <a:rPr lang="en-US"/>
              <a:t>첫 번째, 당연히 명령을 외워야 합니다.</a:t>
            </a:r>
          </a:p>
          <a:p>
            <a:r>
              <a:rPr lang="en-US"/>
              <a:t/>
            </a:r>
          </a:p>
          <a:p>
            <a:r>
              <a:rPr lang="en-US"/>
              <a:t>하지만 그건 그렇게 어렵진 않습니다.</a:t>
            </a:r>
          </a:p>
          <a:p>
            <a:r>
              <a:rPr lang="en-US"/>
              <a:t/>
            </a:r>
          </a:p>
          <a:p>
            <a:r>
              <a:rPr lang="en-US"/>
              <a:t>항상 동일한 명령 세트를 사용하니까요.</a:t>
            </a:r>
          </a:p>
          <a:p>
            <a:r>
              <a:rPr lang="en-US"/>
              <a:t/>
            </a:r>
          </a:p>
          <a:p>
            <a:r>
              <a:rPr lang="en-US"/>
              <a:t>하지만 또한 그것들을 항상 반복해야 합니다.</a:t>
            </a:r>
          </a:p>
          <a:p>
            <a:r>
              <a:rPr lang="en-US"/>
              <a:t/>
            </a:r>
          </a:p>
          <a:p>
            <a:r>
              <a:rPr lang="en-US"/>
              <a:t>본 교육과정의 이전 부분에서 항상 'docker run'을 실행했던 것과 비슷하죠.</a:t>
            </a:r>
          </a:p>
          <a:p>
            <a:r>
              <a:rPr lang="en-US"/>
              <a:t/>
            </a:r>
          </a:p>
          <a:p>
            <a:r>
              <a:rPr lang="en-US"/>
              <a:t>다중 컨테이너가 포함된 프로젝트에서는 'docker run'을 상당히 많이 실행해야 했습니다.</a:t>
            </a:r>
          </a:p>
          <a:p>
            <a:r>
              <a:rPr lang="en-US"/>
              <a:t/>
            </a:r>
          </a:p>
          <a:p>
            <a:r>
              <a:rPr lang="en-US"/>
              <a:t>docker-compose을 배웠을 때는 갑작스레</a:t>
            </a:r>
          </a:p>
          <a:p>
            <a:r>
              <a:rPr lang="en-US"/>
              <a:t/>
            </a:r>
          </a:p>
          <a:p>
            <a:r>
              <a:rPr lang="en-US"/>
              <a:t>compose.yaml 파일에 컨테이너를 빌드하고 시작하는 방법을 기록하고,</a:t>
            </a:r>
          </a:p>
          <a:p>
            <a:r>
              <a:rPr lang="en-US"/>
              <a:t/>
            </a:r>
          </a:p>
          <a:p>
            <a:r>
              <a:rPr lang="en-US"/>
              <a:t>'docker-compose up'으로 그 파일을 선택하여,</a:t>
            </a:r>
          </a:p>
          <a:p>
            <a:r>
              <a:rPr lang="en-US"/>
              <a:t/>
            </a:r>
          </a:p>
          <a:p>
            <a:r>
              <a:rPr lang="en-US"/>
              <a:t>그 지침을 적용하고,</a:t>
            </a:r>
          </a:p>
          <a:p>
            <a:r>
              <a:rPr lang="en-US"/>
              <a:t/>
            </a:r>
          </a:p>
          <a:p>
            <a:r>
              <a:rPr lang="en-US"/>
              <a:t>한 번에 여러 컨테이너를 빌드하고 시작했었죠.</a:t>
            </a:r>
          </a:p>
          <a:p>
            <a:r>
              <a:rPr lang="en-US"/>
              <a:t/>
            </a:r>
          </a:p>
          <a:p>
            <a:r>
              <a:rPr lang="en-US"/>
              <a:t>하나의 컨테이너로 작업하더라도 docker-compose가 도움이 되었습니다.</a:t>
            </a:r>
          </a:p>
          <a:p>
            <a:r>
              <a:rPr lang="en-US"/>
              <a:t/>
            </a:r>
          </a:p>
          <a:p>
            <a:r>
              <a:rPr lang="en-US"/>
              <a:t>모든 실행 구성을 파일에 넣을 수 있고,</a:t>
            </a:r>
          </a:p>
          <a:p>
            <a:r>
              <a:rPr lang="en-US"/>
              <a:t/>
            </a:r>
          </a:p>
          <a:p>
            <a:r>
              <a:rPr lang="en-US"/>
              <a:t>긴 'docker run' 명령을 항상 입력할 필요가 없으니까요.</a:t>
            </a:r>
          </a:p>
          <a:p>
            <a:r>
              <a:rPr lang="en-US"/>
              <a:t/>
            </a:r>
          </a:p>
          <a:p>
            <a:r>
              <a:rPr lang="en-US"/>
              <a:t>그것이 본 과정의 초기 단계였습니다.</a:t>
            </a:r>
          </a:p>
          <a:p>
            <a:r>
              <a:rPr lang="en-US"/>
              <a:t/>
            </a:r>
          </a:p>
          <a:p>
            <a:r>
              <a:rPr lang="en-US"/>
              <a:t>kubectl도 이와 유사한 문제를 가지고 있습니다.</a:t>
            </a:r>
          </a:p>
          <a:p>
            <a:r>
              <a:rPr lang="en-US"/>
              <a:t/>
            </a:r>
          </a:p>
          <a:p>
            <a:r>
              <a:rPr lang="en-US"/>
              <a:t>이러한 모든 명령을 수동으로 작성하는 대신</a:t>
            </a:r>
          </a:p>
          <a:p>
            <a:r>
              <a:rPr lang="en-US"/>
              <a:t/>
            </a:r>
          </a:p>
          <a:p>
            <a:r>
              <a:rPr lang="en-US"/>
              <a:t>deployment 및 서비스 구성을 파일에 기록할 수 있다면 좋을 겁니다.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클러스터에 적용하여</a:t>
            </a:r>
          </a:p>
          <a:p>
            <a:r>
              <a:rPr lang="en-US"/>
              <a:t/>
            </a:r>
          </a:p>
          <a:p>
            <a:r>
              <a:rPr lang="en-US"/>
              <a:t>파일내의 구성을 기반으로 새 deployment를 생성할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이를 지원합니다.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사용하면 다음과 같은 리소스 정의 파일을 생성할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이것은 물론 하나의 예일 뿐입니다.</a:t>
            </a:r>
          </a:p>
          <a:p>
            <a:r>
              <a:rPr lang="en-US"/>
              <a:t/>
            </a:r>
          </a:p>
          <a:p>
            <a:r>
              <a:rPr lang="en-US"/>
              <a:t>YAML 파일에 구성 옵션을 기록하고</a:t>
            </a:r>
          </a:p>
          <a:p>
            <a:r>
              <a:rPr lang="en-US"/>
              <a:t/>
            </a:r>
          </a:p>
          <a:p>
            <a:r>
              <a:rPr lang="en-US"/>
              <a:t>쿠버네티스가 이해하는 다양한 종류의 객체에 대한</a:t>
            </a:r>
          </a:p>
          <a:p>
            <a:r>
              <a:rPr lang="en-US"/>
              <a:t/>
            </a:r>
          </a:p>
          <a:p>
            <a:r>
              <a:rPr lang="en-US"/>
              <a:t>구성 옵션을 기록할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예를 들어, 이 슬라이드를 보면</a:t>
            </a:r>
          </a:p>
          <a:p>
            <a:r>
              <a:rPr lang="en-US"/>
              <a:t/>
            </a:r>
          </a:p>
          <a:p>
            <a:r>
              <a:rPr lang="en-US"/>
              <a:t>deployment 객체에 대한 배포 수행 방법,</a:t>
            </a:r>
          </a:p>
          <a:p>
            <a:r>
              <a:rPr lang="en-US"/>
              <a:t/>
            </a:r>
          </a:p>
          <a:p>
            <a:r>
              <a:rPr lang="en-US"/>
              <a:t>이 deployment에서 어떤 컨테이너를 시작해야 하는지,</a:t>
            </a:r>
          </a:p>
          <a:p>
            <a:r>
              <a:rPr lang="en-US"/>
              <a:t/>
            </a:r>
          </a:p>
          <a:p>
            <a:r>
              <a:rPr lang="en-US"/>
              <a:t>원하는 포드 인스턴스 수 등을 정의합니다.</a:t>
            </a:r>
          </a:p>
          <a:p>
            <a:r>
              <a:rPr lang="en-US"/>
              <a:t/>
            </a:r>
          </a:p>
          <a:p>
            <a:r>
              <a:rPr lang="en-US"/>
              <a:t>이것은 이전에 보았던 '명령적' 접근 방식에 대한 대안입니다.</a:t>
            </a:r>
          </a:p>
          <a:p>
            <a:r>
              <a:rPr lang="en-US"/>
              <a:t/>
            </a:r>
          </a:p>
          <a:p>
            <a:r>
              <a:rPr lang="en-US"/>
              <a:t>'명령적' 접근 방식으로 우리는 항상 이러한 kubectl 명령을 실행했으며</a:t>
            </a:r>
          </a:p>
          <a:p>
            <a:r>
              <a:rPr lang="en-US"/>
              <a:t/>
            </a:r>
          </a:p>
          <a:p>
            <a:r>
              <a:rPr lang="en-US"/>
              <a:t>쿠버네티스 클러스터에서 다양한 작업을 트리거하려면</a:t>
            </a:r>
          </a:p>
          <a:p>
            <a:r>
              <a:rPr lang="en-US"/>
              <a:t/>
            </a:r>
          </a:p>
          <a:p>
            <a:r>
              <a:rPr lang="en-US"/>
              <a:t>이러한 개별 명령을 실행해야 했습니다.</a:t>
            </a:r>
          </a:p>
          <a:p>
            <a:r>
              <a:rPr lang="en-US"/>
              <a:t/>
            </a:r>
          </a:p>
          <a:p>
            <a:r>
              <a:rPr lang="en-US"/>
              <a:t>이것은 방금 전에 언급했듯이 'docker run'만을 사용하는 것과 비슷합니다.</a:t>
            </a:r>
          </a:p>
          <a:p>
            <a:r>
              <a:rPr lang="en-US"/>
              <a:t/>
            </a:r>
          </a:p>
          <a:p>
            <a:r>
              <a:rPr lang="en-US"/>
              <a:t>이제 '선언적' 접근 방식에서는 다릅니다.</a:t>
            </a:r>
          </a:p>
          <a:p>
            <a:r>
              <a:rPr lang="en-US"/>
              <a:t/>
            </a:r>
          </a:p>
          <a:p>
            <a:r>
              <a:rPr lang="en-US"/>
              <a:t>지금까지 본 적 없는 또다른 'apply' 명령을 실행하여,</a:t>
            </a:r>
          </a:p>
          <a:p>
            <a:r>
              <a:rPr lang="en-US"/>
              <a:t/>
            </a:r>
          </a:p>
          <a:p>
            <a:r>
              <a:rPr lang="en-US"/>
              <a:t>클러스터에 적용하려는 구성이 포함된 YAML 파일을 가리킬 겁니다.</a:t>
            </a:r>
          </a:p>
          <a:p>
            <a:r>
              <a:rPr lang="en-US"/>
              <a:t/>
            </a:r>
          </a:p>
          <a:p>
            <a:r>
              <a:rPr lang="en-US"/>
              <a:t>그리고 그 구성에는 배포에 대한 정보가 포함됩니다.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이 config 파일을 사용하여 원하는 목표 상태를 정의합니다.</a:t>
            </a:r>
          </a:p>
          <a:p>
            <a:r>
              <a:rPr lang="en-US"/>
              <a:t/>
            </a:r>
          </a:p>
          <a:p>
            <a:r>
              <a:rPr lang="en-US"/>
              <a:t>이를 적용할 때마다 쿠버네티스는 그 목표 상태를 사용하여</a:t>
            </a:r>
          </a:p>
          <a:p>
            <a:r>
              <a:rPr lang="en-US"/>
              <a:t/>
            </a:r>
          </a:p>
          <a:p>
            <a:r>
              <a:rPr lang="en-US"/>
              <a:t>현재 상태로 만들기 위해 필요한 모든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그리고 예를 들어, 구성 파일을 변경하고 다시 적용하면,</a:t>
            </a:r>
          </a:p>
          <a:p>
            <a:r>
              <a:rPr lang="en-US"/>
              <a:t/>
            </a:r>
          </a:p>
          <a:p>
            <a:r>
              <a:rPr lang="en-US"/>
              <a:t>쿠버네티스는 변경된 사항을 살펴보고,</a:t>
            </a:r>
          </a:p>
          <a:p>
            <a:r>
              <a:rPr lang="en-US"/>
              <a:t/>
            </a:r>
          </a:p>
          <a:p>
            <a:r>
              <a:rPr lang="en-US"/>
              <a:t>실행 중인 클러스터와 실행 중인 애플리케이션에 적절한 변경을 수행합니다.</a:t>
            </a:r>
          </a:p>
          <a:p>
            <a:r>
              <a:rPr lang="en-US"/>
              <a:t/>
            </a:r>
          </a:p>
          <a:p>
            <a:r>
              <a:rPr lang="en-US"/>
              <a:t>따라서 그것은 어떤 의미에서 Docker Compose와 비슷합니다.</a:t>
            </a:r>
          </a:p>
          <a:p>
            <a:r>
              <a:rPr lang="en-US"/>
              <a:t/>
            </a:r>
          </a:p>
          <a:p>
            <a:r>
              <a:rPr lang="en-US"/>
              <a:t>이제 구성 파일을 사용할 수 있고, 많은 개별 명령을 실행할 필요가 없기 때문이죠.</a:t>
            </a:r>
          </a:p>
          <a:p>
            <a:r>
              <a:rPr lang="en-US"/>
              <a:t/>
            </a:r>
          </a:p>
          <a:p>
            <a:r>
              <a:rPr lang="en-US"/>
              <a:t>이제 실제로 작동하는 것을 보도록 하죠.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이전 섹션에서 우리는 Pod와 Service를 다루며 Kubernetes의 핵심 요소들을 배웠습니다. 하지만 실제 프로덕션 환경에서는 Pod를 직접적으로 관리하는 일이 거의 없습니다. ReplicaSet과 Deployment를 더 자주 사용하게 될 것입니다. 이 섹션에서는 ReplicaSet을 다룹니다.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쿠버네티스는 지난 강의에서 설명한 문제를 해결하는데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쿠버네티스로 배포하는 방식, 컨테이너 스케일링,</a:t>
            </a:r>
          </a:p>
          <a:p>
            <a:r>
              <a:rPr lang="en-US"/>
              <a:t/>
            </a:r>
          </a:p>
          <a:p>
            <a:r>
              <a:rPr lang="en-US"/>
              <a:t>컨테이너가 실패할 경우의 모니터링하는 방법과 컨테이너를 교체하는 방법을 정의할 수 있기 때문입니다.</a:t>
            </a:r>
          </a:p>
          <a:p>
            <a:r>
              <a:rPr lang="en-US"/>
              <a:t/>
            </a:r>
          </a:p>
          <a:p>
            <a:r>
              <a:rPr lang="en-US"/>
              <a:t>우리가 사용하는 클라우드 서비스와는</a:t>
            </a:r>
          </a:p>
          <a:p>
            <a:r>
              <a:rPr lang="en-US"/>
              <a:t/>
            </a:r>
          </a:p>
          <a:p>
            <a:r>
              <a:rPr lang="en-US"/>
              <a:t>독립적으로 이 모든 것을 정의할 수 있는 방식을 가집니다.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오픈 소스 시스템이자</a:t>
            </a:r>
          </a:p>
          <a:p>
            <a:r>
              <a:rPr lang="en-US"/>
              <a:t/>
            </a:r>
          </a:p>
          <a:p>
            <a:r>
              <a:rPr lang="en-US"/>
              <a:t>컨테이너 배포를 관리하고,</a:t>
            </a:r>
          </a:p>
          <a:p>
            <a:r>
              <a:rPr lang="en-US"/>
              <a:t/>
            </a:r>
          </a:p>
          <a:p>
            <a:r>
              <a:rPr lang="en-US"/>
              <a:t>컨테이너를 오케스트레이션하기 위한 사실상의 표준이기 때문입니다.</a:t>
            </a:r>
          </a:p>
          <a:p>
            <a:r>
              <a:rPr lang="en-US"/>
              <a:t/>
            </a:r>
          </a:p>
          <a:p>
            <a:r>
              <a:rPr lang="en-US"/>
              <a:t>또한 자동 배포, 스케일링, 로드 밸런싱,</a:t>
            </a:r>
          </a:p>
          <a:p>
            <a:r>
              <a:rPr lang="en-US"/>
              <a:t/>
            </a:r>
          </a:p>
          <a:p>
            <a:r>
              <a:rPr lang="en-US"/>
              <a:t>일반적인 배포와 컨테이너 관리와 같은 태스크를 수행하는데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컨테이너를 모니터링하고,</a:t>
            </a:r>
          </a:p>
          <a:p>
            <a:r>
              <a:rPr lang="en-US"/>
              <a:t/>
            </a:r>
          </a:p>
          <a:p>
            <a:r>
              <a:rPr lang="en-US"/>
              <a:t>컨테이너가 다운되면 자동으로 교체하는 것에 도움을 줍니다.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쿠버네티스를 사용하면 쉽게 쿠버네티스 구성을 작성할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즉, 원하는 배포를 정의하는 구성 파일, 배포할 컨테이너, 인스턴스 수,</a:t>
            </a:r>
          </a:p>
          <a:p>
            <a:r>
              <a:rPr lang="en-US"/>
              <a:t/>
            </a:r>
          </a:p>
          <a:p>
            <a:r>
              <a:rPr lang="en-US"/>
              <a:t>스케일을 확장해야 하는지, 교체해야 하는지 등을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특정 도구를 사용하여 그 구성을 클라우드 프로바이더</a:t>
            </a:r>
          </a:p>
          <a:p>
            <a:r>
              <a:rPr lang="en-US"/>
              <a:t/>
            </a:r>
          </a:p>
          <a:p>
            <a:r>
              <a:rPr lang="en-US"/>
              <a:t>또는 실제로 올바르게 구성된 우리의 자체 머신에 전달합니다.</a:t>
            </a:r>
          </a:p>
          <a:p>
            <a:r>
              <a:rPr lang="en-US"/>
              <a:t/>
            </a:r>
          </a:p>
          <a:p>
            <a:r>
              <a:rPr lang="en-US"/>
              <a:t>그러면 그 구성에 지정된 리소스와 배포를 생성하기 위해</a:t>
            </a:r>
          </a:p>
          <a:p>
            <a:r>
              <a:rPr lang="en-US"/>
              <a:t/>
            </a:r>
          </a:p>
          <a:p>
            <a:r>
              <a:rPr lang="en-US"/>
              <a:t>그 쿠버네티스 구성을 적용합니다.</a:t>
            </a:r>
          </a:p>
          <a:p>
            <a:r>
              <a:rPr lang="en-US"/>
              <a:t/>
            </a:r>
          </a:p>
          <a:p>
            <a:r>
              <a:rPr lang="en-US"/>
              <a:t>그러한 구성 파일을 작성하는 한 가지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다음과 같은데요.</a:t>
            </a:r>
          </a:p>
          <a:p>
            <a:r>
              <a:rPr lang="en-US"/>
              <a:t/>
            </a:r>
          </a:p>
          <a:p>
            <a:r>
              <a:rPr lang="en-US"/>
              <a:t>실제로 쿠버네티스 구문이 어떻게 생겼는지 알 수 있는데요.</a:t>
            </a:r>
          </a:p>
          <a:p>
            <a:r>
              <a:rPr lang="en-US"/>
              <a:t/>
            </a:r>
          </a:p>
          <a:p>
            <a:r>
              <a:rPr lang="en-US"/>
              <a:t>이 과정을 통해 매우 자세히 살펴볼 겁니다.</a:t>
            </a:r>
          </a:p>
          <a:p>
            <a:r>
              <a:rPr lang="en-US"/>
              <a:t/>
            </a:r>
          </a:p>
          <a:p>
            <a:r>
              <a:rPr lang="en-US"/>
              <a:t>이 구성은 쿠버네티스를 지원하는 한, 모든 클라우드 프로바이더와 함께 작동됩니다.</a:t>
            </a:r>
          </a:p>
          <a:p>
            <a:r>
              <a:rPr lang="en-US"/>
              <a:t/>
            </a:r>
          </a:p>
          <a:p>
            <a:r>
              <a:rPr lang="en-US"/>
              <a:t>또는 지원하지 않는 경우에도,</a:t>
            </a:r>
          </a:p>
          <a:p>
            <a:r>
              <a:rPr lang="en-US"/>
              <a:t/>
            </a:r>
          </a:p>
          <a:p>
            <a:r>
              <a:rPr lang="en-US"/>
              <a:t>여러분 자체 머신에 특정 쿠버네티스 소프트웨어를 수동으로 설치한 다음</a:t>
            </a:r>
          </a:p>
          <a:p>
            <a:r>
              <a:rPr lang="en-US"/>
              <a:t/>
            </a:r>
          </a:p>
          <a:p>
            <a:r>
              <a:rPr lang="en-US"/>
              <a:t>그 소프트웨어의 구성 파일을 활용할 수 있고 이해할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따라서 생성되어야 하며,</a:t>
            </a:r>
          </a:p>
          <a:p>
            <a:r>
              <a:rPr lang="en-US"/>
              <a:t/>
            </a:r>
          </a:p>
          <a:p>
            <a:r>
              <a:rPr lang="en-US"/>
              <a:t>괸리되어야 하는 리소스를 설명하는 표준화된 방법이 있습니다.</a:t>
            </a:r>
          </a:p>
          <a:p>
            <a:r>
              <a:rPr lang="en-US"/>
              <a:t/>
            </a:r>
          </a:p>
          <a:p>
            <a:r>
              <a:rPr lang="en-US"/>
              <a:t>사용하려는 서버가 이 쿠버네티스 구문을 이해할 수 있고, 실행할 수 있는 한,</a:t>
            </a:r>
          </a:p>
          <a:p>
            <a:r>
              <a:rPr lang="en-US"/>
              <a:t/>
            </a:r>
          </a:p>
          <a:p>
            <a:r>
              <a:rPr lang="en-US"/>
              <a:t>사용 중인 클라우드 프로바이더에 관계 없이 이 구성 파일을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더 좋은 점은 특정 클라우드 프로바이더에 특화된 옵션을</a:t>
            </a:r>
          </a:p>
          <a:p>
            <a:r>
              <a:rPr lang="en-US"/>
              <a:t/>
            </a:r>
          </a:p>
          <a:p>
            <a:r>
              <a:rPr lang="en-US"/>
              <a:t>실제로 이 구성 파일에 병합할 수 있다는 겁니다.</a:t>
            </a:r>
          </a:p>
          <a:p>
            <a:r>
              <a:rPr lang="en-US"/>
              <a:t/>
            </a:r>
          </a:p>
          <a:p>
            <a:r>
              <a:rPr lang="en-US"/>
              <a:t>즉, 일부 클라우드 프로바이더에 추가 구성이 필요한 경우,</a:t>
            </a:r>
          </a:p>
          <a:p>
            <a:r>
              <a:rPr lang="en-US"/>
              <a:t/>
            </a:r>
          </a:p>
          <a:p>
            <a:r>
              <a:rPr lang="en-US"/>
              <a:t>그 구성을 그 메인 파일에 추가하기만 하면 됩니다.</a:t>
            </a:r>
          </a:p>
          <a:p>
            <a:r>
              <a:rPr lang="en-US"/>
              <a:t/>
            </a:r>
          </a:p>
          <a:p>
            <a:r>
              <a:rPr lang="en-US"/>
              <a:t>그런 다음, 그 파일을 다른 클라우드 프로바이더와 함께 사용하려는 경우,</a:t>
            </a:r>
          </a:p>
          <a:p>
            <a:r>
              <a:rPr lang="en-US"/>
              <a:t/>
            </a:r>
          </a:p>
          <a:p>
            <a:r>
              <a:rPr lang="en-US"/>
              <a:t>클라우드 프로바이더에 특화된 구성을 제거하거나,</a:t>
            </a:r>
          </a:p>
          <a:p>
            <a:r>
              <a:rPr lang="en-US"/>
              <a:t/>
            </a:r>
          </a:p>
          <a:p>
            <a:r>
              <a:rPr lang="en-US"/>
              <a:t>새로운 클라우드 프로바이더로 교체하기만 하면 되며,</a:t>
            </a:r>
          </a:p>
          <a:p>
            <a:r>
              <a:rPr lang="en-US"/>
              <a:t/>
            </a:r>
          </a:p>
          <a:p>
            <a:r>
              <a:rPr lang="en-US"/>
              <a:t>전체 구성 파일을 다시 작성할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이것이 쿠버네티스의 배경 아이디어입니다.</a:t>
            </a:r>
          </a:p>
          <a:p>
            <a:r>
              <a:rPr lang="en-US"/>
              <a:t/>
            </a:r>
          </a:p>
          <a:p>
            <a:r>
              <a:rPr lang="en-US"/>
              <a:t>배포를 설명하는 이 표준화된 방식을 갖는 것.</a:t>
            </a:r>
          </a:p>
          <a:p>
            <a:r>
              <a:rPr lang="en-US"/>
              <a:t/>
            </a:r>
          </a:p>
          <a:p>
            <a:r>
              <a:rPr lang="en-US"/>
              <a:t>따라서 쿠버네티스는 매우 강력하고, 매우 흥미롭지만,</a:t>
            </a:r>
          </a:p>
          <a:p>
            <a:r>
              <a:rPr lang="en-US"/>
              <a:t/>
            </a:r>
          </a:p>
          <a:p>
            <a:r>
              <a:rPr lang="en-US"/>
              <a:t>쿠버네티스가 무엇이고, 무엇이 쿠버네티스가 아닌지에 관해</a:t>
            </a:r>
          </a:p>
          <a:p>
            <a:r>
              <a:rPr lang="en-US"/>
              <a:t/>
            </a:r>
          </a:p>
          <a:p>
            <a:r>
              <a:rPr lang="en-US"/>
              <a:t>우리 모두 함께 알아야 하는 중요한 것입니다.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쿠버네티스가 아닌 것이 몇 가지 존재하기 때문인데요.</a:t>
            </a:r>
          </a:p>
          <a:p>
            <a:r>
              <a:rPr lang="en-US"/>
              <a:t/>
            </a:r>
          </a:p>
          <a:p>
            <a:r>
              <a:rPr lang="en-US"/>
              <a:t>예를 들어, 쿠버네티스는 클라우드 서비스 프로바이더가 아닙니다.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AWS 또는 Microsoft Azure 의 대안이 아닙니다 .</a:t>
            </a:r>
          </a:p>
          <a:p>
            <a:r>
              <a:rPr lang="en-US"/>
              <a:t/>
            </a:r>
          </a:p>
          <a:p>
            <a:r>
              <a:rPr lang="en-US"/>
              <a:t>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모든 클라우드 프로바이더와 함께 사용할 수 있는 개념 모음이자</a:t>
            </a:r>
          </a:p>
          <a:p>
            <a:r>
              <a:rPr lang="en-US"/>
              <a:t/>
            </a:r>
          </a:p>
          <a:p>
            <a:r>
              <a:rPr lang="en-US"/>
              <a:t>소프트웨어 모음일 뿐입니다.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클라우드 서비스 프로바이더가 제공하는 서비스가 아닙니다.</a:t>
            </a:r>
          </a:p>
          <a:p>
            <a:r>
              <a:rPr lang="en-US"/>
              <a:t/>
            </a:r>
          </a:p>
          <a:p>
            <a:r>
              <a:rPr lang="en-US"/>
              <a:t>AWS는 실제로 쿠버네티스를 사용하는데 도움이 되는 서비스를 제공할 것이지만</a:t>
            </a:r>
          </a:p>
          <a:p>
            <a:r>
              <a:rPr lang="en-US"/>
              <a:t/>
            </a:r>
          </a:p>
          <a:p>
            <a:r>
              <a:rPr lang="en-US"/>
              <a:t>쿠버네티스 자체는 여기에서 말했듯이 오픈 소스 프로젝트이며,</a:t>
            </a:r>
          </a:p>
          <a:p>
            <a:r>
              <a:rPr lang="en-US"/>
              <a:t/>
            </a:r>
          </a:p>
          <a:p>
            <a:r>
              <a:rPr lang="en-US"/>
              <a:t>모든 프로바이더 및 여러분의 자체 머신에서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일부 서비스 프로바이더, 일부 클라우드 프로바이더는</a:t>
            </a:r>
          </a:p>
          <a:p>
            <a:r>
              <a:rPr lang="en-US"/>
              <a:t/>
            </a:r>
          </a:p>
          <a:p>
            <a:r>
              <a:rPr lang="en-US"/>
              <a:t>쿠버네티스 작업을 더 쉽게 만드는 서비스를 제공하지만,</a:t>
            </a:r>
          </a:p>
          <a:p>
            <a:r>
              <a:rPr lang="en-US"/>
              <a:t/>
            </a:r>
          </a:p>
          <a:p>
            <a:r>
              <a:rPr lang="en-US"/>
              <a:t>기술적으로는 어디서나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이것은 특정 클라우드 프로바이더나 특정 서비스에 국한되지 않으며</a:t>
            </a:r>
          </a:p>
          <a:p>
            <a:r>
              <a:rPr lang="en-US"/>
              <a:t/>
            </a:r>
          </a:p>
          <a:p>
            <a:r>
              <a:rPr lang="en-US"/>
              <a:t>어디에서나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또한 쿠버네티스는 특정 머신에서 실행하는 단순한 소프트웨어가 아니라,</a:t>
            </a:r>
          </a:p>
          <a:p>
            <a:r>
              <a:rPr lang="en-US"/>
              <a:t/>
            </a:r>
          </a:p>
          <a:p>
            <a:r>
              <a:rPr lang="en-US"/>
              <a:t>실제로 이 교육과정에서 보게 될 개념 및 도구 모음이며,</a:t>
            </a:r>
          </a:p>
          <a:p>
            <a:r>
              <a:rPr lang="en-US"/>
              <a:t/>
            </a:r>
          </a:p>
          <a:p>
            <a:r>
              <a:rPr lang="en-US"/>
              <a:t>이는 우리가 선택한 모든 프로바이더에서 배포 작업을 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또한 도커의 대안이 아닙니다.</a:t>
            </a:r>
          </a:p>
          <a:p>
            <a:r>
              <a:rPr lang="en-US"/>
              <a:t/>
            </a:r>
          </a:p>
          <a:p>
            <a:r>
              <a:rPr lang="en-US"/>
              <a:t>대신 도커 컨테이너와 함께 작동하여 컨테이너를 어디에나 배포할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이것은 또한 유료 서비스가 아님을 이 시점에서 분명히 밝혀야겠네요.</a:t>
            </a:r>
          </a:p>
          <a:p>
            <a:r>
              <a:rPr lang="en-US"/>
              <a:t/>
            </a:r>
          </a:p>
          <a:p>
            <a:r>
              <a:rPr lang="en-US"/>
              <a:t>다시 말하지만, 쿠버네티스는 무료 오픈 소스 프로젝트입니다.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쿠버네티스를 사용하는데 비용을 지불할 필요가 없죠.</a:t>
            </a:r>
          </a:p>
          <a:p>
            <a:r>
              <a:rPr lang="en-US"/>
              <a:t/>
            </a:r>
          </a:p>
          <a:p>
            <a:r>
              <a:rPr lang="en-US"/>
              <a:t>쿠버네티스 특정 클라우드 프로바이더 서비스를 사용하는 경우,</a:t>
            </a:r>
          </a:p>
          <a:p>
            <a:r>
              <a:rPr lang="en-US"/>
              <a:t/>
            </a:r>
          </a:p>
          <a:p>
            <a:r>
              <a:rPr lang="en-US"/>
              <a:t>또는 일반적으로 쿠버네티스를 사용하여 특정 클라우드 프로바이더에 배포하는 경우,</a:t>
            </a:r>
          </a:p>
          <a:p>
            <a:r>
              <a:rPr lang="en-US"/>
              <a:t/>
            </a:r>
          </a:p>
          <a:p>
            <a:r>
              <a:rPr lang="en-US"/>
              <a:t>비용을 지불해야 할 수도 있습니다.</a:t>
            </a:r>
          </a:p>
          <a:p>
            <a:r>
              <a:rPr lang="en-US"/>
              <a:t/>
            </a:r>
          </a:p>
          <a:p>
            <a:r>
              <a:rPr lang="en-US"/>
              <a:t>물론 해당 클라우드 프로바이더가 생성한 리소스에 대한 비용을 지불해야 하지만,</a:t>
            </a:r>
          </a:p>
          <a:p>
            <a:r>
              <a:rPr lang="en-US"/>
              <a:t/>
            </a:r>
          </a:p>
          <a:p>
            <a:r>
              <a:rPr lang="en-US"/>
              <a:t>이 배포를 관리하기 위해 쿠버네티스를 사용하는 것은 비용을 지불할 필요가 없습니다.</a:t>
            </a:r>
          </a:p>
          <a:p>
            <a:r>
              <a:rPr lang="en-US"/>
              <a:t/>
            </a:r>
          </a:p>
          <a:p>
            <a:r>
              <a:rPr lang="en-US"/>
              <a:t>쿠버네티스는 여러 머신을 위한 Docker-Compose라고 생각할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왜냐하면 그 핵심은 기본적으로 그것이기 때문이죠.</a:t>
            </a:r>
          </a:p>
          <a:p>
            <a:r>
              <a:rPr lang="en-US"/>
              <a:t/>
            </a:r>
          </a:p>
          <a:p>
            <a:r>
              <a:rPr lang="en-US"/>
              <a:t>우리개 배운 도커 컴포즈 툴은 우리의 로컬 머신에서</a:t>
            </a:r>
          </a:p>
          <a:p>
            <a:r>
              <a:rPr lang="en-US"/>
              <a:t/>
            </a:r>
          </a:p>
          <a:p>
            <a:r>
              <a:rPr lang="en-US"/>
              <a:t>다중 컨테이저 프로젝트를 쉽게 관리하는데 도움이 됩니다.</a:t>
            </a:r>
          </a:p>
          <a:p>
            <a:r>
              <a:rPr lang="en-US"/>
              <a:t/>
            </a:r>
          </a:p>
          <a:p>
            <a:r>
              <a:rPr lang="en-US"/>
              <a:t>긴 'docker run'명령을 실행하는 단일 컨테이너 프로젝트에서도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다중 머신 설정에 대해서도 동일한 작업을 수행합니다.</a:t>
            </a:r>
          </a:p>
          <a:p>
            <a:r>
              <a:rPr lang="en-US"/>
              <a:t/>
            </a:r>
          </a:p>
          <a:p>
            <a:r>
              <a:rPr lang="en-US"/>
              <a:t>애플리케이션을 배포할 때 하나의 머신이 아니라,</a:t>
            </a:r>
          </a:p>
          <a:p>
            <a:r>
              <a:rPr lang="en-US"/>
              <a:t/>
            </a:r>
          </a:p>
          <a:p>
            <a:r>
              <a:rPr lang="en-US"/>
              <a:t>여러 컴퓨터, 여러 머신에서 애플리케이션을 실행하여</a:t>
            </a:r>
          </a:p>
          <a:p>
            <a:r>
              <a:rPr lang="en-US"/>
              <a:t/>
            </a:r>
          </a:p>
          <a:p>
            <a:r>
              <a:rPr lang="en-US"/>
              <a:t>이를 수행하기 때문입니다.</a:t>
            </a:r>
          </a:p>
          <a:p>
            <a:r>
              <a:rPr lang="en-US"/>
              <a:t/>
            </a:r>
          </a:p>
          <a:p>
            <a:r>
              <a:rPr lang="en-US"/>
              <a:t>그리고 쿠버네티스는 컨테이너를 배포하고,</a:t>
            </a:r>
          </a:p>
          <a:p>
            <a:r>
              <a:rPr lang="en-US"/>
              <a:t/>
            </a:r>
          </a:p>
          <a:p>
            <a:r>
              <a:rPr lang="en-US"/>
              <a:t>여러 머신에서 자동으로 매우 쉽게 컨테이너를 모니터링을 하고,</a:t>
            </a:r>
          </a:p>
          <a:p>
            <a:r>
              <a:rPr lang="en-US"/>
              <a:t/>
            </a:r>
          </a:p>
          <a:p>
            <a:r>
              <a:rPr lang="en-US"/>
              <a:t>재시작 합니다.</a:t>
            </a:r>
          </a:p>
          <a:p>
            <a:r>
              <a:rPr lang="en-US"/>
              <a:t/>
            </a:r>
          </a:p>
          <a:p>
            <a:r>
              <a:rPr lang="en-US"/>
              <a:t>따라서 다중 머신 설정에서</a:t>
            </a:r>
          </a:p>
          <a:p>
            <a:r>
              <a:rPr lang="en-US"/>
              <a:t/>
            </a:r>
          </a:p>
          <a:p>
            <a:r>
              <a:rPr lang="en-US"/>
              <a:t>도커화되고 컨테이너화된 애플리케이션을 관리하고</a:t>
            </a:r>
          </a:p>
          <a:p>
            <a:r>
              <a:rPr lang="en-US"/>
              <a:t/>
            </a:r>
          </a:p>
          <a:p>
            <a:r>
              <a:rPr lang="en-US"/>
              <a:t>실행하기 위한 몇 가지 편리한 배포 특정 부가 기능이 있는</a:t>
            </a:r>
          </a:p>
          <a:p>
            <a:r>
              <a:rPr lang="en-US"/>
              <a:t/>
            </a:r>
          </a:p>
          <a:p>
            <a:r>
              <a:rPr lang="en-US"/>
              <a:t>도커 컴포즈와 같습니다.</a:t>
            </a:r>
          </a:p>
          <a:p>
            <a:r>
              <a:rPr lang="en-US"/>
              <a:t/>
            </a:r>
          </a:p>
          <a:p>
            <a:r>
              <a:rPr lang="en-US"/>
              <a:t>그것이 결국 쿠버네티스가 하는 일이죠.</a:t>
            </a:r>
          </a:p>
          <a:p>
            <a:r>
              <a:rPr lang="en-US"/>
              <a:t/>
            </a:r>
          </a:p>
          <a:p>
            <a:r>
              <a:rPr lang="en-US"/>
              <a:t>쿠버네티스는 배포용 docker-compose와 같습니다.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아래는 주어진 강의 대본을 섹션별로 한국어로 정리한 내용입니다.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1. **kubectl rollout status 명령어**</a:t>
            </a:r>
          </a:p>
          <a:p>
            <a:r>
              <a:rPr lang="en-US"/>
              <a:t>Deployment의 상태를 실시간으로 모니터링하는 데 유용한 **`kubectl rollout status`** 명령어를 소개합니다. 이 명령어는 배포 중 발생하는 상태 변화를 실시간으로 보여줍니다. 다만, 배포 이름 앞에 **`deployment`**를 명시해야 하는 약간의 불편함이 있지만, 배포가 정상적으로 이루어지는지 실시간으로 확인하는 데 매우 유용합니다.</a:t>
            </a:r>
          </a:p>
          <a:p>
            <a:r>
              <a:rPr lang="en-US"/>
              <a:t/>
            </a:r>
          </a:p>
          <a:p>
            <a:r>
              <a:rPr lang="en-US"/>
              <a:t>### 2. **롤백 명령어 (Rollback)**</a:t>
            </a:r>
          </a:p>
          <a:p>
            <a:r>
              <a:rPr lang="en-US"/>
              <a:t>**롤백**은 배포가 문제가 있을 때 이전 버전으로 되돌리는 기능을 제공합니다. 이를 통해 문제가 발생한 배포를 긴급하게 복구할 수 있습니다. 롤백은 수동으로 YAML 파일을 수정하지 않고도 `kubectl rollout undo` 명령을 통해 간단히 실행할 수 있습니다. 기본적으로 이전 버전으로 롤백되며, 특정 버전으로 롤백하려면 `--to-revision=&lt;번호&gt;` 옵션을 사용해 원하는 버전으로 되돌릴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 3. **롤백 과정 설명**</a:t>
            </a:r>
          </a:p>
          <a:p>
            <a:r>
              <a:rPr lang="en-US"/>
              <a:t>강의에서는 롤백 과정을 시연하며, 배포의 버전 관리 및 롤백의 유용성을 설명합니다. **`kubectl rollout history`** 명령을 통해 이전 배포의 기록을 확인할 수 있으며, 이전 버전으로 롤백할 수 있습니다. 다만, 롤백을 사용할 때는 주의해야 합니다. 롤백 후 **YAML 파일**과 현재 배포된 상태가 일치하지 않을 수 있으므로, **YAML 파일을 즉시 수정**하여 시스템 상태와 일치시켜야 합니다.</a:t>
            </a:r>
          </a:p>
          <a:p>
            <a:r>
              <a:rPr lang="en-US"/>
              <a:t/>
            </a:r>
          </a:p>
          <a:p>
            <a:r>
              <a:rPr lang="en-US"/>
              <a:t>### 4. **배포 실패 시의 동작**</a:t>
            </a:r>
          </a:p>
          <a:p>
            <a:r>
              <a:rPr lang="en-US"/>
              <a:t>만약 **배포에 실패**하는 경우(예: 잘못된 이미지 태그를 사용하는 경우), Kubernetes는 기존의 **정상적인 파드**를 유지하고, 새로운 파드를 배포하지 않습니다. 강의에서는 잘못된 이미지 태그를 사용해 의도적으로 배포를 실패시키고, Kubernetes가 **기존 ReplicaSet**을 유지하여 사이트가 계속 정상 작동하는 상황을 시연합니다. Kubernetes는 새로운 파드가 **정상적으로 실행될 때까지 기존 파드를 유지**하기 때문에, 사이트 가용성을 유지할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 5. **ImagePullBackoff 상태**</a:t>
            </a:r>
          </a:p>
          <a:p>
            <a:r>
              <a:rPr lang="en-US"/>
              <a:t>이미지를 가져오지 못할 경우, 파드는 **`ImagePullBackoff`** 상태로 진입합니다. 이는 네트워크 문제나 이미지 태그 오류와 같은 이유로 인해 발생할 수 있습니다. Kubernetes는 이미지 가져오기를 일정 시간 간격으로 재시도하며, 이 상태에서는 기존 파드가 여전히 요청을 처리합니다. 따라서 문제가 발생해도 사이트는 계속해서 정상적으로 동작할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 6. **실패한 배포 복구**</a:t>
            </a:r>
          </a:p>
          <a:p>
            <a:r>
              <a:rPr lang="en-US"/>
              <a:t>배포가 실패한 경우에는 즉시 롤백을 사용할 필요 없이, 시간을 두고 문제를 해결할 수 있습니다. 예를 들어, 잘못된 이미지 태그를 수정하고 배포를 재시도하면, Kubernetes는 자동으로 잘못된 파드를 중지하고 새로 고쳐진 파드를 배포합니다.</a:t>
            </a:r>
          </a:p>
          <a:p>
            <a:r>
              <a:rPr lang="en-US"/>
              <a:t/>
            </a:r>
          </a:p>
          <a:p>
            <a:r>
              <a:rPr lang="en-US"/>
              <a:t>### 7. **정상 배포로 복구**</a:t>
            </a:r>
          </a:p>
          <a:p>
            <a:r>
              <a:rPr lang="en-US"/>
              <a:t>잘못된 이미지 태그를 수정한 후, **정상적인 이미지**로 다시 배포하면 Kubernetes는 새로운 ReplicaSet을 생성하지 않고, 기존에 **정상적으로 작동했던 ReplicaSet**을 재사용합니다. 이는 시스템 자원을 절약하고, 빠르게 배포를 복구하는 데 유용합니다.</a:t>
            </a:r>
          </a:p>
          <a:p>
            <a:r>
              <a:rPr lang="en-US"/>
              <a:t/>
            </a:r>
          </a:p>
          <a:p>
            <a:r>
              <a:rPr lang="en-US"/>
              <a:t>### 결론</a:t>
            </a:r>
          </a:p>
          <a:p>
            <a:r>
              <a:rPr lang="en-US"/>
              <a:t>**롤백**과 **배포 상태 확인** 기능은 Kubernetes에서 매우 강력한 도구입니다. 배포가 실패하더라도 기존 시스템의 가용성을 유지할 수 있으며, 문제가 발생하면 신속하게 복구할 수 있습니다. 이 과정에서 YAML 파일과 실제 시스템 상태가 일치하도록 관리하는 것이 중요합니다. 이를 통해 **안정적인 배포**를 구현하고, **비상 상황에서 빠르게 복구**할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Deployment나 StatefulSet 등의 상위 리소스를 통해 Pod를 관리하는 것이 일반적입니다. 수동으로 Pod를 직접 관리할 필요가 없으며, Kubernetes가 이를 자동으로 처리합니다.</a:t>
            </a:r>
          </a:p>
          <a:p>
            <a:r>
              <a:rPr lang="en-US"/>
              <a:t>개발자는 Deployment를 통해 애플리케이션 배포, 업데이트, 복구를 관리하고, 개별 Pod의 상태를 Kubernetes가 자동으로 유지하도록 하는 것이 더 효율적입니다.</a:t>
            </a:r>
          </a:p>
          <a:p>
            <a:r>
              <a:rPr lang="en-US"/>
              <a:t>직접 Pod를 관리하는 것은 문제가 발생했을 때 디버깅하거나 진단할 때, 그리고 특별한 경우에만 필요한 작업입니다.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이전 섹션에서 우리는 Pod와 Service를 다루며 Kubernetes의 핵심 요소들을 배웠습니다. 하지만 실제 프로덕션 환경에서는 Pod를 직접적으로 관리하는 일이 거의 없습니다. ReplicaSet과 Deployment를 더 자주 사용하게 될 것입니다. 이 섹션에서는 ReplicaSet을 다룹니다.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Deployment나 StatefulSet 등의 상위 리소스를 통해 Pod를 관리하는 것이 일반적입니다. 수동으로 Pod를 직접 관리할 필요가 없으며, Kubernetes가 이를 자동으로 처리합니다.</a:t>
            </a:r>
          </a:p>
          <a:p>
            <a:r>
              <a:rPr lang="en-US"/>
              <a:t>개발자는 Deployment를 통해 애플리케이션 배포, 업데이트, 복구를 관리하고, 개별 Pod의 상태를 Kubernetes가 자동으로 유지하도록 하는 것이 더 효율적입니다.</a:t>
            </a:r>
          </a:p>
          <a:p>
            <a:r>
              <a:rPr lang="en-US"/>
              <a:t>직접 Pod를 관리하는 것은 문제가 발생했을 때 디버깅하거나 진단할 때, 그리고 특별한 경우에만 필요한 작업입니다.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Deployment나 StatefulSet 등의 상위 리소스를 통해 Pod를 관리하는 것이 일반적입니다. 수동으로 Pod를 직접 관리할 필요가 없으며, Kubernetes가 이를 자동으로 처리합니다.</a:t>
            </a:r>
          </a:p>
          <a:p>
            <a:r>
              <a:rPr lang="en-US"/>
              <a:t>개발자는 Deployment를 통해 애플리케이션 배포, 업데이트, 복구를 관리하고, 개별 Pod의 상태를 Kubernetes가 자동으로 유지하도록 하는 것이 더 효율적입니다.</a:t>
            </a:r>
          </a:p>
          <a:p>
            <a:r>
              <a:rPr lang="en-US"/>
              <a:t>직접 Pod를 관리하는 것은 문제가 발생했을 때 디버깅하거나 진단할 때, 그리고 특별한 경우에만 필요한 작업입니다.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`kube-system` 네임스페이스는 **쿠버네티스(Kubernetes)** 클러스터에서 **시스템 관련 구성 요소**가 실행되는 **기본 네임스페이스**입니다. 이 네임스페이스는 **쿠버네티스의 내부 관리 작업**을 수행하는 데 필요한 핵심 구성 요소들을 분리하여 관리하기 위해 사용됩니다.</a:t>
            </a:r>
          </a:p>
          <a:p>
            <a:r>
              <a:rPr lang="en-US"/>
              <a:t/>
            </a:r>
          </a:p>
          <a:p>
            <a:r>
              <a:rPr lang="en-US"/>
              <a:t>### 주요 특징 및 이유:</a:t>
            </a:r>
          </a:p>
          <a:p>
            <a:r>
              <a:rPr lang="en-US"/>
              <a:t>1. **시스템 구성 요소를 분리**: `kube-system` 네임스페이스는 클러스터의 **운영 및 관리에 필요한 리소스**들을 애플리케이션 리소스와 분리합니다. 이 네임스페이스는 쿠버네티스가 내부적으로 사용하는 구성 요소(예: 컨트롤러, DNS, 스케줄러 등)를 격리하여 클러스터 관리의 **명확성과 안정성**을 높입니다.</a:t>
            </a:r>
          </a:p>
          <a:p>
            <a:r>
              <a:rPr lang="en-US"/>
              <a:t>   </a:t>
            </a:r>
          </a:p>
          <a:p>
            <a:r>
              <a:rPr lang="en-US"/>
              <a:t>2. **기본 시스템 서비스 관리**:</a:t>
            </a:r>
          </a:p>
          <a:p>
            <a:r>
              <a:rPr lang="en-US"/>
              <a:t>   - **`kube-apiserver`**: API 서버로, 쿠버네티스 클러스터와 상호작용하는 모든 요청을 처리합니다.</a:t>
            </a:r>
          </a:p>
          <a:p>
            <a:r>
              <a:rPr lang="en-US"/>
              <a:t>   - **`kube-scheduler`**: 새로운 파드를 적절한 노드에 스케줄링하는 역할을 합니다.</a:t>
            </a:r>
          </a:p>
          <a:p>
            <a:r>
              <a:rPr lang="en-US"/>
              <a:t>   - **`kube-controller-manager`**: 다양한 컨트롤러들이 실행되는 곳으로, 클러스터 상태를 관리하고 보존하는 데 도움을 줍니다.</a:t>
            </a:r>
          </a:p>
          <a:p>
            <a:r>
              <a:rPr lang="en-US"/>
              <a:t>   - **`etcd`**: 쿠버네티스의 데이터 저장소로, 클러스터 상태를 저장합니다.</a:t>
            </a:r>
          </a:p>
          <a:p>
            <a:r>
              <a:rPr lang="en-US"/>
              <a:t>   - **DNS 및 네트워킹**: 쿠버네티스에서 클러스터 내 DNS 서비스(예: CoreDNS)를 제공하는 시스템 서비스가 포함됩니다.</a:t>
            </a:r>
          </a:p>
          <a:p>
            <a:r>
              <a:rPr lang="en-US"/>
              <a:t>   </a:t>
            </a:r>
          </a:p>
          <a:p>
            <a:r>
              <a:rPr lang="en-US"/>
              <a:t>3. **운영 관련 리소스 분리**: `kube-system`은 클러스터 관리와 관련된 **운영 리소스**를 다른 사용자 애플리케이션과 분리하여 **리소스 충돌**이나 **관리상의 혼란**을 방지합니다. 일반적으로 사용자 애플리케이션은 `default` 또는 사용자가 정의한 다른 네임스페이스에서 실행됩니다.</a:t>
            </a:r>
          </a:p>
          <a:p>
            <a:r>
              <a:rPr lang="en-US"/>
              <a:t/>
            </a:r>
          </a:p>
          <a:p>
            <a:r>
              <a:rPr lang="en-US"/>
              <a:t>### 주요 시스템 구성 요소 예시:</a:t>
            </a:r>
          </a:p>
          <a:p>
            <a:r>
              <a:rPr lang="en-US"/>
              <a:t>- **kube-dns (또는 CoreDNS)**: 쿠버네티스 클러스터 내 DNS 서비스를 제공합니다.</a:t>
            </a:r>
          </a:p>
          <a:p>
            <a:r>
              <a:rPr lang="en-US"/>
              <a:t>- **kube-proxy**: 클러스터 내에서 각 노드의 네트워크 통신을 처리하는 구성 요소입니다.</a:t>
            </a:r>
          </a:p>
          <a:p>
            <a:r>
              <a:rPr lang="en-US"/>
              <a:t>- **metrics-server**: 클러스터의 메트릭 정보를 수집하고, HPA(수평적 파드 자동 확장)와 같은 기능에서 사용됩니다.</a:t>
            </a:r>
          </a:p>
          <a:p>
            <a:r>
              <a:rPr lang="en-US"/>
              <a:t/>
            </a:r>
          </a:p>
          <a:p>
            <a:r>
              <a:rPr lang="en-US"/>
              <a:t>### 왜 따로 분리되어 있을까?</a:t>
            </a:r>
          </a:p>
          <a:p>
            <a:r>
              <a:rPr lang="en-US"/>
              <a:t>`kube-system` 네임스페이스는 **클러스터 운영에 필수적인 시스템 리소스를 보호하고 관리**하기 위해 분리되어 있습니다. 이를 통해:</a:t>
            </a:r>
          </a:p>
          <a:p>
            <a:r>
              <a:rPr lang="en-US"/>
              <a:t>- 시스템 리소스와 사용자 리소스를 **명확히 구분**할 수 있습니다.</a:t>
            </a:r>
          </a:p>
          <a:p>
            <a:r>
              <a:rPr lang="en-US"/>
              <a:t>- 중요한 시스템 구성 요소가 **우발적으로 변경되거나 삭제**되는 것을 방지할 수 있습니다.</a:t>
            </a:r>
          </a:p>
          <a:p>
            <a:r>
              <a:rPr lang="en-US"/>
              <a:t>- 클러스터를 운영하면서, **필수적인 시스템 리소스**를 쉽게 모니터링하고 관리할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 요약:</a:t>
            </a:r>
          </a:p>
          <a:p>
            <a:r>
              <a:rPr lang="en-US"/>
              <a:t>- `kube-system` 네임스페이스는 **쿠버네티스 클러스터의 핵심 시스템 구성 요소**들이 실행되는 공간입니다.</a:t>
            </a:r>
          </a:p>
          <a:p>
            <a:r>
              <a:rPr lang="en-US"/>
              <a:t>- 클러스터 관리에 필요한 리소스들을 **애플리케이션 리소스와 분리**하여 관리의 효율성을 높입니다.</a:t>
            </a:r>
          </a:p>
          <a:p>
            <a:r>
              <a:rPr lang="en-US"/>
              <a:t>- `kube-apiserver`, `kube-scheduler`, `etcd`, `CoreDNS` 등의 **필수 시스템 서비스**들이 이 네임스페이스에서 실행됩니다.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`BusyBox`는 **리눅스 배포판**은 아니지만, 리눅스 시스템에서 가장 많이 쓰이는 핵심 유틸리티들을 하나의 경량화된 실행 파일로 제공하는 도구입니다. 따라서 "작은 리눅스 시스템" 같은 느낌을 줄 수 있지만, 실제로는 리눅스 커널을 포함하지 않고 **리눅스 위에서 돌아가는 유틸리티 모음집**입니다.</a:t>
            </a:r>
          </a:p>
          <a:p>
            <a:r>
              <a:rPr lang="en-US"/>
              <a:t/>
            </a:r>
          </a:p>
          <a:p>
            <a:r>
              <a:rPr lang="en-US"/>
              <a:t>### BusyBox와 리눅스의 차이</a:t>
            </a:r>
          </a:p>
          <a:p>
            <a:r>
              <a:rPr lang="en-US"/>
              <a:t>- **리눅스 배포판**: 리눅스 배포판(예: Ubuntu, CentOS)은 리눅스 커널과 다양한 시스템 유틸리티, 애플리케이션, 패키지 관리 시스템 등을 포함한 전체 운영체제입니다.</a:t>
            </a:r>
          </a:p>
          <a:p>
            <a:r>
              <a:rPr lang="en-US"/>
              <a:t>- **BusyBox**: 리눅스 커널 위에서 돌아가는 다양한 유틸리티 명령어(예: `ls`, `grep`, `cp`)를 매우 가볍게 제공하는 도구입니다. 따라서 리눅스 배포판의 일부분에 해당하며, 주로 **리눅스 시스템이 작게 동작해야 하는 환경**에서 사용됩니다.</a:t>
            </a:r>
          </a:p>
          <a:p>
            <a:r>
              <a:rPr lang="en-US"/>
              <a:t/>
            </a:r>
          </a:p>
          <a:p>
            <a:r>
              <a:rPr lang="en-US"/>
              <a:t>### 사용 목적</a:t>
            </a:r>
          </a:p>
          <a:p>
            <a:r>
              <a:rPr lang="en-US"/>
              <a:t>1. **임베디드 시스템**:</a:t>
            </a:r>
          </a:p>
          <a:p>
            <a:r>
              <a:rPr lang="en-US"/>
              <a:t>   - 임베디드 시스템(예: IoT 장비, 라우터 등)은 리소스가 제한적이기 때문에 전체 리눅스 배포판을 사용할 수 없을 때가 많습니다. BusyBox는 매우 작은 공간만 차지하면서도 필요한 기본적인 시스템 관리 도구를 제공하기 때문에, 이런 환경에서 많이 사용됩니다.</a:t>
            </a:r>
          </a:p>
          <a:p>
            <a:r>
              <a:rPr lang="en-US"/>
              <a:t/>
            </a:r>
          </a:p>
          <a:p>
            <a:r>
              <a:rPr lang="en-US"/>
              <a:t>2. **컨테이너**:</a:t>
            </a:r>
          </a:p>
          <a:p>
            <a:r>
              <a:rPr lang="en-US"/>
              <a:t>   - Docker와 같은 컨테이너 환경에서 BusyBox는 매우 경량화된 리눅스 도구 모음으로, 컨테이너 내에서 리소스를 적게 사용하면서도 필요한 명령어들을 제공해줍니다. 테스트나 디버깅 용도로 특히 많이 사용됩니다.</a:t>
            </a:r>
          </a:p>
          <a:p>
            <a:r>
              <a:rPr lang="en-US"/>
              <a:t>   - 예를 들어, 네트워크 통신 테스트를 위해 BusyBox를 사용하여 간단한 HTTP 요청이나 파일 처리 작업을 수행할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3. **테스트 및 디버깅**:</a:t>
            </a:r>
          </a:p>
          <a:p>
            <a:r>
              <a:rPr lang="en-US"/>
              <a:t>   - BusyBox는 리눅스 명령어들을 가볍게 포함하고 있어, 시스템 환경을 빠르게 테스트하거나 디버깅할 때 유용합니다. 전체 리눅스 배포판을 설치할 필요 없이 바로 실행할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4. **리소스 제한 환경**:</a:t>
            </a:r>
          </a:p>
          <a:p>
            <a:r>
              <a:rPr lang="en-US"/>
              <a:t>   - BusyBox는 메모리와 디스크 공간이 제한된 환경에서도 유용합니다. 예를 들어, 시스템 리소스가 제한적인 가상 머신(VM)이나 임베디드 장치에서 BusyBox로 필요한 명령어들만 최소한으로 실행할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 정리</a:t>
            </a:r>
          </a:p>
          <a:p>
            <a:r>
              <a:rPr lang="en-US"/>
              <a:t>BusyBox는 리눅스 커널과 함께 사용하는 경량화된 유틸리티 모음입니다. 전체 운영체제는 아니지만 리눅스 시스템의 핵심 도구들을 매우 작은 크기로 제공하여, 리소스가 제한된 환경(임베디드 시스템, 컨테이너)에서 필수적인 역할을 합니다. **일반 리눅스에서 주로 사용하는 명령어들만 제공하므로, 전체 리눅스 환경의 대체라기보다는 축소판에 가깝다고 볼 수 있습니다.**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`BusyBox`는 **리눅스 배포판**은 아니지만, 리눅스 시스템에서 가장 많이 쓰이는 핵심 유틸리티들을 하나의 경량화된 실행 파일로 제공하는 도구입니다. 따라서 "작은 리눅스 시스템" 같은 느낌을 줄 수 있지만, 실제로는 리눅스 커널을 포함하지 않고 **리눅스 위에서 돌아가는 유틸리티 모음집**입니다.</a:t>
            </a:r>
          </a:p>
          <a:p>
            <a:r>
              <a:rPr lang="en-US"/>
              <a:t/>
            </a:r>
          </a:p>
          <a:p>
            <a:r>
              <a:rPr lang="en-US"/>
              <a:t>### BusyBox와 리눅스의 차이</a:t>
            </a:r>
          </a:p>
          <a:p>
            <a:r>
              <a:rPr lang="en-US"/>
              <a:t>- **리눅스 배포판**: 리눅스 배포판(예: Ubuntu, CentOS)은 리눅스 커널과 다양한 시스템 유틸리티, 애플리케이션, 패키지 관리 시스템 등을 포함한 전체 운영체제입니다.</a:t>
            </a:r>
          </a:p>
          <a:p>
            <a:r>
              <a:rPr lang="en-US"/>
              <a:t>- **BusyBox**: 리눅스 커널 위에서 돌아가는 다양한 유틸리티 명령어(예: `ls`, `grep`, `cp`)를 매우 가볍게 제공하는 도구입니다. 따라서 리눅스 배포판의 일부분에 해당하며, 주로 **리눅스 시스템이 작게 동작해야 하는 환경**에서 사용됩니다.</a:t>
            </a:r>
          </a:p>
          <a:p>
            <a:r>
              <a:rPr lang="en-US"/>
              <a:t/>
            </a:r>
          </a:p>
          <a:p>
            <a:r>
              <a:rPr lang="en-US"/>
              <a:t>### 사용 목적</a:t>
            </a:r>
          </a:p>
          <a:p>
            <a:r>
              <a:rPr lang="en-US"/>
              <a:t>1. **임베디드 시스템**:</a:t>
            </a:r>
          </a:p>
          <a:p>
            <a:r>
              <a:rPr lang="en-US"/>
              <a:t>   - 임베디드 시스템(예: IoT 장비, 라우터 등)은 리소스가 제한적이기 때문에 전체 리눅스 배포판을 사용할 수 없을 때가 많습니다. BusyBox는 매우 작은 공간만 차지하면서도 필요한 기본적인 시스템 관리 도구를 제공하기 때문에, 이런 환경에서 많이 사용됩니다.</a:t>
            </a:r>
          </a:p>
          <a:p>
            <a:r>
              <a:rPr lang="en-US"/>
              <a:t/>
            </a:r>
          </a:p>
          <a:p>
            <a:r>
              <a:rPr lang="en-US"/>
              <a:t>2. **컨테이너**:</a:t>
            </a:r>
          </a:p>
          <a:p>
            <a:r>
              <a:rPr lang="en-US"/>
              <a:t>   - Docker와 같은 컨테이너 환경에서 BusyBox는 매우 경량화된 리눅스 도구 모음으로, 컨테이너 내에서 리소스를 적게 사용하면서도 필요한 명령어들을 제공해줍니다. 테스트나 디버깅 용도로 특히 많이 사용됩니다.</a:t>
            </a:r>
          </a:p>
          <a:p>
            <a:r>
              <a:rPr lang="en-US"/>
              <a:t>   - 예를 들어, 네트워크 통신 테스트를 위해 BusyBox를 사용하여 간단한 HTTP 요청이나 파일 처리 작업을 수행할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3. **테스트 및 디버깅**:</a:t>
            </a:r>
          </a:p>
          <a:p>
            <a:r>
              <a:rPr lang="en-US"/>
              <a:t>   - BusyBox는 리눅스 명령어들을 가볍게 포함하고 있어, 시스템 환경을 빠르게 테스트하거나 디버깅할 때 유용합니다. 전체 리눅스 배포판을 설치할 필요 없이 바로 실행할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4. **리소스 제한 환경**:</a:t>
            </a:r>
          </a:p>
          <a:p>
            <a:r>
              <a:rPr lang="en-US"/>
              <a:t>   - BusyBox는 메모리와 디스크 공간이 제한된 환경에서도 유용합니다. 예를 들어, 시스템 리소스가 제한적인 가상 머신(VM)이나 임베디드 장치에서 BusyBox로 필요한 명령어들만 최소한으로 실행할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 정리</a:t>
            </a:r>
          </a:p>
          <a:p>
            <a:r>
              <a:rPr lang="en-US"/>
              <a:t>BusyBox는 리눅스 커널과 함께 사용하는 경량화된 유틸리티 모음입니다. 전체 운영체제는 아니지만 리눅스 시스템의 핵심 도구들을 매우 작은 크기로 제공하여, 리소스가 제한된 환경(임베디드 시스템, 컨테이너)에서 필수적인 역할을 합니다. **일반 리눅스에서 주로 사용하는 명령어들만 제공하므로, 전체 리눅스 환경의 대체라기보다는 축소판에 가깝다고 볼 수 있습니다.**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`BusyBox`는 **리눅스 배포판**은 아니지만, 리눅스 시스템에서 가장 많이 쓰이는 핵심 유틸리티들을 하나의 경량화된 실행 파일로 제공하는 도구입니다. 따라서 "작은 리눅스 시스템" 같은 느낌을 줄 수 있지만, 실제로는 리눅스 커널을 포함하지 않고 **리눅스 위에서 돌아가는 유틸리티 모음집**입니다.</a:t>
            </a:r>
          </a:p>
          <a:p>
            <a:r>
              <a:rPr lang="en-US"/>
              <a:t/>
            </a:r>
          </a:p>
          <a:p>
            <a:r>
              <a:rPr lang="en-US"/>
              <a:t>### BusyBox와 리눅스의 차이</a:t>
            </a:r>
          </a:p>
          <a:p>
            <a:r>
              <a:rPr lang="en-US"/>
              <a:t>- **리눅스 배포판**: 리눅스 배포판(예: Ubuntu, CentOS)은 리눅스 커널과 다양한 시스템 유틸리티, 애플리케이션, 패키지 관리 시스템 등을 포함한 전체 운영체제입니다.</a:t>
            </a:r>
          </a:p>
          <a:p>
            <a:r>
              <a:rPr lang="en-US"/>
              <a:t>- **BusyBox**: 리눅스 커널 위에서 돌아가는 다양한 유틸리티 명령어(예: `ls`, `grep`, `cp`)를 매우 가볍게 제공하는 도구입니다. 따라서 리눅스 배포판의 일부분에 해당하며, 주로 **리눅스 시스템이 작게 동작해야 하는 환경**에서 사용됩니다.</a:t>
            </a:r>
          </a:p>
          <a:p>
            <a:r>
              <a:rPr lang="en-US"/>
              <a:t/>
            </a:r>
          </a:p>
          <a:p>
            <a:r>
              <a:rPr lang="en-US"/>
              <a:t>### 사용 목적</a:t>
            </a:r>
          </a:p>
          <a:p>
            <a:r>
              <a:rPr lang="en-US"/>
              <a:t>1. **임베디드 시스템**:</a:t>
            </a:r>
          </a:p>
          <a:p>
            <a:r>
              <a:rPr lang="en-US"/>
              <a:t>   - 임베디드 시스템(예: IoT 장비, 라우터 등)은 리소스가 제한적이기 때문에 전체 리눅스 배포판을 사용할 수 없을 때가 많습니다. BusyBox는 매우 작은 공간만 차지하면서도 필요한 기본적인 시스템 관리 도구를 제공하기 때문에, 이런 환경에서 많이 사용됩니다.</a:t>
            </a:r>
          </a:p>
          <a:p>
            <a:r>
              <a:rPr lang="en-US"/>
              <a:t/>
            </a:r>
          </a:p>
          <a:p>
            <a:r>
              <a:rPr lang="en-US"/>
              <a:t>2. **컨테이너**:</a:t>
            </a:r>
          </a:p>
          <a:p>
            <a:r>
              <a:rPr lang="en-US"/>
              <a:t>   - Docker와 같은 컨테이너 환경에서 BusyBox는 매우 경량화된 리눅스 도구 모음으로, 컨테이너 내에서 리소스를 적게 사용하면서도 필요한 명령어들을 제공해줍니다. 테스트나 디버깅 용도로 특히 많이 사용됩니다.</a:t>
            </a:r>
          </a:p>
          <a:p>
            <a:r>
              <a:rPr lang="en-US"/>
              <a:t>   - 예를 들어, 네트워크 통신 테스트를 위해 BusyBox를 사용하여 간단한 HTTP 요청이나 파일 처리 작업을 수행할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3. **테스트 및 디버깅**:</a:t>
            </a:r>
          </a:p>
          <a:p>
            <a:r>
              <a:rPr lang="en-US"/>
              <a:t>   - BusyBox는 리눅스 명령어들을 가볍게 포함하고 있어, 시스템 환경을 빠르게 테스트하거나 디버깅할 때 유용합니다. 전체 리눅스 배포판을 설치할 필요 없이 바로 실행할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4. **리소스 제한 환경**:</a:t>
            </a:r>
          </a:p>
          <a:p>
            <a:r>
              <a:rPr lang="en-US"/>
              <a:t>   - BusyBox는 메모리와 디스크 공간이 제한된 환경에서도 유용합니다. 예를 들어, 시스템 리소스가 제한적인 가상 머신(VM)이나 임베디드 장치에서 BusyBox로 필요한 명령어들만 최소한으로 실행할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 정리</a:t>
            </a:r>
          </a:p>
          <a:p>
            <a:r>
              <a:rPr lang="en-US"/>
              <a:t>BusyBox는 리눅스 커널과 함께 사용하는 경량화된 유틸리티 모음입니다. 전체 운영체제는 아니지만 리눅스 시스템의 핵심 도구들을 매우 작은 크기로 제공하여, 리소스가 제한된 환경(임베디드 시스템, 컨테이너)에서 필수적인 역할을 합니다. **일반 리눅스에서 주로 사용하는 명령어들만 제공하므로, 전체 리눅스 환경의 대체라기보다는 축소판에 가깝다고 볼 수 있습니다.**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이전 섹션에서 우리는 Pod와 Service를 다루며 Kubernetes의 핵심 요소들을 배웠습니다. 하지만 실제 프로덕션 환경에서는 Pod를 직접적으로 관리하는 일이 거의 없습니다. ReplicaSet과 Deployment를 더 자주 사용하게 될 것입니다. 이 섹션에서는 ReplicaSet을 다룹니다.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Kubernetes에서 **Pod 업데이트**는 **Deployment**를 통해 이루어지며, 이는 애플리케이션의 지속적인 가용성을 유지하면서 새로운 기능, 버그 수정, 또는 성능 개선을 배포하는 데 중요한 역할을 합니다. Kubernetes는 이를 위해 **롤링 업데이트**(Rolling Update) 및 **롤백**(Rollback) 기능을 기본적으로 제공합니다. 업데이트 시 애플리케이션의 가용성과 안정성을 유지하기 위한 **베스트 프랙티스**는 다음과 같습니다.</a:t>
            </a:r>
          </a:p>
          <a:p>
            <a:r>
              <a:rPr lang="en-US"/>
              <a:t/>
            </a:r>
          </a:p>
          <a:p>
            <a:r>
              <a:rPr lang="en-US"/>
              <a:t>### 1. **롤링 업데이트 사용 (Rolling Updates)**</a:t>
            </a:r>
          </a:p>
          <a:p>
            <a:r>
              <a:rPr lang="en-US"/>
              <a:t/>
            </a:r>
          </a:p>
          <a:p>
            <a:r>
              <a:rPr lang="en-US"/>
              <a:t>**롤링 업데이트**는 기존 Pod를 단계적으로 종료하고, 새로운 Pod를 순차적으로 생성하는 방식입니다. 이를 통해 애플리케이션의 가용성을 유지할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1.1 **롤링 업데이트 설정**</a:t>
            </a:r>
          </a:p>
          <a:p>
            <a:r>
              <a:rPr lang="en-US"/>
              <a:t>Kubernetes에서 **롤링 업데이트**는 기본적으로 활성화되어 있습니다. Deployment의 `strategy` 항목에 설정할 수 있으며, 이를 통해 Pod를 몇 개씩 교체할지 지정할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spec:</a:t>
            </a:r>
          </a:p>
          <a:p>
            <a:r>
              <a:rPr lang="en-US"/>
              <a:t>  strategy:</a:t>
            </a:r>
          </a:p>
          <a:p>
            <a:r>
              <a:rPr lang="en-US"/>
              <a:t>    type: RollingUpdate</a:t>
            </a:r>
          </a:p>
          <a:p>
            <a:r>
              <a:rPr lang="en-US"/>
              <a:t>    rollingUpdate:</a:t>
            </a:r>
          </a:p>
          <a:p>
            <a:r>
              <a:rPr lang="en-US"/>
              <a:t>      maxUnavailable: 1  # 업데이트 중에 최대 1개의 Pod만 사용할 수 없음</a:t>
            </a:r>
          </a:p>
          <a:p>
            <a:r>
              <a:rPr lang="en-US"/>
              <a:t>      maxSurge: 1        # 새로운 Pod를 몇 개 추가로 생성할 수 있을지 (동시 실행)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 **maxUnavailable**: 동시에 몇 개의 Pod를 사용할 수 없게 할지 지정합니다. 일반적으로 `1`로 설정하여, 한 번에 하나의 Pod만 대체하는 것이 안전합니다.</a:t>
            </a:r>
          </a:p>
          <a:p>
            <a:r>
              <a:rPr lang="en-US"/>
              <a:t>- **maxSurge**: 새롭게 생성할 수 있는 Pod의 개수를 설정합니다. 예를 들어, `1`로 설정하면 기존 Pod를 대체할 때 한 번에 하나의 새로운 Pod를 추가로 생성할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1.2 **롤링 업데이트 모니터링**</a:t>
            </a:r>
          </a:p>
          <a:p>
            <a:r>
              <a:rPr lang="en-US"/>
              <a:t>배포를 실행할 때 `kubectl rollout status` 명령어로 업데이트가 성공적으로 진행되는지 모니터링합니다.</a:t>
            </a:r>
          </a:p>
          <a:p>
            <a:r>
              <a:rPr lang="en-US"/>
              <a:t/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status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명령어는 새로운 버전의 Pod가 순차적으로 생성되고, 준비 상태가 되었는지 확인할 수 있게 도와줍니다.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2. **서로 다른 환경에 대한 점진적 배포 (Canary Deployments)**</a:t>
            </a:r>
          </a:p>
          <a:p>
            <a:r>
              <a:rPr lang="en-US"/>
              <a:t/>
            </a:r>
          </a:p>
          <a:p>
            <a:r>
              <a:rPr lang="en-US"/>
              <a:t>Canary 배포는 새로운 버전을 일부 Pod에만 먼저 배포한 후, 문제가 없는지 확인한 다음, 나머지 Pod에 배포하는 방식입니다. 이를 통해 전체 클러스터에 영향을 주기 전에, 새로운 버전의 안정성을 확인할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2.1 **Canary 배포 설정**</a:t>
            </a:r>
          </a:p>
          <a:p>
            <a:r>
              <a:rPr lang="en-US"/>
              <a:t>Kubernetes Deployment에서 **라벨**을 사용해 기존 버전과 새로운 버전을 구분하고, 일부 트래픽만 새로운 버전의 Pod로 전달되도록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 새로운 Deployment를 기존 Deployment와 동일한 설정으로 만들되, 새로운 버전의 라벨을 달아 일부 트래픽만 분배합니다.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apiVersion: apps/v1</a:t>
            </a:r>
          </a:p>
          <a:p>
            <a:r>
              <a:rPr lang="en-US"/>
              <a:t>kind: Deployment</a:t>
            </a:r>
          </a:p>
          <a:p>
            <a:r>
              <a:rPr lang="en-US"/>
              <a:t>metadata:</a:t>
            </a:r>
          </a:p>
          <a:p>
            <a:r>
              <a:rPr lang="en-US"/>
              <a:t>  name: my-app-canary</a:t>
            </a:r>
          </a:p>
          <a:p>
            <a:r>
              <a:rPr lang="en-US"/>
              <a:t>spec:</a:t>
            </a:r>
          </a:p>
          <a:p>
            <a:r>
              <a:rPr lang="en-US"/>
              <a:t>  replicas: 1  # Canary 버전은 한 개의 Pod로 시작</a:t>
            </a:r>
          </a:p>
          <a:p>
            <a:r>
              <a:rPr lang="en-US"/>
              <a:t>  template:</a:t>
            </a:r>
          </a:p>
          <a:p>
            <a:r>
              <a:rPr lang="en-US"/>
              <a:t>    metadata:</a:t>
            </a:r>
          </a:p>
          <a:p>
            <a:r>
              <a:rPr lang="en-US"/>
              <a:t>      labels:</a:t>
            </a:r>
          </a:p>
          <a:p>
            <a:r>
              <a:rPr lang="en-US"/>
              <a:t>        app: my-app</a:t>
            </a:r>
          </a:p>
          <a:p>
            <a:r>
              <a:rPr lang="en-US"/>
              <a:t>        version: canary  # Canary 버전의 라벨</a:t>
            </a:r>
          </a:p>
          <a:p>
            <a:r>
              <a:rPr lang="en-US"/>
              <a:t>    spec:</a:t>
            </a:r>
          </a:p>
          <a:p>
            <a:r>
              <a:rPr lang="en-US"/>
              <a:t>      containers:</a:t>
            </a:r>
          </a:p>
          <a:p>
            <a:r>
              <a:rPr lang="en-US"/>
              <a:t>      - name: my-app</a:t>
            </a:r>
          </a:p>
          <a:p>
            <a:r>
              <a:rPr lang="en-US"/>
              <a:t>        image: &lt;new-image-version&gt;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3. **헬스 체크 및 준비 상태 설정 (Readiness &amp; Liveness Probes)**</a:t>
            </a:r>
          </a:p>
          <a:p>
            <a:r>
              <a:rPr lang="en-US"/>
              <a:t/>
            </a:r>
          </a:p>
          <a:p>
            <a:r>
              <a:rPr lang="en-US"/>
              <a:t>업데이트할 때, 새로운 Pod가 정상적으로 실행 중인 상태인지 확인하는 것은 매우 중요합니다. 이를 위해 Kubernetes는 **Liveness Probe**와 **Readiness Probe**를 제공합니다.</a:t>
            </a:r>
          </a:p>
          <a:p>
            <a:r>
              <a:rPr lang="en-US"/>
              <a:t/>
            </a:r>
          </a:p>
          <a:p>
            <a:r>
              <a:rPr lang="en-US"/>
              <a:t>#### 3.1 **Liveness Probe**: Pod가 **정상적으로 동작하는지**를 확인하는 데 사용합니다.</a:t>
            </a:r>
          </a:p>
          <a:p>
            <a:r>
              <a:rPr lang="en-US"/>
              <a:t>#### 3.2 **Readiness Probe**: Pod가 **트래픽을 받을 준비가 되었는지**를 확인하는 데 사용합니다. 새로운 Pod가 정상적으로 실행되었더라도, 애플리케이션이 준비되지 않았을 수 있기 때문에 트래픽을 받기 전에 이를 확인해야 합니다.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spec:</a:t>
            </a:r>
          </a:p>
          <a:p>
            <a:r>
              <a:rPr lang="en-US"/>
              <a:t>  containers:</a:t>
            </a:r>
          </a:p>
          <a:p>
            <a:r>
              <a:rPr lang="en-US"/>
              <a:t>  - name: my-app</a:t>
            </a:r>
          </a:p>
          <a:p>
            <a:r>
              <a:rPr lang="en-US"/>
              <a:t>    image: &lt;your-image&gt;</a:t>
            </a:r>
          </a:p>
          <a:p>
            <a:r>
              <a:rPr lang="en-US"/>
              <a:t>    livenessProbe:</a:t>
            </a:r>
          </a:p>
          <a:p>
            <a:r>
              <a:rPr lang="en-US"/>
              <a:t>      httpGet:</a:t>
            </a:r>
          </a:p>
          <a:p>
            <a:r>
              <a:rPr lang="en-US"/>
              <a:t>        path: /healthz</a:t>
            </a:r>
          </a:p>
          <a:p>
            <a:r>
              <a:rPr lang="en-US"/>
              <a:t>        port: 8080</a:t>
            </a:r>
          </a:p>
          <a:p>
            <a:r>
              <a:rPr lang="en-US"/>
              <a:t>      initialDelaySeconds: 5</a:t>
            </a:r>
          </a:p>
          <a:p>
            <a:r>
              <a:rPr lang="en-US"/>
              <a:t>      periodSeconds: 10</a:t>
            </a:r>
          </a:p>
          <a:p>
            <a:r>
              <a:rPr lang="en-US"/>
              <a:t>    readinessProbe:</a:t>
            </a:r>
          </a:p>
          <a:p>
            <a:r>
              <a:rPr lang="en-US"/>
              <a:t>      httpGet:</a:t>
            </a:r>
          </a:p>
          <a:p>
            <a:r>
              <a:rPr lang="en-US"/>
              <a:t>        path: /ready</a:t>
            </a:r>
          </a:p>
          <a:p>
            <a:r>
              <a:rPr lang="en-US"/>
              <a:t>        port: 8080</a:t>
            </a:r>
          </a:p>
          <a:p>
            <a:r>
              <a:rPr lang="en-US"/>
              <a:t>      initialDelaySeconds: 5</a:t>
            </a:r>
          </a:p>
          <a:p>
            <a:r>
              <a:rPr lang="en-US"/>
              <a:t>      periodSeconds: 10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프로브들은 애플리케이션이 **정상적이고 준비된 상태**에서만 트래픽을 수신하게 하며, Kubernetes는 실패 시 자동으로 Pod를 다시 시작하거나, 준비가 완료될 때까지 트래픽을 보내지 않습니다.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4. **롤백 기능 사용 (Rollback)**</a:t>
            </a:r>
          </a:p>
          <a:p>
            <a:r>
              <a:rPr lang="en-US"/>
              <a:t/>
            </a:r>
          </a:p>
          <a:p>
            <a:r>
              <a:rPr lang="en-US"/>
              <a:t>만약 배포 중에 문제가 발생한다면, Kubernetes는 **롤백** 기능을 제공합니다. Deployment 업데이트가 실패하거나 문제가 발생하면, 이전에 성공한 상태로 롤백할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4.1 **롤백 명령어**</a:t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undo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명령은 현재 문제가 있는 배포를 중단하고, 이전의 정상적인 버전으로 되돌립니다.</a:t>
            </a:r>
          </a:p>
          <a:p>
            <a:r>
              <a:rPr lang="en-US"/>
              <a:t/>
            </a:r>
          </a:p>
          <a:p>
            <a:r>
              <a:rPr lang="en-US"/>
              <a:t>#### 4.2 **롤백된 버전 확인**</a:t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history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명령을 사용하여 배포 이력을 확인하고, 특정 버전으로 롤백할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5. **이미지 태그 관리 및 `imagePullPolicy` 설정**</a:t>
            </a:r>
          </a:p>
          <a:p>
            <a:r>
              <a:rPr lang="en-US"/>
              <a:t/>
            </a:r>
          </a:p>
          <a:p>
            <a:r>
              <a:rPr lang="en-US"/>
              <a:t>이미지를 최신 상태로 배포할 때, Kubernetes는 기본적으로 캐시된 이미지를 사용할 수 있습니다. 동일한 이미지 태그(예: `latest`)를 사용한다면, **`imagePullPolicy`를 `Always`로 설정**하여 이미지를 항상 최신 상태로 업데이트하는 것이 좋습니다.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containers:</a:t>
            </a:r>
          </a:p>
          <a:p>
            <a:r>
              <a:rPr lang="en-US"/>
              <a:t>  - name: my-app</a:t>
            </a:r>
          </a:p>
          <a:p>
            <a:r>
              <a:rPr lang="en-US"/>
              <a:t>    image: &lt;your-image:latest&gt;</a:t>
            </a:r>
          </a:p>
          <a:p>
            <a:r>
              <a:rPr lang="en-US"/>
              <a:t>    imagePullPolicy: Always  # 최신 이미지를 항상 풀(Pull)하도록 설정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6. **자원 제한 설정 (Resource Requests &amp; Limits)**</a:t>
            </a:r>
          </a:p>
          <a:p>
            <a:r>
              <a:rPr lang="en-US"/>
              <a:t/>
            </a:r>
          </a:p>
          <a:p>
            <a:r>
              <a:rPr lang="en-US"/>
              <a:t>Pod가 배포될 때 사용 가능한 CPU와 메모리 자원을 적절하게 제한하는 것이 중요합니다. 이를 통해 각 Pod가 클러스터 자원을 과도하게 사용하거나, 자원 부족으로 인해 다른 애플리케이션에 영향을 주는 것을 방지할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resources:</a:t>
            </a:r>
          </a:p>
          <a:p>
            <a:r>
              <a:rPr lang="en-US"/>
              <a:t>  requests:</a:t>
            </a:r>
          </a:p>
          <a:p>
            <a:r>
              <a:rPr lang="en-US"/>
              <a:t>    memory: "64Mi"</a:t>
            </a:r>
          </a:p>
          <a:p>
            <a:r>
              <a:rPr lang="en-US"/>
              <a:t>    cpu: "250m"</a:t>
            </a:r>
          </a:p>
          <a:p>
            <a:r>
              <a:rPr lang="en-US"/>
              <a:t>  limits:</a:t>
            </a:r>
          </a:p>
          <a:p>
            <a:r>
              <a:rPr lang="en-US"/>
              <a:t>    memory: "128Mi"</a:t>
            </a:r>
          </a:p>
          <a:p>
            <a:r>
              <a:rPr lang="en-US"/>
              <a:t>    cpu: "500m"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 **requests**: Pod가 정상적으로 실행되기 위해 필요한 최소 자원.</a:t>
            </a:r>
          </a:p>
          <a:p>
            <a:r>
              <a:rPr lang="en-US"/>
              <a:t>- **limits**: Pod가 사용할 수 있는 최대 자원.</a:t>
            </a:r>
          </a:p>
          <a:p>
            <a:r>
              <a:rPr lang="en-US"/>
              <a:t/>
            </a:r>
          </a:p>
          <a:p>
            <a:r>
              <a:rPr lang="en-US"/>
              <a:t>이 설정은 애플리케이션의 안정적인 실행을 보장하며, 자원이 부족해질 경우 발생할 수 있는 장애를 예방할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7. **자동화된 테스트와 지속적 배포 (CI/CD)**</a:t>
            </a:r>
          </a:p>
          <a:p>
            <a:r>
              <a:rPr lang="en-US"/>
              <a:t/>
            </a:r>
          </a:p>
          <a:p>
            <a:r>
              <a:rPr lang="en-US"/>
              <a:t>Pod 업데이트를 수동으로 하는 대신, **CI/CD 파이프라인**을 구성하여 자동으로 애플리케이션이 빌드, 테스트, 배포되도록 하는 것이 좋습니다. 이를 통해 코드 변경이 발생하면 자동으로 테스트하고, 문제없이 통과되면 Kubernetes에 새로운 버전이 배포됩니다.</a:t>
            </a:r>
          </a:p>
          <a:p>
            <a:r>
              <a:rPr lang="en-US"/>
              <a:t/>
            </a:r>
          </a:p>
          <a:p>
            <a:r>
              <a:rPr lang="en-US"/>
              <a:t>CI/CD 파이프라인 도구로는 **Jenkins**, **GitLab CI**, **CircleCI**, **ArgoCD** 등을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요약:</a:t>
            </a:r>
          </a:p>
          <a:p>
            <a:r>
              <a:rPr lang="en-US"/>
              <a:t/>
            </a:r>
          </a:p>
          <a:p>
            <a:r>
              <a:rPr lang="en-US"/>
              <a:t>1. **롤링 업데이트 사용**: 기존 Pod를 중단하지 않고 새 Pod를 순차적으로 생성.</a:t>
            </a:r>
          </a:p>
          <a:p>
            <a:r>
              <a:rPr lang="en-US"/>
              <a:t>2. **Canary 배포**: 새 버전을 일부 Pod에 먼저 배포한 후 문제가 없으면 전체에 배포.</a:t>
            </a:r>
          </a:p>
          <a:p>
            <a:r>
              <a:rPr lang="en-US"/>
              <a:t>3. **Liveness &amp; Readiness Probes**: Pod가 준비되기 전까지 트래픽을 차단하고, 문제가 생기면 재시작.</a:t>
            </a:r>
          </a:p>
          <a:p>
            <a:r>
              <a:rPr lang="en-US"/>
              <a:t>4. **롤백 기능**: 문제가 발생하면 손쉽게 이전 버전으로 롤백.</a:t>
            </a:r>
          </a:p>
          <a:p>
            <a:r>
              <a:rPr lang="en-US"/>
              <a:t>5. **이미지 태그 관리 및 `imagePullPolicy: Always` 설정**: 이미지가 항상 최신 상태인지 확인.</a:t>
            </a:r>
          </a:p>
          <a:p>
            <a:r>
              <a:rPr lang="en-US"/>
              <a:t>6. **자원 제한 설정**: CPU와 메모리 자원을 관리하여 안정성을 높임.</a:t>
            </a:r>
          </a:p>
          <a:p>
            <a:r>
              <a:rPr lang="en-US"/>
              <a:t>7. **자동화된 배포**: CI/CD를 통해 자동으로 테스트와 배포 진행.</a:t>
            </a:r>
          </a:p>
          <a:p>
            <a:r>
              <a:rPr lang="en-US"/>
              <a:t/>
            </a:r>
          </a:p>
          <a:p>
            <a:r>
              <a:rPr lang="en-US"/>
              <a:t>이러한 **베스트 프랙티스**를 따르면 Kubernetes 환경에서 안정적이고 유연하게 Pod를 업데이트할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Kubernetes에서 **Pod 업데이트**는 **Deployment**를 통해 이루어지며, 이는 애플리케이션의 지속적인 가용성을 유지하면서 새로운 기능, 버그 수정, 또는 성능 개선을 배포하는 데 중요한 역할을 합니다. Kubernetes는 이를 위해 **롤링 업데이트**(Rolling Update) 및 **롤백**(Rollback) 기능을 기본적으로 제공합니다. 업데이트 시 애플리케이션의 가용성과 안정성을 유지하기 위한 **베스트 프랙티스**는 다음과 같습니다.</a:t>
            </a:r>
          </a:p>
          <a:p>
            <a:r>
              <a:rPr lang="en-US"/>
              <a:t/>
            </a:r>
          </a:p>
          <a:p>
            <a:r>
              <a:rPr lang="en-US"/>
              <a:t>### 1. **롤링 업데이트 사용 (Rolling Updates)**</a:t>
            </a:r>
          </a:p>
          <a:p>
            <a:r>
              <a:rPr lang="en-US"/>
              <a:t/>
            </a:r>
          </a:p>
          <a:p>
            <a:r>
              <a:rPr lang="en-US"/>
              <a:t>**롤링 업데이트**는 기존 Pod를 단계적으로 종료하고, 새로운 Pod를 순차적으로 생성하는 방식입니다. 이를 통해 애플리케이션의 가용성을 유지할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1.1 **롤링 업데이트 설정**</a:t>
            </a:r>
          </a:p>
          <a:p>
            <a:r>
              <a:rPr lang="en-US"/>
              <a:t>Kubernetes에서 **롤링 업데이트**는 기본적으로 활성화되어 있습니다. Deployment의 `strategy` 항목에 설정할 수 있으며, 이를 통해 Pod를 몇 개씩 교체할지 지정할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spec:</a:t>
            </a:r>
          </a:p>
          <a:p>
            <a:r>
              <a:rPr lang="en-US"/>
              <a:t>  strategy:</a:t>
            </a:r>
          </a:p>
          <a:p>
            <a:r>
              <a:rPr lang="en-US"/>
              <a:t>    type: RollingUpdate</a:t>
            </a:r>
          </a:p>
          <a:p>
            <a:r>
              <a:rPr lang="en-US"/>
              <a:t>    rollingUpdate:</a:t>
            </a:r>
          </a:p>
          <a:p>
            <a:r>
              <a:rPr lang="en-US"/>
              <a:t>      maxUnavailable: 1  # 업데이트 중에 최대 1개의 Pod만 사용할 수 없음</a:t>
            </a:r>
          </a:p>
          <a:p>
            <a:r>
              <a:rPr lang="en-US"/>
              <a:t>      maxSurge: 1        # 새로운 Pod를 몇 개 추가로 생성할 수 있을지 (동시 실행)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 **maxUnavailable**: 동시에 몇 개의 Pod를 사용할 수 없게 할지 지정합니다. 일반적으로 `1`로 설정하여, 한 번에 하나의 Pod만 대체하는 것이 안전합니다.</a:t>
            </a:r>
          </a:p>
          <a:p>
            <a:r>
              <a:rPr lang="en-US"/>
              <a:t>- **maxSurge**: 새롭게 생성할 수 있는 Pod의 개수를 설정합니다. 예를 들어, `1`로 설정하면 기존 Pod를 대체할 때 한 번에 하나의 새로운 Pod를 추가로 생성할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1.2 **롤링 업데이트 모니터링**</a:t>
            </a:r>
          </a:p>
          <a:p>
            <a:r>
              <a:rPr lang="en-US"/>
              <a:t>배포를 실행할 때 `kubectl rollout status` 명령어로 업데이트가 성공적으로 진행되는지 모니터링합니다.</a:t>
            </a:r>
          </a:p>
          <a:p>
            <a:r>
              <a:rPr lang="en-US"/>
              <a:t/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status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명령어는 새로운 버전의 Pod가 순차적으로 생성되고, 준비 상태가 되었는지 확인할 수 있게 도와줍니다.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2. **서로 다른 환경에 대한 점진적 배포 (Canary Deployments)**</a:t>
            </a:r>
          </a:p>
          <a:p>
            <a:r>
              <a:rPr lang="en-US"/>
              <a:t/>
            </a:r>
          </a:p>
          <a:p>
            <a:r>
              <a:rPr lang="en-US"/>
              <a:t>Canary 배포는 새로운 버전을 일부 Pod에만 먼저 배포한 후, 문제가 없는지 확인한 다음, 나머지 Pod에 배포하는 방식입니다. 이를 통해 전체 클러스터에 영향을 주기 전에, 새로운 버전의 안정성을 확인할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2.1 **Canary 배포 설정**</a:t>
            </a:r>
          </a:p>
          <a:p>
            <a:r>
              <a:rPr lang="en-US"/>
              <a:t>Kubernetes Deployment에서 **라벨**을 사용해 기존 버전과 새로운 버전을 구분하고, 일부 트래픽만 새로운 버전의 Pod로 전달되도록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 새로운 Deployment를 기존 Deployment와 동일한 설정으로 만들되, 새로운 버전의 라벨을 달아 일부 트래픽만 분배합니다.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apiVersion: apps/v1</a:t>
            </a:r>
          </a:p>
          <a:p>
            <a:r>
              <a:rPr lang="en-US"/>
              <a:t>kind: Deployment</a:t>
            </a:r>
          </a:p>
          <a:p>
            <a:r>
              <a:rPr lang="en-US"/>
              <a:t>metadata:</a:t>
            </a:r>
          </a:p>
          <a:p>
            <a:r>
              <a:rPr lang="en-US"/>
              <a:t>  name: my-app-canary</a:t>
            </a:r>
          </a:p>
          <a:p>
            <a:r>
              <a:rPr lang="en-US"/>
              <a:t>spec:</a:t>
            </a:r>
          </a:p>
          <a:p>
            <a:r>
              <a:rPr lang="en-US"/>
              <a:t>  replicas: 1  # Canary 버전은 한 개의 Pod로 시작</a:t>
            </a:r>
          </a:p>
          <a:p>
            <a:r>
              <a:rPr lang="en-US"/>
              <a:t>  template:</a:t>
            </a:r>
          </a:p>
          <a:p>
            <a:r>
              <a:rPr lang="en-US"/>
              <a:t>    metadata:</a:t>
            </a:r>
          </a:p>
          <a:p>
            <a:r>
              <a:rPr lang="en-US"/>
              <a:t>      labels:</a:t>
            </a:r>
          </a:p>
          <a:p>
            <a:r>
              <a:rPr lang="en-US"/>
              <a:t>        app: my-app</a:t>
            </a:r>
          </a:p>
          <a:p>
            <a:r>
              <a:rPr lang="en-US"/>
              <a:t>        version: canary  # Canary 버전의 라벨</a:t>
            </a:r>
          </a:p>
          <a:p>
            <a:r>
              <a:rPr lang="en-US"/>
              <a:t>    spec:</a:t>
            </a:r>
          </a:p>
          <a:p>
            <a:r>
              <a:rPr lang="en-US"/>
              <a:t>      containers:</a:t>
            </a:r>
          </a:p>
          <a:p>
            <a:r>
              <a:rPr lang="en-US"/>
              <a:t>      - name: my-app</a:t>
            </a:r>
          </a:p>
          <a:p>
            <a:r>
              <a:rPr lang="en-US"/>
              <a:t>        image: &lt;new-image-version&gt;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3. **헬스 체크 및 준비 상태 설정 (Readiness &amp; Liveness Probes)**</a:t>
            </a:r>
          </a:p>
          <a:p>
            <a:r>
              <a:rPr lang="en-US"/>
              <a:t/>
            </a:r>
          </a:p>
          <a:p>
            <a:r>
              <a:rPr lang="en-US"/>
              <a:t>업데이트할 때, 새로운 Pod가 정상적으로 실행 중인 상태인지 확인하는 것은 매우 중요합니다. 이를 위해 Kubernetes는 **Liveness Probe**와 **Readiness Probe**를 제공합니다.</a:t>
            </a:r>
          </a:p>
          <a:p>
            <a:r>
              <a:rPr lang="en-US"/>
              <a:t/>
            </a:r>
          </a:p>
          <a:p>
            <a:r>
              <a:rPr lang="en-US"/>
              <a:t>#### 3.1 **Liveness Probe**: Pod가 **정상적으로 동작하는지**를 확인하는 데 사용합니다.</a:t>
            </a:r>
          </a:p>
          <a:p>
            <a:r>
              <a:rPr lang="en-US"/>
              <a:t>#### 3.2 **Readiness Probe**: Pod가 **트래픽을 받을 준비가 되었는지**를 확인하는 데 사용합니다. 새로운 Pod가 정상적으로 실행되었더라도, 애플리케이션이 준비되지 않았을 수 있기 때문에 트래픽을 받기 전에 이를 확인해야 합니다.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spec:</a:t>
            </a:r>
          </a:p>
          <a:p>
            <a:r>
              <a:rPr lang="en-US"/>
              <a:t>  containers:</a:t>
            </a:r>
          </a:p>
          <a:p>
            <a:r>
              <a:rPr lang="en-US"/>
              <a:t>  - name: my-app</a:t>
            </a:r>
          </a:p>
          <a:p>
            <a:r>
              <a:rPr lang="en-US"/>
              <a:t>    image: &lt;your-image&gt;</a:t>
            </a:r>
          </a:p>
          <a:p>
            <a:r>
              <a:rPr lang="en-US"/>
              <a:t>    livenessProbe:</a:t>
            </a:r>
          </a:p>
          <a:p>
            <a:r>
              <a:rPr lang="en-US"/>
              <a:t>      httpGet:</a:t>
            </a:r>
          </a:p>
          <a:p>
            <a:r>
              <a:rPr lang="en-US"/>
              <a:t>        path: /healthz</a:t>
            </a:r>
          </a:p>
          <a:p>
            <a:r>
              <a:rPr lang="en-US"/>
              <a:t>        port: 8080</a:t>
            </a:r>
          </a:p>
          <a:p>
            <a:r>
              <a:rPr lang="en-US"/>
              <a:t>      initialDelaySeconds: 5</a:t>
            </a:r>
          </a:p>
          <a:p>
            <a:r>
              <a:rPr lang="en-US"/>
              <a:t>      periodSeconds: 10</a:t>
            </a:r>
          </a:p>
          <a:p>
            <a:r>
              <a:rPr lang="en-US"/>
              <a:t>    readinessProbe:</a:t>
            </a:r>
          </a:p>
          <a:p>
            <a:r>
              <a:rPr lang="en-US"/>
              <a:t>      httpGet:</a:t>
            </a:r>
          </a:p>
          <a:p>
            <a:r>
              <a:rPr lang="en-US"/>
              <a:t>        path: /ready</a:t>
            </a:r>
          </a:p>
          <a:p>
            <a:r>
              <a:rPr lang="en-US"/>
              <a:t>        port: 8080</a:t>
            </a:r>
          </a:p>
          <a:p>
            <a:r>
              <a:rPr lang="en-US"/>
              <a:t>      initialDelaySeconds: 5</a:t>
            </a:r>
          </a:p>
          <a:p>
            <a:r>
              <a:rPr lang="en-US"/>
              <a:t>      periodSeconds: 10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프로브들은 애플리케이션이 **정상적이고 준비된 상태**에서만 트래픽을 수신하게 하며, Kubernetes는 실패 시 자동으로 Pod를 다시 시작하거나, 준비가 완료될 때까지 트래픽을 보내지 않습니다.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4. **롤백 기능 사용 (Rollback)**</a:t>
            </a:r>
          </a:p>
          <a:p>
            <a:r>
              <a:rPr lang="en-US"/>
              <a:t/>
            </a:r>
          </a:p>
          <a:p>
            <a:r>
              <a:rPr lang="en-US"/>
              <a:t>만약 배포 중에 문제가 발생한다면, Kubernetes는 **롤백** 기능을 제공합니다. Deployment 업데이트가 실패하거나 문제가 발생하면, 이전에 성공한 상태로 롤백할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4.1 **롤백 명령어**</a:t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undo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명령은 현재 문제가 있는 배포를 중단하고, 이전의 정상적인 버전으로 되돌립니다.</a:t>
            </a:r>
          </a:p>
          <a:p>
            <a:r>
              <a:rPr lang="en-US"/>
              <a:t/>
            </a:r>
          </a:p>
          <a:p>
            <a:r>
              <a:rPr lang="en-US"/>
              <a:t>#### 4.2 **롤백된 버전 확인**</a:t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history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명령을 사용하여 배포 이력을 확인하고, 특정 버전으로 롤백할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5. **이미지 태그 관리 및 `imagePullPolicy` 설정**</a:t>
            </a:r>
          </a:p>
          <a:p>
            <a:r>
              <a:rPr lang="en-US"/>
              <a:t/>
            </a:r>
          </a:p>
          <a:p>
            <a:r>
              <a:rPr lang="en-US"/>
              <a:t>이미지를 최신 상태로 배포할 때, Kubernetes는 기본적으로 캐시된 이미지를 사용할 수 있습니다. 동일한 이미지 태그(예: `latest`)를 사용한다면, **`imagePullPolicy`를 `Always`로 설정**하여 이미지를 항상 최신 상태로 업데이트하는 것이 좋습니다.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containers:</a:t>
            </a:r>
          </a:p>
          <a:p>
            <a:r>
              <a:rPr lang="en-US"/>
              <a:t>  - name: my-app</a:t>
            </a:r>
          </a:p>
          <a:p>
            <a:r>
              <a:rPr lang="en-US"/>
              <a:t>    image: &lt;your-image:latest&gt;</a:t>
            </a:r>
          </a:p>
          <a:p>
            <a:r>
              <a:rPr lang="en-US"/>
              <a:t>    imagePullPolicy: Always  # 최신 이미지를 항상 풀(Pull)하도록 설정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6. **자원 제한 설정 (Resource Requests &amp; Limits)**</a:t>
            </a:r>
          </a:p>
          <a:p>
            <a:r>
              <a:rPr lang="en-US"/>
              <a:t/>
            </a:r>
          </a:p>
          <a:p>
            <a:r>
              <a:rPr lang="en-US"/>
              <a:t>Pod가 배포될 때 사용 가능한 CPU와 메모리 자원을 적절하게 제한하는 것이 중요합니다. 이를 통해 각 Pod가 클러스터 자원을 과도하게 사용하거나, 자원 부족으로 인해 다른 애플리케이션에 영향을 주는 것을 방지할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resources:</a:t>
            </a:r>
          </a:p>
          <a:p>
            <a:r>
              <a:rPr lang="en-US"/>
              <a:t>  requests:</a:t>
            </a:r>
          </a:p>
          <a:p>
            <a:r>
              <a:rPr lang="en-US"/>
              <a:t>    memory: "64Mi"</a:t>
            </a:r>
          </a:p>
          <a:p>
            <a:r>
              <a:rPr lang="en-US"/>
              <a:t>    cpu: "250m"</a:t>
            </a:r>
          </a:p>
          <a:p>
            <a:r>
              <a:rPr lang="en-US"/>
              <a:t>  limits:</a:t>
            </a:r>
          </a:p>
          <a:p>
            <a:r>
              <a:rPr lang="en-US"/>
              <a:t>    memory: "128Mi"</a:t>
            </a:r>
          </a:p>
          <a:p>
            <a:r>
              <a:rPr lang="en-US"/>
              <a:t>    cpu: "500m"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 **requests**: Pod가 정상적으로 실행되기 위해 필요한 최소 자원.</a:t>
            </a:r>
          </a:p>
          <a:p>
            <a:r>
              <a:rPr lang="en-US"/>
              <a:t>- **limits**: Pod가 사용할 수 있는 최대 자원.</a:t>
            </a:r>
          </a:p>
          <a:p>
            <a:r>
              <a:rPr lang="en-US"/>
              <a:t/>
            </a:r>
          </a:p>
          <a:p>
            <a:r>
              <a:rPr lang="en-US"/>
              <a:t>이 설정은 애플리케이션의 안정적인 실행을 보장하며, 자원이 부족해질 경우 발생할 수 있는 장애를 예방할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7. **자동화된 테스트와 지속적 배포 (CI/CD)**</a:t>
            </a:r>
          </a:p>
          <a:p>
            <a:r>
              <a:rPr lang="en-US"/>
              <a:t/>
            </a:r>
          </a:p>
          <a:p>
            <a:r>
              <a:rPr lang="en-US"/>
              <a:t>Pod 업데이트를 수동으로 하는 대신, **CI/CD 파이프라인**을 구성하여 자동으로 애플리케이션이 빌드, 테스트, 배포되도록 하는 것이 좋습니다. 이를 통해 코드 변경이 발생하면 자동으로 테스트하고, 문제없이 통과되면 Kubernetes에 새로운 버전이 배포됩니다.</a:t>
            </a:r>
          </a:p>
          <a:p>
            <a:r>
              <a:rPr lang="en-US"/>
              <a:t/>
            </a:r>
          </a:p>
          <a:p>
            <a:r>
              <a:rPr lang="en-US"/>
              <a:t>CI/CD 파이프라인 도구로는 **Jenkins**, **GitLab CI**, **CircleCI**, **ArgoCD** 등을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요약:</a:t>
            </a:r>
          </a:p>
          <a:p>
            <a:r>
              <a:rPr lang="en-US"/>
              <a:t/>
            </a:r>
          </a:p>
          <a:p>
            <a:r>
              <a:rPr lang="en-US"/>
              <a:t>1. **롤링 업데이트 사용**: 기존 Pod를 중단하지 않고 새 Pod를 순차적으로 생성.</a:t>
            </a:r>
          </a:p>
          <a:p>
            <a:r>
              <a:rPr lang="en-US"/>
              <a:t>2. **Canary 배포**: 새 버전을 일부 Pod에 먼저 배포한 후 문제가 없으면 전체에 배포.</a:t>
            </a:r>
          </a:p>
          <a:p>
            <a:r>
              <a:rPr lang="en-US"/>
              <a:t>3. **Liveness &amp; Readiness Probes**: Pod가 준비되기 전까지 트래픽을 차단하고, 문제가 생기면 재시작.</a:t>
            </a:r>
          </a:p>
          <a:p>
            <a:r>
              <a:rPr lang="en-US"/>
              <a:t>4. **롤백 기능**: 문제가 발생하면 손쉽게 이전 버전으로 롤백.</a:t>
            </a:r>
          </a:p>
          <a:p>
            <a:r>
              <a:rPr lang="en-US"/>
              <a:t>5. **이미지 태그 관리 및 `imagePullPolicy: Always` 설정**: 이미지가 항상 최신 상태인지 확인.</a:t>
            </a:r>
          </a:p>
          <a:p>
            <a:r>
              <a:rPr lang="en-US"/>
              <a:t>6. **자원 제한 설정**: CPU와 메모리 자원을 관리하여 안정성을 높임.</a:t>
            </a:r>
          </a:p>
          <a:p>
            <a:r>
              <a:rPr lang="en-US"/>
              <a:t>7. **자동화된 배포**: CI/CD를 통해 자동으로 테스트와 배포 진행.</a:t>
            </a:r>
          </a:p>
          <a:p>
            <a:r>
              <a:rPr lang="en-US"/>
              <a:t/>
            </a:r>
          </a:p>
          <a:p>
            <a:r>
              <a:rPr lang="en-US"/>
              <a:t>이러한 **베스트 프랙티스**를 따르면 Kubernetes 환경에서 안정적이고 유연하게 Pod를 업데이트할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Kubernetes에서 **Pod 업데이트**는 **Deployment**를 통해 이루어지며, 이는 애플리케이션의 지속적인 가용성을 유지하면서 새로운 기능, 버그 수정, 또는 성능 개선을 배포하는 데 중요한 역할을 합니다. Kubernetes는 이를 위해 **롤링 업데이트**(Rolling Update) 및 **롤백**(Rollback) 기능을 기본적으로 제공합니다. 업데이트 시 애플리케이션의 가용성과 안정성을 유지하기 위한 **베스트 프랙티스**는 다음과 같습니다.</a:t>
            </a:r>
          </a:p>
          <a:p>
            <a:r>
              <a:rPr lang="en-US"/>
              <a:t/>
            </a:r>
          </a:p>
          <a:p>
            <a:r>
              <a:rPr lang="en-US"/>
              <a:t>### 1. **롤링 업데이트 사용 (Rolling Updates)**</a:t>
            </a:r>
          </a:p>
          <a:p>
            <a:r>
              <a:rPr lang="en-US"/>
              <a:t/>
            </a:r>
          </a:p>
          <a:p>
            <a:r>
              <a:rPr lang="en-US"/>
              <a:t>**롤링 업데이트**는 기존 Pod를 단계적으로 종료하고, 새로운 Pod를 순차적으로 생성하는 방식입니다. 이를 통해 애플리케이션의 가용성을 유지할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1.1 **롤링 업데이트 설정**</a:t>
            </a:r>
          </a:p>
          <a:p>
            <a:r>
              <a:rPr lang="en-US"/>
              <a:t>Kubernetes에서 **롤링 업데이트**는 기본적으로 활성화되어 있습니다. Deployment의 `strategy` 항목에 설정할 수 있으며, 이를 통해 Pod를 몇 개씩 교체할지 지정할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spec:</a:t>
            </a:r>
          </a:p>
          <a:p>
            <a:r>
              <a:rPr lang="en-US"/>
              <a:t>  strategy:</a:t>
            </a:r>
          </a:p>
          <a:p>
            <a:r>
              <a:rPr lang="en-US"/>
              <a:t>    type: RollingUpdate</a:t>
            </a:r>
          </a:p>
          <a:p>
            <a:r>
              <a:rPr lang="en-US"/>
              <a:t>    rollingUpdate:</a:t>
            </a:r>
          </a:p>
          <a:p>
            <a:r>
              <a:rPr lang="en-US"/>
              <a:t>      maxUnavailable: 1  # 업데이트 중에 최대 1개의 Pod만 사용할 수 없음</a:t>
            </a:r>
          </a:p>
          <a:p>
            <a:r>
              <a:rPr lang="en-US"/>
              <a:t>      maxSurge: 1        # 새로운 Pod를 몇 개 추가로 생성할 수 있을지 (동시 실행)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 **maxUnavailable**: 동시에 몇 개의 Pod를 사용할 수 없게 할지 지정합니다. 일반적으로 `1`로 설정하여, 한 번에 하나의 Pod만 대체하는 것이 안전합니다.</a:t>
            </a:r>
          </a:p>
          <a:p>
            <a:r>
              <a:rPr lang="en-US"/>
              <a:t>- **maxSurge**: 새롭게 생성할 수 있는 Pod의 개수를 설정합니다. 예를 들어, `1`로 설정하면 기존 Pod를 대체할 때 한 번에 하나의 새로운 Pod를 추가로 생성할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1.2 **롤링 업데이트 모니터링**</a:t>
            </a:r>
          </a:p>
          <a:p>
            <a:r>
              <a:rPr lang="en-US"/>
              <a:t>배포를 실행할 때 `kubectl rollout status` 명령어로 업데이트가 성공적으로 진행되는지 모니터링합니다.</a:t>
            </a:r>
          </a:p>
          <a:p>
            <a:r>
              <a:rPr lang="en-US"/>
              <a:t/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status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명령어는 새로운 버전의 Pod가 순차적으로 생성되고, 준비 상태가 되었는지 확인할 수 있게 도와줍니다.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2. **서로 다른 환경에 대한 점진적 배포 (Canary Deployments)**</a:t>
            </a:r>
          </a:p>
          <a:p>
            <a:r>
              <a:rPr lang="en-US"/>
              <a:t/>
            </a:r>
          </a:p>
          <a:p>
            <a:r>
              <a:rPr lang="en-US"/>
              <a:t>Canary 배포는 새로운 버전을 일부 Pod에만 먼저 배포한 후, 문제가 없는지 확인한 다음, 나머지 Pod에 배포하는 방식입니다. 이를 통해 전체 클러스터에 영향을 주기 전에, 새로운 버전의 안정성을 확인할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2.1 **Canary 배포 설정**</a:t>
            </a:r>
          </a:p>
          <a:p>
            <a:r>
              <a:rPr lang="en-US"/>
              <a:t>Kubernetes Deployment에서 **라벨**을 사용해 기존 버전과 새로운 버전을 구분하고, 일부 트래픽만 새로운 버전의 Pod로 전달되도록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 새로운 Deployment를 기존 Deployment와 동일한 설정으로 만들되, 새로운 버전의 라벨을 달아 일부 트래픽만 분배합니다.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apiVersion: apps/v1</a:t>
            </a:r>
          </a:p>
          <a:p>
            <a:r>
              <a:rPr lang="en-US"/>
              <a:t>kind: Deployment</a:t>
            </a:r>
          </a:p>
          <a:p>
            <a:r>
              <a:rPr lang="en-US"/>
              <a:t>metadata:</a:t>
            </a:r>
          </a:p>
          <a:p>
            <a:r>
              <a:rPr lang="en-US"/>
              <a:t>  name: my-app-canary</a:t>
            </a:r>
          </a:p>
          <a:p>
            <a:r>
              <a:rPr lang="en-US"/>
              <a:t>spec:</a:t>
            </a:r>
          </a:p>
          <a:p>
            <a:r>
              <a:rPr lang="en-US"/>
              <a:t>  replicas: 1  # Canary 버전은 한 개의 Pod로 시작</a:t>
            </a:r>
          </a:p>
          <a:p>
            <a:r>
              <a:rPr lang="en-US"/>
              <a:t>  template:</a:t>
            </a:r>
          </a:p>
          <a:p>
            <a:r>
              <a:rPr lang="en-US"/>
              <a:t>    metadata:</a:t>
            </a:r>
          </a:p>
          <a:p>
            <a:r>
              <a:rPr lang="en-US"/>
              <a:t>      labels:</a:t>
            </a:r>
          </a:p>
          <a:p>
            <a:r>
              <a:rPr lang="en-US"/>
              <a:t>        app: my-app</a:t>
            </a:r>
          </a:p>
          <a:p>
            <a:r>
              <a:rPr lang="en-US"/>
              <a:t>        version: canary  # Canary 버전의 라벨</a:t>
            </a:r>
          </a:p>
          <a:p>
            <a:r>
              <a:rPr lang="en-US"/>
              <a:t>    spec:</a:t>
            </a:r>
          </a:p>
          <a:p>
            <a:r>
              <a:rPr lang="en-US"/>
              <a:t>      containers:</a:t>
            </a:r>
          </a:p>
          <a:p>
            <a:r>
              <a:rPr lang="en-US"/>
              <a:t>      - name: my-app</a:t>
            </a:r>
          </a:p>
          <a:p>
            <a:r>
              <a:rPr lang="en-US"/>
              <a:t>        image: &lt;new-image-version&gt;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3. **헬스 체크 및 준비 상태 설정 (Readiness &amp; Liveness Probes)**</a:t>
            </a:r>
          </a:p>
          <a:p>
            <a:r>
              <a:rPr lang="en-US"/>
              <a:t/>
            </a:r>
          </a:p>
          <a:p>
            <a:r>
              <a:rPr lang="en-US"/>
              <a:t>업데이트할 때, 새로운 Pod가 정상적으로 실행 중인 상태인지 확인하는 것은 매우 중요합니다. 이를 위해 Kubernetes는 **Liveness Probe**와 **Readiness Probe**를 제공합니다.</a:t>
            </a:r>
          </a:p>
          <a:p>
            <a:r>
              <a:rPr lang="en-US"/>
              <a:t/>
            </a:r>
          </a:p>
          <a:p>
            <a:r>
              <a:rPr lang="en-US"/>
              <a:t>#### 3.1 **Liveness Probe**: Pod가 **정상적으로 동작하는지**를 확인하는 데 사용합니다.</a:t>
            </a:r>
          </a:p>
          <a:p>
            <a:r>
              <a:rPr lang="en-US"/>
              <a:t>#### 3.2 **Readiness Probe**: Pod가 **트래픽을 받을 준비가 되었는지**를 확인하는 데 사용합니다. 새로운 Pod가 정상적으로 실행되었더라도, 애플리케이션이 준비되지 않았을 수 있기 때문에 트래픽을 받기 전에 이를 확인해야 합니다.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spec:</a:t>
            </a:r>
          </a:p>
          <a:p>
            <a:r>
              <a:rPr lang="en-US"/>
              <a:t>  containers:</a:t>
            </a:r>
          </a:p>
          <a:p>
            <a:r>
              <a:rPr lang="en-US"/>
              <a:t>  - name: my-app</a:t>
            </a:r>
          </a:p>
          <a:p>
            <a:r>
              <a:rPr lang="en-US"/>
              <a:t>    image: &lt;your-image&gt;</a:t>
            </a:r>
          </a:p>
          <a:p>
            <a:r>
              <a:rPr lang="en-US"/>
              <a:t>    livenessProbe:</a:t>
            </a:r>
          </a:p>
          <a:p>
            <a:r>
              <a:rPr lang="en-US"/>
              <a:t>      httpGet:</a:t>
            </a:r>
          </a:p>
          <a:p>
            <a:r>
              <a:rPr lang="en-US"/>
              <a:t>        path: /healthz</a:t>
            </a:r>
          </a:p>
          <a:p>
            <a:r>
              <a:rPr lang="en-US"/>
              <a:t>        port: 8080</a:t>
            </a:r>
          </a:p>
          <a:p>
            <a:r>
              <a:rPr lang="en-US"/>
              <a:t>      initialDelaySeconds: 5</a:t>
            </a:r>
          </a:p>
          <a:p>
            <a:r>
              <a:rPr lang="en-US"/>
              <a:t>      periodSeconds: 10</a:t>
            </a:r>
          </a:p>
          <a:p>
            <a:r>
              <a:rPr lang="en-US"/>
              <a:t>    readinessProbe:</a:t>
            </a:r>
          </a:p>
          <a:p>
            <a:r>
              <a:rPr lang="en-US"/>
              <a:t>      httpGet:</a:t>
            </a:r>
          </a:p>
          <a:p>
            <a:r>
              <a:rPr lang="en-US"/>
              <a:t>        path: /ready</a:t>
            </a:r>
          </a:p>
          <a:p>
            <a:r>
              <a:rPr lang="en-US"/>
              <a:t>        port: 8080</a:t>
            </a:r>
          </a:p>
          <a:p>
            <a:r>
              <a:rPr lang="en-US"/>
              <a:t>      initialDelaySeconds: 5</a:t>
            </a:r>
          </a:p>
          <a:p>
            <a:r>
              <a:rPr lang="en-US"/>
              <a:t>      periodSeconds: 10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프로브들은 애플리케이션이 **정상적이고 준비된 상태**에서만 트래픽을 수신하게 하며, Kubernetes는 실패 시 자동으로 Pod를 다시 시작하거나, 준비가 완료될 때까지 트래픽을 보내지 않습니다.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4. **롤백 기능 사용 (Rollback)**</a:t>
            </a:r>
          </a:p>
          <a:p>
            <a:r>
              <a:rPr lang="en-US"/>
              <a:t/>
            </a:r>
          </a:p>
          <a:p>
            <a:r>
              <a:rPr lang="en-US"/>
              <a:t>만약 배포 중에 문제가 발생한다면, Kubernetes는 **롤백** 기능을 제공합니다. Deployment 업데이트가 실패하거나 문제가 발생하면, 이전에 성공한 상태로 롤백할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4.1 **롤백 명령어**</a:t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undo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명령은 현재 문제가 있는 배포를 중단하고, 이전의 정상적인 버전으로 되돌립니다.</a:t>
            </a:r>
          </a:p>
          <a:p>
            <a:r>
              <a:rPr lang="en-US"/>
              <a:t/>
            </a:r>
          </a:p>
          <a:p>
            <a:r>
              <a:rPr lang="en-US"/>
              <a:t>#### 4.2 **롤백된 버전 확인**</a:t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history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명령을 사용하여 배포 이력을 확인하고, 특정 버전으로 롤백할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5. **이미지 태그 관리 및 `imagePullPolicy` 설정**</a:t>
            </a:r>
          </a:p>
          <a:p>
            <a:r>
              <a:rPr lang="en-US"/>
              <a:t/>
            </a:r>
          </a:p>
          <a:p>
            <a:r>
              <a:rPr lang="en-US"/>
              <a:t>이미지를 최신 상태로 배포할 때, Kubernetes는 기본적으로 캐시된 이미지를 사용할 수 있습니다. 동일한 이미지 태그(예: `latest`)를 사용한다면, **`imagePullPolicy`를 `Always`로 설정**하여 이미지를 항상 최신 상태로 업데이트하는 것이 좋습니다.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containers:</a:t>
            </a:r>
          </a:p>
          <a:p>
            <a:r>
              <a:rPr lang="en-US"/>
              <a:t>  - name: my-app</a:t>
            </a:r>
          </a:p>
          <a:p>
            <a:r>
              <a:rPr lang="en-US"/>
              <a:t>    image: &lt;your-image:latest&gt;</a:t>
            </a:r>
          </a:p>
          <a:p>
            <a:r>
              <a:rPr lang="en-US"/>
              <a:t>    imagePullPolicy: Always  # 최신 이미지를 항상 풀(Pull)하도록 설정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6. **자원 제한 설정 (Resource Requests &amp; Limits)**</a:t>
            </a:r>
          </a:p>
          <a:p>
            <a:r>
              <a:rPr lang="en-US"/>
              <a:t/>
            </a:r>
          </a:p>
          <a:p>
            <a:r>
              <a:rPr lang="en-US"/>
              <a:t>Pod가 배포될 때 사용 가능한 CPU와 메모리 자원을 적절하게 제한하는 것이 중요합니다. 이를 통해 각 Pod가 클러스터 자원을 과도하게 사용하거나, 자원 부족으로 인해 다른 애플리케이션에 영향을 주는 것을 방지할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resources:</a:t>
            </a:r>
          </a:p>
          <a:p>
            <a:r>
              <a:rPr lang="en-US"/>
              <a:t>  requests:</a:t>
            </a:r>
          </a:p>
          <a:p>
            <a:r>
              <a:rPr lang="en-US"/>
              <a:t>    memory: "64Mi"</a:t>
            </a:r>
          </a:p>
          <a:p>
            <a:r>
              <a:rPr lang="en-US"/>
              <a:t>    cpu: "250m"</a:t>
            </a:r>
          </a:p>
          <a:p>
            <a:r>
              <a:rPr lang="en-US"/>
              <a:t>  limits:</a:t>
            </a:r>
          </a:p>
          <a:p>
            <a:r>
              <a:rPr lang="en-US"/>
              <a:t>    memory: "128Mi"</a:t>
            </a:r>
          </a:p>
          <a:p>
            <a:r>
              <a:rPr lang="en-US"/>
              <a:t>    cpu: "500m"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 **requests**: Pod가 정상적으로 실행되기 위해 필요한 최소 자원.</a:t>
            </a:r>
          </a:p>
          <a:p>
            <a:r>
              <a:rPr lang="en-US"/>
              <a:t>- **limits**: Pod가 사용할 수 있는 최대 자원.</a:t>
            </a:r>
          </a:p>
          <a:p>
            <a:r>
              <a:rPr lang="en-US"/>
              <a:t/>
            </a:r>
          </a:p>
          <a:p>
            <a:r>
              <a:rPr lang="en-US"/>
              <a:t>이 설정은 애플리케이션의 안정적인 실행을 보장하며, 자원이 부족해질 경우 발생할 수 있는 장애를 예방할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7. **자동화된 테스트와 지속적 배포 (CI/CD)**</a:t>
            </a:r>
          </a:p>
          <a:p>
            <a:r>
              <a:rPr lang="en-US"/>
              <a:t/>
            </a:r>
          </a:p>
          <a:p>
            <a:r>
              <a:rPr lang="en-US"/>
              <a:t>Pod 업데이트를 수동으로 하는 대신, **CI/CD 파이프라인**을 구성하여 자동으로 애플리케이션이 빌드, 테스트, 배포되도록 하는 것이 좋습니다. 이를 통해 코드 변경이 발생하면 자동으로 테스트하고, 문제없이 통과되면 Kubernetes에 새로운 버전이 배포됩니다.</a:t>
            </a:r>
          </a:p>
          <a:p>
            <a:r>
              <a:rPr lang="en-US"/>
              <a:t/>
            </a:r>
          </a:p>
          <a:p>
            <a:r>
              <a:rPr lang="en-US"/>
              <a:t>CI/CD 파이프라인 도구로는 **Jenkins**, **GitLab CI**, **CircleCI**, **ArgoCD** 등을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요약:</a:t>
            </a:r>
          </a:p>
          <a:p>
            <a:r>
              <a:rPr lang="en-US"/>
              <a:t/>
            </a:r>
          </a:p>
          <a:p>
            <a:r>
              <a:rPr lang="en-US"/>
              <a:t>1. **롤링 업데이트 사용**: 기존 Pod를 중단하지 않고 새 Pod를 순차적으로 생성.</a:t>
            </a:r>
          </a:p>
          <a:p>
            <a:r>
              <a:rPr lang="en-US"/>
              <a:t>2. **Canary 배포**: 새 버전을 일부 Pod에 먼저 배포한 후 문제가 없으면 전체에 배포.</a:t>
            </a:r>
          </a:p>
          <a:p>
            <a:r>
              <a:rPr lang="en-US"/>
              <a:t>3. **Liveness &amp; Readiness Probes**: Pod가 준비되기 전까지 트래픽을 차단하고, 문제가 생기면 재시작.</a:t>
            </a:r>
          </a:p>
          <a:p>
            <a:r>
              <a:rPr lang="en-US"/>
              <a:t>4. **롤백 기능**: 문제가 발생하면 손쉽게 이전 버전으로 롤백.</a:t>
            </a:r>
          </a:p>
          <a:p>
            <a:r>
              <a:rPr lang="en-US"/>
              <a:t>5. **이미지 태그 관리 및 `imagePullPolicy: Always` 설정**: 이미지가 항상 최신 상태인지 확인.</a:t>
            </a:r>
          </a:p>
          <a:p>
            <a:r>
              <a:rPr lang="en-US"/>
              <a:t>6. **자원 제한 설정**: CPU와 메모리 자원을 관리하여 안정성을 높임.</a:t>
            </a:r>
          </a:p>
          <a:p>
            <a:r>
              <a:rPr lang="en-US"/>
              <a:t>7. **자동화된 배포**: CI/CD를 통해 자동으로 테스트와 배포 진행.</a:t>
            </a:r>
          </a:p>
          <a:p>
            <a:r>
              <a:rPr lang="en-US"/>
              <a:t/>
            </a:r>
          </a:p>
          <a:p>
            <a:r>
              <a:rPr lang="en-US"/>
              <a:t>이러한 **베스트 프랙티스**를 따르면 Kubernetes 환경에서 안정적이고 유연하게 Pod를 업데이트할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Kubernetes에서 **Pod 업데이트**는 **Deployment**를 통해 이루어지며, 이는 애플리케이션의 지속적인 가용성을 유지하면서 새로운 기능, 버그 수정, 또는 성능 개선을 배포하는 데 중요한 역할을 합니다. Kubernetes는 이를 위해 **롤링 업데이트**(Rolling Update) 및 **롤백**(Rollback) 기능을 기본적으로 제공합니다. 업데이트 시 애플리케이션의 가용성과 안정성을 유지하기 위한 **베스트 프랙티스**는 다음과 같습니다.</a:t>
            </a:r>
          </a:p>
          <a:p>
            <a:r>
              <a:rPr lang="en-US"/>
              <a:t/>
            </a:r>
          </a:p>
          <a:p>
            <a:r>
              <a:rPr lang="en-US"/>
              <a:t>### 1. **롤링 업데이트 사용 (Rolling Updates)**</a:t>
            </a:r>
          </a:p>
          <a:p>
            <a:r>
              <a:rPr lang="en-US"/>
              <a:t/>
            </a:r>
          </a:p>
          <a:p>
            <a:r>
              <a:rPr lang="en-US"/>
              <a:t>**롤링 업데이트**는 기존 Pod를 단계적으로 종료하고, 새로운 Pod를 순차적으로 생성하는 방식입니다. 이를 통해 애플리케이션의 가용성을 유지할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1.1 **롤링 업데이트 설정**</a:t>
            </a:r>
          </a:p>
          <a:p>
            <a:r>
              <a:rPr lang="en-US"/>
              <a:t>Kubernetes에서 **롤링 업데이트**는 기본적으로 활성화되어 있습니다. Deployment의 `strategy` 항목에 설정할 수 있으며, 이를 통해 Pod를 몇 개씩 교체할지 지정할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spec:</a:t>
            </a:r>
          </a:p>
          <a:p>
            <a:r>
              <a:rPr lang="en-US"/>
              <a:t>  strategy:</a:t>
            </a:r>
          </a:p>
          <a:p>
            <a:r>
              <a:rPr lang="en-US"/>
              <a:t>    type: RollingUpdate</a:t>
            </a:r>
          </a:p>
          <a:p>
            <a:r>
              <a:rPr lang="en-US"/>
              <a:t>    rollingUpdate:</a:t>
            </a:r>
          </a:p>
          <a:p>
            <a:r>
              <a:rPr lang="en-US"/>
              <a:t>      maxUnavailable: 1  # 업데이트 중에 최대 1개의 Pod만 사용할 수 없음</a:t>
            </a:r>
          </a:p>
          <a:p>
            <a:r>
              <a:rPr lang="en-US"/>
              <a:t>      maxSurge: 1        # 새로운 Pod를 몇 개 추가로 생성할 수 있을지 (동시 실행)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 **maxUnavailable**: 동시에 몇 개의 Pod를 사용할 수 없게 할지 지정합니다. 일반적으로 `1`로 설정하여, 한 번에 하나의 Pod만 대체하는 것이 안전합니다.</a:t>
            </a:r>
          </a:p>
          <a:p>
            <a:r>
              <a:rPr lang="en-US"/>
              <a:t>- **maxSurge**: 새롭게 생성할 수 있는 Pod의 개수를 설정합니다. 예를 들어, `1`로 설정하면 기존 Pod를 대체할 때 한 번에 하나의 새로운 Pod를 추가로 생성할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1.2 **롤링 업데이트 모니터링**</a:t>
            </a:r>
          </a:p>
          <a:p>
            <a:r>
              <a:rPr lang="en-US"/>
              <a:t>배포를 실행할 때 `kubectl rollout status` 명령어로 업데이트가 성공적으로 진행되는지 모니터링합니다.</a:t>
            </a:r>
          </a:p>
          <a:p>
            <a:r>
              <a:rPr lang="en-US"/>
              <a:t/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status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명령어는 새로운 버전의 Pod가 순차적으로 생성되고, 준비 상태가 되었는지 확인할 수 있게 도와줍니다.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2. **서로 다른 환경에 대한 점진적 배포 (Canary Deployments)**</a:t>
            </a:r>
          </a:p>
          <a:p>
            <a:r>
              <a:rPr lang="en-US"/>
              <a:t/>
            </a:r>
          </a:p>
          <a:p>
            <a:r>
              <a:rPr lang="en-US"/>
              <a:t>Canary 배포는 새로운 버전을 일부 Pod에만 먼저 배포한 후, 문제가 없는지 확인한 다음, 나머지 Pod에 배포하는 방식입니다. 이를 통해 전체 클러스터에 영향을 주기 전에, 새로운 버전의 안정성을 확인할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2.1 **Canary 배포 설정**</a:t>
            </a:r>
          </a:p>
          <a:p>
            <a:r>
              <a:rPr lang="en-US"/>
              <a:t>Kubernetes Deployment에서 **라벨**을 사용해 기존 버전과 새로운 버전을 구분하고, 일부 트래픽만 새로운 버전의 Pod로 전달되도록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 새로운 Deployment를 기존 Deployment와 동일한 설정으로 만들되, 새로운 버전의 라벨을 달아 일부 트래픽만 분배합니다.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apiVersion: apps/v1</a:t>
            </a:r>
          </a:p>
          <a:p>
            <a:r>
              <a:rPr lang="en-US"/>
              <a:t>kind: Deployment</a:t>
            </a:r>
          </a:p>
          <a:p>
            <a:r>
              <a:rPr lang="en-US"/>
              <a:t>metadata:</a:t>
            </a:r>
          </a:p>
          <a:p>
            <a:r>
              <a:rPr lang="en-US"/>
              <a:t>  name: my-app-canary</a:t>
            </a:r>
          </a:p>
          <a:p>
            <a:r>
              <a:rPr lang="en-US"/>
              <a:t>spec:</a:t>
            </a:r>
          </a:p>
          <a:p>
            <a:r>
              <a:rPr lang="en-US"/>
              <a:t>  replicas: 1  # Canary 버전은 한 개의 Pod로 시작</a:t>
            </a:r>
          </a:p>
          <a:p>
            <a:r>
              <a:rPr lang="en-US"/>
              <a:t>  template:</a:t>
            </a:r>
          </a:p>
          <a:p>
            <a:r>
              <a:rPr lang="en-US"/>
              <a:t>    metadata:</a:t>
            </a:r>
          </a:p>
          <a:p>
            <a:r>
              <a:rPr lang="en-US"/>
              <a:t>      labels:</a:t>
            </a:r>
          </a:p>
          <a:p>
            <a:r>
              <a:rPr lang="en-US"/>
              <a:t>        app: my-app</a:t>
            </a:r>
          </a:p>
          <a:p>
            <a:r>
              <a:rPr lang="en-US"/>
              <a:t>        version: canary  # Canary 버전의 라벨</a:t>
            </a:r>
          </a:p>
          <a:p>
            <a:r>
              <a:rPr lang="en-US"/>
              <a:t>    spec:</a:t>
            </a:r>
          </a:p>
          <a:p>
            <a:r>
              <a:rPr lang="en-US"/>
              <a:t>      containers:</a:t>
            </a:r>
          </a:p>
          <a:p>
            <a:r>
              <a:rPr lang="en-US"/>
              <a:t>      - name: my-app</a:t>
            </a:r>
          </a:p>
          <a:p>
            <a:r>
              <a:rPr lang="en-US"/>
              <a:t>        image: &lt;new-image-version&gt;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3. **헬스 체크 및 준비 상태 설정 (Readiness &amp; Liveness Probes)**</a:t>
            </a:r>
          </a:p>
          <a:p>
            <a:r>
              <a:rPr lang="en-US"/>
              <a:t/>
            </a:r>
          </a:p>
          <a:p>
            <a:r>
              <a:rPr lang="en-US"/>
              <a:t>업데이트할 때, 새로운 Pod가 정상적으로 실행 중인 상태인지 확인하는 것은 매우 중요합니다. 이를 위해 Kubernetes는 **Liveness Probe**와 **Readiness Probe**를 제공합니다.</a:t>
            </a:r>
          </a:p>
          <a:p>
            <a:r>
              <a:rPr lang="en-US"/>
              <a:t/>
            </a:r>
          </a:p>
          <a:p>
            <a:r>
              <a:rPr lang="en-US"/>
              <a:t>#### 3.1 **Liveness Probe**: Pod가 **정상적으로 동작하는지**를 확인하는 데 사용합니다.</a:t>
            </a:r>
          </a:p>
          <a:p>
            <a:r>
              <a:rPr lang="en-US"/>
              <a:t>#### 3.2 **Readiness Probe**: Pod가 **트래픽을 받을 준비가 되었는지**를 확인하는 데 사용합니다. 새로운 Pod가 정상적으로 실행되었더라도, 애플리케이션이 준비되지 않았을 수 있기 때문에 트래픽을 받기 전에 이를 확인해야 합니다.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spec:</a:t>
            </a:r>
          </a:p>
          <a:p>
            <a:r>
              <a:rPr lang="en-US"/>
              <a:t>  containers:</a:t>
            </a:r>
          </a:p>
          <a:p>
            <a:r>
              <a:rPr lang="en-US"/>
              <a:t>  - name: my-app</a:t>
            </a:r>
          </a:p>
          <a:p>
            <a:r>
              <a:rPr lang="en-US"/>
              <a:t>    image: &lt;your-image&gt;</a:t>
            </a:r>
          </a:p>
          <a:p>
            <a:r>
              <a:rPr lang="en-US"/>
              <a:t>    livenessProbe:</a:t>
            </a:r>
          </a:p>
          <a:p>
            <a:r>
              <a:rPr lang="en-US"/>
              <a:t>      httpGet:</a:t>
            </a:r>
          </a:p>
          <a:p>
            <a:r>
              <a:rPr lang="en-US"/>
              <a:t>        path: /healthz</a:t>
            </a:r>
          </a:p>
          <a:p>
            <a:r>
              <a:rPr lang="en-US"/>
              <a:t>        port: 8080</a:t>
            </a:r>
          </a:p>
          <a:p>
            <a:r>
              <a:rPr lang="en-US"/>
              <a:t>      initialDelaySeconds: 5</a:t>
            </a:r>
          </a:p>
          <a:p>
            <a:r>
              <a:rPr lang="en-US"/>
              <a:t>      periodSeconds: 10</a:t>
            </a:r>
          </a:p>
          <a:p>
            <a:r>
              <a:rPr lang="en-US"/>
              <a:t>    readinessProbe:</a:t>
            </a:r>
          </a:p>
          <a:p>
            <a:r>
              <a:rPr lang="en-US"/>
              <a:t>      httpGet:</a:t>
            </a:r>
          </a:p>
          <a:p>
            <a:r>
              <a:rPr lang="en-US"/>
              <a:t>        path: /ready</a:t>
            </a:r>
          </a:p>
          <a:p>
            <a:r>
              <a:rPr lang="en-US"/>
              <a:t>        port: 8080</a:t>
            </a:r>
          </a:p>
          <a:p>
            <a:r>
              <a:rPr lang="en-US"/>
              <a:t>      initialDelaySeconds: 5</a:t>
            </a:r>
          </a:p>
          <a:p>
            <a:r>
              <a:rPr lang="en-US"/>
              <a:t>      periodSeconds: 10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프로브들은 애플리케이션이 **정상적이고 준비된 상태**에서만 트래픽을 수신하게 하며, Kubernetes는 실패 시 자동으로 Pod를 다시 시작하거나, 준비가 완료될 때까지 트래픽을 보내지 않습니다.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4. **롤백 기능 사용 (Rollback)**</a:t>
            </a:r>
          </a:p>
          <a:p>
            <a:r>
              <a:rPr lang="en-US"/>
              <a:t/>
            </a:r>
          </a:p>
          <a:p>
            <a:r>
              <a:rPr lang="en-US"/>
              <a:t>만약 배포 중에 문제가 발생한다면, Kubernetes는 **롤백** 기능을 제공합니다. Deployment 업데이트가 실패하거나 문제가 발생하면, 이전에 성공한 상태로 롤백할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4.1 **롤백 명령어**</a:t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undo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명령은 현재 문제가 있는 배포를 중단하고, 이전의 정상적인 버전으로 되돌립니다.</a:t>
            </a:r>
          </a:p>
          <a:p>
            <a:r>
              <a:rPr lang="en-US"/>
              <a:t/>
            </a:r>
          </a:p>
          <a:p>
            <a:r>
              <a:rPr lang="en-US"/>
              <a:t>#### 4.2 **롤백된 버전 확인**</a:t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history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명령을 사용하여 배포 이력을 확인하고, 특정 버전으로 롤백할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5. **이미지 태그 관리 및 `imagePullPolicy` 설정**</a:t>
            </a:r>
          </a:p>
          <a:p>
            <a:r>
              <a:rPr lang="en-US"/>
              <a:t/>
            </a:r>
          </a:p>
          <a:p>
            <a:r>
              <a:rPr lang="en-US"/>
              <a:t>이미지를 최신 상태로 배포할 때, Kubernetes는 기본적으로 캐시된 이미지를 사용할 수 있습니다. 동일한 이미지 태그(예: `latest`)를 사용한다면, **`imagePullPolicy`를 `Always`로 설정**하여 이미지를 항상 최신 상태로 업데이트하는 것이 좋습니다.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containers:</a:t>
            </a:r>
          </a:p>
          <a:p>
            <a:r>
              <a:rPr lang="en-US"/>
              <a:t>  - name: my-app</a:t>
            </a:r>
          </a:p>
          <a:p>
            <a:r>
              <a:rPr lang="en-US"/>
              <a:t>    image: &lt;your-image:latest&gt;</a:t>
            </a:r>
          </a:p>
          <a:p>
            <a:r>
              <a:rPr lang="en-US"/>
              <a:t>    imagePullPolicy: Always  # 최신 이미지를 항상 풀(Pull)하도록 설정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6. **자원 제한 설정 (Resource Requests &amp; Limits)**</a:t>
            </a:r>
          </a:p>
          <a:p>
            <a:r>
              <a:rPr lang="en-US"/>
              <a:t/>
            </a:r>
          </a:p>
          <a:p>
            <a:r>
              <a:rPr lang="en-US"/>
              <a:t>Pod가 배포될 때 사용 가능한 CPU와 메모리 자원을 적절하게 제한하는 것이 중요합니다. 이를 통해 각 Pod가 클러스터 자원을 과도하게 사용하거나, 자원 부족으로 인해 다른 애플리케이션에 영향을 주는 것을 방지할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resources:</a:t>
            </a:r>
          </a:p>
          <a:p>
            <a:r>
              <a:rPr lang="en-US"/>
              <a:t>  requests:</a:t>
            </a:r>
          </a:p>
          <a:p>
            <a:r>
              <a:rPr lang="en-US"/>
              <a:t>    memory: "64Mi"</a:t>
            </a:r>
          </a:p>
          <a:p>
            <a:r>
              <a:rPr lang="en-US"/>
              <a:t>    cpu: "250m"</a:t>
            </a:r>
          </a:p>
          <a:p>
            <a:r>
              <a:rPr lang="en-US"/>
              <a:t>  limits:</a:t>
            </a:r>
          </a:p>
          <a:p>
            <a:r>
              <a:rPr lang="en-US"/>
              <a:t>    memory: "128Mi"</a:t>
            </a:r>
          </a:p>
          <a:p>
            <a:r>
              <a:rPr lang="en-US"/>
              <a:t>    cpu: "500m"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 **requests**: Pod가 정상적으로 실행되기 위해 필요한 최소 자원.</a:t>
            </a:r>
          </a:p>
          <a:p>
            <a:r>
              <a:rPr lang="en-US"/>
              <a:t>- **limits**: Pod가 사용할 수 있는 최대 자원.</a:t>
            </a:r>
          </a:p>
          <a:p>
            <a:r>
              <a:rPr lang="en-US"/>
              <a:t/>
            </a:r>
          </a:p>
          <a:p>
            <a:r>
              <a:rPr lang="en-US"/>
              <a:t>이 설정은 애플리케이션의 안정적인 실행을 보장하며, 자원이 부족해질 경우 발생할 수 있는 장애를 예방할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7. **자동화된 테스트와 지속적 배포 (CI/CD)**</a:t>
            </a:r>
          </a:p>
          <a:p>
            <a:r>
              <a:rPr lang="en-US"/>
              <a:t/>
            </a:r>
          </a:p>
          <a:p>
            <a:r>
              <a:rPr lang="en-US"/>
              <a:t>Pod 업데이트를 수동으로 하는 대신, **CI/CD 파이프라인**을 구성하여 자동으로 애플리케이션이 빌드, 테스트, 배포되도록 하는 것이 좋습니다. 이를 통해 코드 변경이 발생하면 자동으로 테스트하고, 문제없이 통과되면 Kubernetes에 새로운 버전이 배포됩니다.</a:t>
            </a:r>
          </a:p>
          <a:p>
            <a:r>
              <a:rPr lang="en-US"/>
              <a:t/>
            </a:r>
          </a:p>
          <a:p>
            <a:r>
              <a:rPr lang="en-US"/>
              <a:t>CI/CD 파이프라인 도구로는 **Jenkins**, **GitLab CI**, **CircleCI**, **ArgoCD** 등을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요약:</a:t>
            </a:r>
          </a:p>
          <a:p>
            <a:r>
              <a:rPr lang="en-US"/>
              <a:t/>
            </a:r>
          </a:p>
          <a:p>
            <a:r>
              <a:rPr lang="en-US"/>
              <a:t>1. **롤링 업데이트 사용**: 기존 Pod를 중단하지 않고 새 Pod를 순차적으로 생성.</a:t>
            </a:r>
          </a:p>
          <a:p>
            <a:r>
              <a:rPr lang="en-US"/>
              <a:t>2. **Canary 배포**: 새 버전을 일부 Pod에 먼저 배포한 후 문제가 없으면 전체에 배포.</a:t>
            </a:r>
          </a:p>
          <a:p>
            <a:r>
              <a:rPr lang="en-US"/>
              <a:t>3. **Liveness &amp; Readiness Probes**: Pod가 준비되기 전까지 트래픽을 차단하고, 문제가 생기면 재시작.</a:t>
            </a:r>
          </a:p>
          <a:p>
            <a:r>
              <a:rPr lang="en-US"/>
              <a:t>4. **롤백 기능**: 문제가 발생하면 손쉽게 이전 버전으로 롤백.</a:t>
            </a:r>
          </a:p>
          <a:p>
            <a:r>
              <a:rPr lang="en-US"/>
              <a:t>5. **이미지 태그 관리 및 `imagePullPolicy: Always` 설정**: 이미지가 항상 최신 상태인지 확인.</a:t>
            </a:r>
          </a:p>
          <a:p>
            <a:r>
              <a:rPr lang="en-US"/>
              <a:t>6. **자원 제한 설정**: CPU와 메모리 자원을 관리하여 안정성을 높임.</a:t>
            </a:r>
          </a:p>
          <a:p>
            <a:r>
              <a:rPr lang="en-US"/>
              <a:t>7. **자동화된 배포**: CI/CD를 통해 자동으로 테스트와 배포 진행.</a:t>
            </a:r>
          </a:p>
          <a:p>
            <a:r>
              <a:rPr lang="en-US"/>
              <a:t/>
            </a:r>
          </a:p>
          <a:p>
            <a:r>
              <a:rPr lang="en-US"/>
              <a:t>이러한 **베스트 프랙티스**를 따르면 Kubernetes 환경에서 안정적이고 유연하게 Pod를 업데이트할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Kubernetes에서 **Pod 업데이트**는 **Deployment**를 통해 이루어지며, 이는 애플리케이션의 지속적인 가용성을 유지하면서 새로운 기능, 버그 수정, 또는 성능 개선을 배포하는 데 중요한 역할을 합니다. Kubernetes는 이를 위해 **롤링 업데이트**(Rolling Update) 및 **롤백**(Rollback) 기능을 기본적으로 제공합니다. 업데이트 시 애플리케이션의 가용성과 안정성을 유지하기 위한 **베스트 프랙티스**는 다음과 같습니다.</a:t>
            </a:r>
          </a:p>
          <a:p>
            <a:r>
              <a:rPr lang="en-US"/>
              <a:t/>
            </a:r>
          </a:p>
          <a:p>
            <a:r>
              <a:rPr lang="en-US"/>
              <a:t>### 1. **롤링 업데이트 사용 (Rolling Updates)**</a:t>
            </a:r>
          </a:p>
          <a:p>
            <a:r>
              <a:rPr lang="en-US"/>
              <a:t/>
            </a:r>
          </a:p>
          <a:p>
            <a:r>
              <a:rPr lang="en-US"/>
              <a:t>**롤링 업데이트**는 기존 Pod를 단계적으로 종료하고, 새로운 Pod를 순차적으로 생성하는 방식입니다. 이를 통해 애플리케이션의 가용성을 유지할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1.1 **롤링 업데이트 설정**</a:t>
            </a:r>
          </a:p>
          <a:p>
            <a:r>
              <a:rPr lang="en-US"/>
              <a:t>Kubernetes에서 **롤링 업데이트**는 기본적으로 활성화되어 있습니다. Deployment의 `strategy` 항목에 설정할 수 있으며, 이를 통해 Pod를 몇 개씩 교체할지 지정할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spec:</a:t>
            </a:r>
          </a:p>
          <a:p>
            <a:r>
              <a:rPr lang="en-US"/>
              <a:t>  strategy:</a:t>
            </a:r>
          </a:p>
          <a:p>
            <a:r>
              <a:rPr lang="en-US"/>
              <a:t>    type: RollingUpdate</a:t>
            </a:r>
          </a:p>
          <a:p>
            <a:r>
              <a:rPr lang="en-US"/>
              <a:t>    rollingUpdate:</a:t>
            </a:r>
          </a:p>
          <a:p>
            <a:r>
              <a:rPr lang="en-US"/>
              <a:t>      maxUnavailable: 1  # 업데이트 중에 최대 1개의 Pod만 사용할 수 없음</a:t>
            </a:r>
          </a:p>
          <a:p>
            <a:r>
              <a:rPr lang="en-US"/>
              <a:t>      maxSurge: 1        # 새로운 Pod를 몇 개 추가로 생성할 수 있을지 (동시 실행)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 **maxUnavailable**: 동시에 몇 개의 Pod를 사용할 수 없게 할지 지정합니다. 일반적으로 `1`로 설정하여, 한 번에 하나의 Pod만 대체하는 것이 안전합니다.</a:t>
            </a:r>
          </a:p>
          <a:p>
            <a:r>
              <a:rPr lang="en-US"/>
              <a:t>- **maxSurge**: 새롭게 생성할 수 있는 Pod의 개수를 설정합니다. 예를 들어, `1`로 설정하면 기존 Pod를 대체할 때 한 번에 하나의 새로운 Pod를 추가로 생성할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1.2 **롤링 업데이트 모니터링**</a:t>
            </a:r>
          </a:p>
          <a:p>
            <a:r>
              <a:rPr lang="en-US"/>
              <a:t>배포를 실행할 때 `kubectl rollout status` 명령어로 업데이트가 성공적으로 진행되는지 모니터링합니다.</a:t>
            </a:r>
          </a:p>
          <a:p>
            <a:r>
              <a:rPr lang="en-US"/>
              <a:t/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status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명령어는 새로운 버전의 Pod가 순차적으로 생성되고, 준비 상태가 되었는지 확인할 수 있게 도와줍니다.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2. **서로 다른 환경에 대한 점진적 배포 (Canary Deployments)**</a:t>
            </a:r>
          </a:p>
          <a:p>
            <a:r>
              <a:rPr lang="en-US"/>
              <a:t/>
            </a:r>
          </a:p>
          <a:p>
            <a:r>
              <a:rPr lang="en-US"/>
              <a:t>Canary 배포는 새로운 버전을 일부 Pod에만 먼저 배포한 후, 문제가 없는지 확인한 다음, 나머지 Pod에 배포하는 방식입니다. 이를 통해 전체 클러스터에 영향을 주기 전에, 새로운 버전의 안정성을 확인할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2.1 **Canary 배포 설정**</a:t>
            </a:r>
          </a:p>
          <a:p>
            <a:r>
              <a:rPr lang="en-US"/>
              <a:t>Kubernetes Deployment에서 **라벨**을 사용해 기존 버전과 새로운 버전을 구분하고, 일부 트래픽만 새로운 버전의 Pod로 전달되도록 설정할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 새로운 Deployment를 기존 Deployment와 동일한 설정으로 만들되, 새로운 버전의 라벨을 달아 일부 트래픽만 분배합니다.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apiVersion: apps/v1</a:t>
            </a:r>
          </a:p>
          <a:p>
            <a:r>
              <a:rPr lang="en-US"/>
              <a:t>kind: Deployment</a:t>
            </a:r>
          </a:p>
          <a:p>
            <a:r>
              <a:rPr lang="en-US"/>
              <a:t>metadata:</a:t>
            </a:r>
          </a:p>
          <a:p>
            <a:r>
              <a:rPr lang="en-US"/>
              <a:t>  name: my-app-canary</a:t>
            </a:r>
          </a:p>
          <a:p>
            <a:r>
              <a:rPr lang="en-US"/>
              <a:t>spec:</a:t>
            </a:r>
          </a:p>
          <a:p>
            <a:r>
              <a:rPr lang="en-US"/>
              <a:t>  replicas: 1  # Canary 버전은 한 개의 Pod로 시작</a:t>
            </a:r>
          </a:p>
          <a:p>
            <a:r>
              <a:rPr lang="en-US"/>
              <a:t>  template:</a:t>
            </a:r>
          </a:p>
          <a:p>
            <a:r>
              <a:rPr lang="en-US"/>
              <a:t>    metadata:</a:t>
            </a:r>
          </a:p>
          <a:p>
            <a:r>
              <a:rPr lang="en-US"/>
              <a:t>      labels:</a:t>
            </a:r>
          </a:p>
          <a:p>
            <a:r>
              <a:rPr lang="en-US"/>
              <a:t>        app: my-app</a:t>
            </a:r>
          </a:p>
          <a:p>
            <a:r>
              <a:rPr lang="en-US"/>
              <a:t>        version: canary  # Canary 버전의 라벨</a:t>
            </a:r>
          </a:p>
          <a:p>
            <a:r>
              <a:rPr lang="en-US"/>
              <a:t>    spec:</a:t>
            </a:r>
          </a:p>
          <a:p>
            <a:r>
              <a:rPr lang="en-US"/>
              <a:t>      containers:</a:t>
            </a:r>
          </a:p>
          <a:p>
            <a:r>
              <a:rPr lang="en-US"/>
              <a:t>      - name: my-app</a:t>
            </a:r>
          </a:p>
          <a:p>
            <a:r>
              <a:rPr lang="en-US"/>
              <a:t>        image: &lt;new-image-version&gt;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3. **헬스 체크 및 준비 상태 설정 (Readiness &amp; Liveness Probes)**</a:t>
            </a:r>
          </a:p>
          <a:p>
            <a:r>
              <a:rPr lang="en-US"/>
              <a:t/>
            </a:r>
          </a:p>
          <a:p>
            <a:r>
              <a:rPr lang="en-US"/>
              <a:t>업데이트할 때, 새로운 Pod가 정상적으로 실행 중인 상태인지 확인하는 것은 매우 중요합니다. 이를 위해 Kubernetes는 **Liveness Probe**와 **Readiness Probe**를 제공합니다.</a:t>
            </a:r>
          </a:p>
          <a:p>
            <a:r>
              <a:rPr lang="en-US"/>
              <a:t/>
            </a:r>
          </a:p>
          <a:p>
            <a:r>
              <a:rPr lang="en-US"/>
              <a:t>#### 3.1 **Liveness Probe**: Pod가 **정상적으로 동작하는지**를 확인하는 데 사용합니다.</a:t>
            </a:r>
          </a:p>
          <a:p>
            <a:r>
              <a:rPr lang="en-US"/>
              <a:t>#### 3.2 **Readiness Probe**: Pod가 **트래픽을 받을 준비가 되었는지**를 확인하는 데 사용합니다. 새로운 Pod가 정상적으로 실행되었더라도, 애플리케이션이 준비되지 않았을 수 있기 때문에 트래픽을 받기 전에 이를 확인해야 합니다.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spec:</a:t>
            </a:r>
          </a:p>
          <a:p>
            <a:r>
              <a:rPr lang="en-US"/>
              <a:t>  containers:</a:t>
            </a:r>
          </a:p>
          <a:p>
            <a:r>
              <a:rPr lang="en-US"/>
              <a:t>  - name: my-app</a:t>
            </a:r>
          </a:p>
          <a:p>
            <a:r>
              <a:rPr lang="en-US"/>
              <a:t>    image: &lt;your-image&gt;</a:t>
            </a:r>
          </a:p>
          <a:p>
            <a:r>
              <a:rPr lang="en-US"/>
              <a:t>    livenessProbe:</a:t>
            </a:r>
          </a:p>
          <a:p>
            <a:r>
              <a:rPr lang="en-US"/>
              <a:t>      httpGet:</a:t>
            </a:r>
          </a:p>
          <a:p>
            <a:r>
              <a:rPr lang="en-US"/>
              <a:t>        path: /healthz</a:t>
            </a:r>
          </a:p>
          <a:p>
            <a:r>
              <a:rPr lang="en-US"/>
              <a:t>        port: 8080</a:t>
            </a:r>
          </a:p>
          <a:p>
            <a:r>
              <a:rPr lang="en-US"/>
              <a:t>      initialDelaySeconds: 5</a:t>
            </a:r>
          </a:p>
          <a:p>
            <a:r>
              <a:rPr lang="en-US"/>
              <a:t>      periodSeconds: 10</a:t>
            </a:r>
          </a:p>
          <a:p>
            <a:r>
              <a:rPr lang="en-US"/>
              <a:t>    readinessProbe:</a:t>
            </a:r>
          </a:p>
          <a:p>
            <a:r>
              <a:rPr lang="en-US"/>
              <a:t>      httpGet:</a:t>
            </a:r>
          </a:p>
          <a:p>
            <a:r>
              <a:rPr lang="en-US"/>
              <a:t>        path: /ready</a:t>
            </a:r>
          </a:p>
          <a:p>
            <a:r>
              <a:rPr lang="en-US"/>
              <a:t>        port: 8080</a:t>
            </a:r>
          </a:p>
          <a:p>
            <a:r>
              <a:rPr lang="en-US"/>
              <a:t>      initialDelaySeconds: 5</a:t>
            </a:r>
          </a:p>
          <a:p>
            <a:r>
              <a:rPr lang="en-US"/>
              <a:t>      periodSeconds: 10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프로브들은 애플리케이션이 **정상적이고 준비된 상태**에서만 트래픽을 수신하게 하며, Kubernetes는 실패 시 자동으로 Pod를 다시 시작하거나, 준비가 완료될 때까지 트래픽을 보내지 않습니다.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4. **롤백 기능 사용 (Rollback)**</a:t>
            </a:r>
          </a:p>
          <a:p>
            <a:r>
              <a:rPr lang="en-US"/>
              <a:t/>
            </a:r>
          </a:p>
          <a:p>
            <a:r>
              <a:rPr lang="en-US"/>
              <a:t>만약 배포 중에 문제가 발생한다면, Kubernetes는 **롤백** 기능을 제공합니다. Deployment 업데이트가 실패하거나 문제가 발생하면, 이전에 성공한 상태로 롤백할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#### 4.1 **롤백 명령어**</a:t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undo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명령은 현재 문제가 있는 배포를 중단하고, 이전의 정상적인 버전으로 되돌립니다.</a:t>
            </a:r>
          </a:p>
          <a:p>
            <a:r>
              <a:rPr lang="en-US"/>
              <a:t/>
            </a:r>
          </a:p>
          <a:p>
            <a:r>
              <a:rPr lang="en-US"/>
              <a:t>#### 4.2 **롤백된 버전 확인**</a:t>
            </a:r>
          </a:p>
          <a:p>
            <a:r>
              <a:rPr lang="en-US"/>
              <a:t>```bash</a:t>
            </a:r>
          </a:p>
          <a:p>
            <a:r>
              <a:rPr lang="en-US"/>
              <a:t>kubectl rollout history deployment/&lt;deployment-name&gt;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이 명령을 사용하여 배포 이력을 확인하고, 특정 버전으로 롤백할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5. **이미지 태그 관리 및 `imagePullPolicy` 설정**</a:t>
            </a:r>
          </a:p>
          <a:p>
            <a:r>
              <a:rPr lang="en-US"/>
              <a:t/>
            </a:r>
          </a:p>
          <a:p>
            <a:r>
              <a:rPr lang="en-US"/>
              <a:t>이미지를 최신 상태로 배포할 때, Kubernetes는 기본적으로 캐시된 이미지를 사용할 수 있습니다. 동일한 이미지 태그(예: `latest`)를 사용한다면, **`imagePullPolicy`를 `Always`로 설정**하여 이미지를 항상 최신 상태로 업데이트하는 것이 좋습니다.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containers:</a:t>
            </a:r>
          </a:p>
          <a:p>
            <a:r>
              <a:rPr lang="en-US"/>
              <a:t>  - name: my-app</a:t>
            </a:r>
          </a:p>
          <a:p>
            <a:r>
              <a:rPr lang="en-US"/>
              <a:t>    image: &lt;your-image:latest&gt;</a:t>
            </a:r>
          </a:p>
          <a:p>
            <a:r>
              <a:rPr lang="en-US"/>
              <a:t>    imagePullPolicy: Always  # 최신 이미지를 항상 풀(Pull)하도록 설정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6. **자원 제한 설정 (Resource Requests &amp; Limits)**</a:t>
            </a:r>
          </a:p>
          <a:p>
            <a:r>
              <a:rPr lang="en-US"/>
              <a:t/>
            </a:r>
          </a:p>
          <a:p>
            <a:r>
              <a:rPr lang="en-US"/>
              <a:t>Pod가 배포될 때 사용 가능한 CPU와 메모리 자원을 적절하게 제한하는 것이 중요합니다. 이를 통해 각 Pod가 클러스터 자원을 과도하게 사용하거나, 자원 부족으로 인해 다른 애플리케이션에 영향을 주는 것을 방지할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```yaml</a:t>
            </a:r>
          </a:p>
          <a:p>
            <a:r>
              <a:rPr lang="en-US"/>
              <a:t>resources:</a:t>
            </a:r>
          </a:p>
          <a:p>
            <a:r>
              <a:rPr lang="en-US"/>
              <a:t>  requests:</a:t>
            </a:r>
          </a:p>
          <a:p>
            <a:r>
              <a:rPr lang="en-US"/>
              <a:t>    memory: "64Mi"</a:t>
            </a:r>
          </a:p>
          <a:p>
            <a:r>
              <a:rPr lang="en-US"/>
              <a:t>    cpu: "250m"</a:t>
            </a:r>
          </a:p>
          <a:p>
            <a:r>
              <a:rPr lang="en-US"/>
              <a:t>  limits:</a:t>
            </a:r>
          </a:p>
          <a:p>
            <a:r>
              <a:rPr lang="en-US"/>
              <a:t>    memory: "128Mi"</a:t>
            </a:r>
          </a:p>
          <a:p>
            <a:r>
              <a:rPr lang="en-US"/>
              <a:t>    cpu: "500m"</a:t>
            </a:r>
          </a:p>
          <a:p>
            <a:r>
              <a:rPr lang="en-US"/>
              <a:t>```</a:t>
            </a:r>
          </a:p>
          <a:p>
            <a:r>
              <a:rPr lang="en-US"/>
              <a:t/>
            </a:r>
          </a:p>
          <a:p>
            <a:r>
              <a:rPr lang="en-US"/>
              <a:t>- **requests**: Pod가 정상적으로 실행되기 위해 필요한 최소 자원.</a:t>
            </a:r>
          </a:p>
          <a:p>
            <a:r>
              <a:rPr lang="en-US"/>
              <a:t>- **limits**: Pod가 사용할 수 있는 최대 자원.</a:t>
            </a:r>
          </a:p>
          <a:p>
            <a:r>
              <a:rPr lang="en-US"/>
              <a:t/>
            </a:r>
          </a:p>
          <a:p>
            <a:r>
              <a:rPr lang="en-US"/>
              <a:t>이 설정은 애플리케이션의 안정적인 실행을 보장하며, 자원이 부족해질 경우 발생할 수 있는 장애를 예방할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7. **자동화된 테스트와 지속적 배포 (CI/CD)**</a:t>
            </a:r>
          </a:p>
          <a:p>
            <a:r>
              <a:rPr lang="en-US"/>
              <a:t/>
            </a:r>
          </a:p>
          <a:p>
            <a:r>
              <a:rPr lang="en-US"/>
              <a:t>Pod 업데이트를 수동으로 하는 대신, **CI/CD 파이프라인**을 구성하여 자동으로 애플리케이션이 빌드, 테스트, 배포되도록 하는 것이 좋습니다. 이를 통해 코드 변경이 발생하면 자동으로 테스트하고, 문제없이 통과되면 Kubernetes에 새로운 버전이 배포됩니다.</a:t>
            </a:r>
          </a:p>
          <a:p>
            <a:r>
              <a:rPr lang="en-US"/>
              <a:t/>
            </a:r>
          </a:p>
          <a:p>
            <a:r>
              <a:rPr lang="en-US"/>
              <a:t>CI/CD 파이프라인 도구로는 **Jenkins**, **GitLab CI**, **CircleCI**, **ArgoCD** 등을 사용할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---</a:t>
            </a:r>
          </a:p>
          <a:p>
            <a:r>
              <a:rPr lang="en-US"/>
              <a:t/>
            </a:r>
          </a:p>
          <a:p>
            <a:r>
              <a:rPr lang="en-US"/>
              <a:t>### 요약:</a:t>
            </a:r>
          </a:p>
          <a:p>
            <a:r>
              <a:rPr lang="en-US"/>
              <a:t/>
            </a:r>
          </a:p>
          <a:p>
            <a:r>
              <a:rPr lang="en-US"/>
              <a:t>1. **롤링 업데이트 사용**: 기존 Pod를 중단하지 않고 새 Pod를 순차적으로 생성.</a:t>
            </a:r>
          </a:p>
          <a:p>
            <a:r>
              <a:rPr lang="en-US"/>
              <a:t>2. **Canary 배포**: 새 버전을 일부 Pod에 먼저 배포한 후 문제가 없으면 전체에 배포.</a:t>
            </a:r>
          </a:p>
          <a:p>
            <a:r>
              <a:rPr lang="en-US"/>
              <a:t>3. **Liveness &amp; Readiness Probes**: Pod가 준비되기 전까지 트래픽을 차단하고, 문제가 생기면 재시작.</a:t>
            </a:r>
          </a:p>
          <a:p>
            <a:r>
              <a:rPr lang="en-US"/>
              <a:t>4. **롤백 기능**: 문제가 발생하면 손쉽게 이전 버전으로 롤백.</a:t>
            </a:r>
          </a:p>
          <a:p>
            <a:r>
              <a:rPr lang="en-US"/>
              <a:t>5. **이미지 태그 관리 및 `imagePullPolicy: Always` 설정**: 이미지가 항상 최신 상태인지 확인.</a:t>
            </a:r>
          </a:p>
          <a:p>
            <a:r>
              <a:rPr lang="en-US"/>
              <a:t>6. **자원 제한 설정**: CPU와 메모리 자원을 관리하여 안정성을 높임.</a:t>
            </a:r>
          </a:p>
          <a:p>
            <a:r>
              <a:rPr lang="en-US"/>
              <a:t>7. **자동화된 배포**: CI/CD를 통해 자동으로 테스트와 배포 진행.</a:t>
            </a:r>
          </a:p>
          <a:p>
            <a:r>
              <a:rPr lang="en-US"/>
              <a:t/>
            </a:r>
          </a:p>
          <a:p>
            <a:r>
              <a:rPr lang="en-US"/>
              <a:t>이러한 **베스트 프랙티스**를 따르면 Kubernetes 환경에서 안정적이고 유연하게 Pod를 업데이트할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Persistent Volume (PV): 쿠버네티스 클러스터에서 영구적인 저장소를 제공하는 리소스입니다. 관리자가 생성하고, 클러스터의 스토리지 리소스와 연결됩니다.</a:t>
            </a:r>
          </a:p>
          <a:p>
            <a:r>
              <a:rPr lang="en-US"/>
              <a:t>Persistent Volume Claim (PVC): 사용자가 필요한 스토리지 요청을 정의하는 리소스입니다. 파드가 필요한 저장소를 요청하면 쿠버네티스가 적절한 PV를 할당합니다.</a:t>
            </a:r>
          </a:p>
          <a:p>
            <a:r>
              <a:rPr lang="en-US"/>
              <a:t>볼륨 (Volume): 파드 내에서 사용되는 스토리지의 마운트 포인트로, PVC를 통해 영구 스토리지와 연결될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8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8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8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8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8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8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38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40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Relationship Id="rId3" Target="../media/image40.png" Type="http://schemas.openxmlformats.org/officeDocument/2006/relationships/image"/><Relationship Id="rId4" Target="../media/image8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6.xml" Type="http://schemas.openxmlformats.org/officeDocument/2006/relationships/notesSlide"/><Relationship Id="rId3" Target="../media/image4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7.xml" Type="http://schemas.openxmlformats.org/officeDocument/2006/relationships/notesSlid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8.xml" Type="http://schemas.openxmlformats.org/officeDocument/2006/relationships/notesSlid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9.xml" Type="http://schemas.openxmlformats.org/officeDocument/2006/relationships/notesSlide"/><Relationship Id="rId3" Target="../media/image8.pn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0.xml" Type="http://schemas.openxmlformats.org/officeDocument/2006/relationships/notesSlide"/><Relationship Id="rId3" Target="../media/image43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1.xml" Type="http://schemas.openxmlformats.org/officeDocument/2006/relationships/notesSlide"/><Relationship Id="rId3" Target="../media/image44.pn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2.xml" Type="http://schemas.openxmlformats.org/officeDocument/2006/relationships/notesSlide"/><Relationship Id="rId3" Target="../media/image46.pn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3.xml" Type="http://schemas.openxmlformats.org/officeDocument/2006/relationships/notesSlide"/><Relationship Id="rId3" Target="../media/image41.pn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4.xml" Type="http://schemas.openxmlformats.org/officeDocument/2006/relationships/notesSlide"/><Relationship Id="rId3" Target="../media/image49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5.xml" Type="http://schemas.openxmlformats.org/officeDocument/2006/relationships/notesSlide"/><Relationship Id="rId3" Target="../media/image41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6.xml" Type="http://schemas.openxmlformats.org/officeDocument/2006/relationships/notesSlid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7.xml" Type="http://schemas.openxmlformats.org/officeDocument/2006/relationships/notesSlid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8.xml" Type="http://schemas.openxmlformats.org/officeDocument/2006/relationships/notesSlid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9.xml" Type="http://schemas.openxmlformats.org/officeDocument/2006/relationships/notesSlid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0.xml" Type="http://schemas.openxmlformats.org/officeDocument/2006/relationships/notesSlide"/><Relationship Id="rId3" Target="../media/image61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1.xml" Type="http://schemas.openxmlformats.org/officeDocument/2006/relationships/notesSlide"/><Relationship Id="rId3" Target="../media/image62.pn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2.xml" Type="http://schemas.openxmlformats.org/officeDocument/2006/relationships/notesSlid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3.xml" Type="http://schemas.openxmlformats.org/officeDocument/2006/relationships/notesSlid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4.xml" Type="http://schemas.openxmlformats.org/officeDocument/2006/relationships/notesSlid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5.xml" Type="http://schemas.openxmlformats.org/officeDocument/2006/relationships/notesSlide"/><Relationship Id="rId3" Target="../media/image67.pn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6.xml" Type="http://schemas.openxmlformats.org/officeDocument/2006/relationships/notesSlid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7.xml" Type="http://schemas.openxmlformats.org/officeDocument/2006/relationships/notesSlid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8.xml" Type="http://schemas.openxmlformats.org/officeDocument/2006/relationships/notesSlid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9.xml" Type="http://schemas.openxmlformats.org/officeDocument/2006/relationships/notesSlid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0.xml" Type="http://schemas.openxmlformats.org/officeDocument/2006/relationships/notesSlid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1.xml" Type="http://schemas.openxmlformats.org/officeDocument/2006/relationships/notesSlid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2.xml" Type="http://schemas.openxmlformats.org/officeDocument/2006/relationships/notesSlide"/><Relationship Id="rId3" Target="../media/image73.pn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0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media/image82.png" Type="http://schemas.openxmlformats.org/officeDocument/2006/relationships/image"/><Relationship Id="rId4" Target="../media/image83.pn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98" y="6976659"/>
            <a:ext cx="18281103" cy="143946"/>
            <a:chOff x="0" y="0"/>
            <a:chExt cx="4814776" cy="37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4776" cy="37912"/>
            </a:xfrm>
            <a:custGeom>
              <a:avLst/>
              <a:gdLst/>
              <a:ahLst/>
              <a:cxnLst/>
              <a:rect r="r" b="b" t="t" l="l"/>
              <a:pathLst>
                <a:path h="37912" w="4814776">
                  <a:moveTo>
                    <a:pt x="0" y="0"/>
                  </a:moveTo>
                  <a:lnTo>
                    <a:pt x="4814776" y="0"/>
                  </a:lnTo>
                  <a:lnTo>
                    <a:pt x="4814776" y="37912"/>
                  </a:lnTo>
                  <a:lnTo>
                    <a:pt x="0" y="37912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14776" cy="37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752745" y="3379062"/>
            <a:ext cx="9509771" cy="139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2"/>
              </a:lnSpc>
            </a:pPr>
            <a:r>
              <a:rPr lang="en-US" sz="12157" spc="-206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Kubernetes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729826" y="9756248"/>
            <a:ext cx="1908369" cy="213101"/>
          </a:xfrm>
          <a:custGeom>
            <a:avLst/>
            <a:gdLst/>
            <a:ahLst/>
            <a:cxnLst/>
            <a:rect r="r" b="b" t="t" l="l"/>
            <a:pathLst>
              <a:path h="213101" w="1908369">
                <a:moveTo>
                  <a:pt x="0" y="0"/>
                </a:moveTo>
                <a:lnTo>
                  <a:pt x="1908369" y="0"/>
                </a:lnTo>
                <a:lnTo>
                  <a:pt x="1908369" y="213102"/>
                </a:lnTo>
                <a:lnTo>
                  <a:pt x="0" y="21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77451" y="7373706"/>
            <a:ext cx="2137683" cy="38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66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YUN JISOO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68922" y="7362944"/>
            <a:ext cx="2397747" cy="389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4"/>
              </a:lnSpc>
            </a:pPr>
            <a:r>
              <a:rPr lang="en-US" sz="22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WRITTEN BY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25728" y="4647717"/>
            <a:ext cx="9633750" cy="716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1"/>
              </a:lnSpc>
            </a:pPr>
            <a:r>
              <a:rPr lang="en-US" sz="6232" spc="-105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1. 쿠버네티스 소개와 설치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8698" y="1324368"/>
            <a:ext cx="172506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57616" y="5739453"/>
            <a:ext cx="2716775" cy="2284308"/>
          </a:xfrm>
          <a:custGeom>
            <a:avLst/>
            <a:gdLst/>
            <a:ahLst/>
            <a:cxnLst/>
            <a:rect r="r" b="b" t="t" l="l"/>
            <a:pathLst>
              <a:path h="2284308" w="2716775">
                <a:moveTo>
                  <a:pt x="0" y="0"/>
                </a:moveTo>
                <a:lnTo>
                  <a:pt x="2716774" y="0"/>
                </a:lnTo>
                <a:lnTo>
                  <a:pt x="2716774" y="2284308"/>
                </a:lnTo>
                <a:lnTo>
                  <a:pt x="0" y="2284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70987" y="4691783"/>
            <a:ext cx="2394417" cy="1859195"/>
          </a:xfrm>
          <a:custGeom>
            <a:avLst/>
            <a:gdLst/>
            <a:ahLst/>
            <a:cxnLst/>
            <a:rect r="r" b="b" t="t" l="l"/>
            <a:pathLst>
              <a:path h="1859195" w="2394417">
                <a:moveTo>
                  <a:pt x="0" y="0"/>
                </a:moveTo>
                <a:lnTo>
                  <a:pt x="2394418" y="0"/>
                </a:lnTo>
                <a:lnTo>
                  <a:pt x="2394418" y="1859195"/>
                </a:lnTo>
                <a:lnTo>
                  <a:pt x="0" y="1859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11032" y="4691783"/>
            <a:ext cx="2394417" cy="1859195"/>
          </a:xfrm>
          <a:custGeom>
            <a:avLst/>
            <a:gdLst/>
            <a:ahLst/>
            <a:cxnLst/>
            <a:rect r="r" b="b" t="t" l="l"/>
            <a:pathLst>
              <a:path h="1859195" w="2394417">
                <a:moveTo>
                  <a:pt x="0" y="0"/>
                </a:moveTo>
                <a:lnTo>
                  <a:pt x="2394417" y="0"/>
                </a:lnTo>
                <a:lnTo>
                  <a:pt x="2394417" y="1859195"/>
                </a:lnTo>
                <a:lnTo>
                  <a:pt x="0" y="1859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58353" y="6881607"/>
            <a:ext cx="2394417" cy="1859195"/>
          </a:xfrm>
          <a:custGeom>
            <a:avLst/>
            <a:gdLst/>
            <a:ahLst/>
            <a:cxnLst/>
            <a:rect r="r" b="b" t="t" l="l"/>
            <a:pathLst>
              <a:path h="1859195" w="2394417">
                <a:moveTo>
                  <a:pt x="0" y="0"/>
                </a:moveTo>
                <a:lnTo>
                  <a:pt x="2394417" y="0"/>
                </a:lnTo>
                <a:lnTo>
                  <a:pt x="2394417" y="1859194"/>
                </a:lnTo>
                <a:lnTo>
                  <a:pt x="0" y="1859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52795" y="6881607"/>
            <a:ext cx="2394417" cy="1859195"/>
          </a:xfrm>
          <a:custGeom>
            <a:avLst/>
            <a:gdLst/>
            <a:ahLst/>
            <a:cxnLst/>
            <a:rect r="r" b="b" t="t" l="l"/>
            <a:pathLst>
              <a:path h="1859195" w="2394417">
                <a:moveTo>
                  <a:pt x="0" y="0"/>
                </a:moveTo>
                <a:lnTo>
                  <a:pt x="2394417" y="0"/>
                </a:lnTo>
                <a:lnTo>
                  <a:pt x="2394417" y="1859194"/>
                </a:lnTo>
                <a:lnTo>
                  <a:pt x="0" y="1859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839453" y="4128311"/>
            <a:ext cx="10826634" cy="5506593"/>
            <a:chOff x="0" y="0"/>
            <a:chExt cx="2851459" cy="1450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1459" cy="1450296"/>
            </a:xfrm>
            <a:custGeom>
              <a:avLst/>
              <a:gdLst/>
              <a:ahLst/>
              <a:cxnLst/>
              <a:rect r="r" b="b" t="t" l="l"/>
              <a:pathLst>
                <a:path h="1450296" w="2851459">
                  <a:moveTo>
                    <a:pt x="0" y="0"/>
                  </a:moveTo>
                  <a:lnTo>
                    <a:pt x="2851459" y="0"/>
                  </a:lnTo>
                  <a:lnTo>
                    <a:pt x="2851459" y="1450296"/>
                  </a:lnTo>
                  <a:lnTo>
                    <a:pt x="0" y="1450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851459" cy="1450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5127" y="565416"/>
            <a:ext cx="15026817" cy="61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5300" spc="-90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쿠버네티스의 등장 배경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7099" y="1944860"/>
            <a:ext cx="15513802" cy="1577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2"/>
              </a:lnSpc>
              <a:spcBef>
                <a:spcPct val="0"/>
              </a:spcBef>
            </a:pPr>
            <a:r>
              <a:rPr lang="en-US" sz="3813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도커의 등장으로 컨테이너 기반 배포 방식이 보편화되고, 많은 서비스들이 도커라이징 되어 이미지로 관리되기 시작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3918792" y="6881607"/>
            <a:ext cx="2785860" cy="1905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8698" y="1324368"/>
            <a:ext cx="172506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57616" y="5739453"/>
            <a:ext cx="2716775" cy="2284308"/>
          </a:xfrm>
          <a:custGeom>
            <a:avLst/>
            <a:gdLst/>
            <a:ahLst/>
            <a:cxnLst/>
            <a:rect r="r" b="b" t="t" l="l"/>
            <a:pathLst>
              <a:path h="2284308" w="2716775">
                <a:moveTo>
                  <a:pt x="0" y="0"/>
                </a:moveTo>
                <a:lnTo>
                  <a:pt x="2716774" y="0"/>
                </a:lnTo>
                <a:lnTo>
                  <a:pt x="2716774" y="2284308"/>
                </a:lnTo>
                <a:lnTo>
                  <a:pt x="0" y="2284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839453" y="4128311"/>
            <a:ext cx="10826634" cy="5506593"/>
            <a:chOff x="0" y="0"/>
            <a:chExt cx="2851459" cy="1450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1459" cy="1450296"/>
            </a:xfrm>
            <a:custGeom>
              <a:avLst/>
              <a:gdLst/>
              <a:ahLst/>
              <a:cxnLst/>
              <a:rect r="r" b="b" t="t" l="l"/>
              <a:pathLst>
                <a:path h="1450296" w="2851459">
                  <a:moveTo>
                    <a:pt x="0" y="0"/>
                  </a:moveTo>
                  <a:lnTo>
                    <a:pt x="2851459" y="0"/>
                  </a:lnTo>
                  <a:lnTo>
                    <a:pt x="2851459" y="1450296"/>
                  </a:lnTo>
                  <a:lnTo>
                    <a:pt x="0" y="1450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851459" cy="1450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668196" y="4691783"/>
            <a:ext cx="2394417" cy="1859195"/>
          </a:xfrm>
          <a:custGeom>
            <a:avLst/>
            <a:gdLst/>
            <a:ahLst/>
            <a:cxnLst/>
            <a:rect r="r" b="b" t="t" l="l"/>
            <a:pathLst>
              <a:path h="1859195" w="2394417">
                <a:moveTo>
                  <a:pt x="0" y="0"/>
                </a:moveTo>
                <a:lnTo>
                  <a:pt x="2394417" y="0"/>
                </a:lnTo>
                <a:lnTo>
                  <a:pt x="2394417" y="1859195"/>
                </a:lnTo>
                <a:lnTo>
                  <a:pt x="0" y="1859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52770" y="4691783"/>
            <a:ext cx="2394417" cy="1859195"/>
          </a:xfrm>
          <a:custGeom>
            <a:avLst/>
            <a:gdLst/>
            <a:ahLst/>
            <a:cxnLst/>
            <a:rect r="r" b="b" t="t" l="l"/>
            <a:pathLst>
              <a:path h="1859195" w="2394417">
                <a:moveTo>
                  <a:pt x="0" y="0"/>
                </a:moveTo>
                <a:lnTo>
                  <a:pt x="2394418" y="0"/>
                </a:lnTo>
                <a:lnTo>
                  <a:pt x="2394418" y="1859195"/>
                </a:lnTo>
                <a:lnTo>
                  <a:pt x="0" y="1859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8353" y="6881607"/>
            <a:ext cx="2394417" cy="1859195"/>
          </a:xfrm>
          <a:custGeom>
            <a:avLst/>
            <a:gdLst/>
            <a:ahLst/>
            <a:cxnLst/>
            <a:rect r="r" b="b" t="t" l="l"/>
            <a:pathLst>
              <a:path h="1859195" w="2394417">
                <a:moveTo>
                  <a:pt x="0" y="0"/>
                </a:moveTo>
                <a:lnTo>
                  <a:pt x="2394417" y="0"/>
                </a:lnTo>
                <a:lnTo>
                  <a:pt x="2394417" y="1859194"/>
                </a:lnTo>
                <a:lnTo>
                  <a:pt x="0" y="1859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52770" y="6900657"/>
            <a:ext cx="2394417" cy="1859195"/>
          </a:xfrm>
          <a:custGeom>
            <a:avLst/>
            <a:gdLst/>
            <a:ahLst/>
            <a:cxnLst/>
            <a:rect r="r" b="b" t="t" l="l"/>
            <a:pathLst>
              <a:path h="1859195" w="2394417">
                <a:moveTo>
                  <a:pt x="0" y="0"/>
                </a:moveTo>
                <a:lnTo>
                  <a:pt x="2394418" y="0"/>
                </a:lnTo>
                <a:lnTo>
                  <a:pt x="2394418" y="1859194"/>
                </a:lnTo>
                <a:lnTo>
                  <a:pt x="0" y="1859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5127" y="565416"/>
            <a:ext cx="15026817" cy="61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5300" spc="-90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쿠버네티스의 등장 배경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3918792" y="6881607"/>
            <a:ext cx="2785860" cy="1905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3990088" y="4691783"/>
            <a:ext cx="2394417" cy="1859195"/>
          </a:xfrm>
          <a:custGeom>
            <a:avLst/>
            <a:gdLst/>
            <a:ahLst/>
            <a:cxnLst/>
            <a:rect r="r" b="b" t="t" l="l"/>
            <a:pathLst>
              <a:path h="1859195" w="2394417">
                <a:moveTo>
                  <a:pt x="0" y="0"/>
                </a:moveTo>
                <a:lnTo>
                  <a:pt x="2394417" y="0"/>
                </a:lnTo>
                <a:lnTo>
                  <a:pt x="2394417" y="1859195"/>
                </a:lnTo>
                <a:lnTo>
                  <a:pt x="0" y="1859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151907" y="6881607"/>
            <a:ext cx="2394417" cy="1859195"/>
          </a:xfrm>
          <a:custGeom>
            <a:avLst/>
            <a:gdLst/>
            <a:ahLst/>
            <a:cxnLst/>
            <a:rect r="r" b="b" t="t" l="l"/>
            <a:pathLst>
              <a:path h="1859195" w="2394417">
                <a:moveTo>
                  <a:pt x="0" y="0"/>
                </a:moveTo>
                <a:lnTo>
                  <a:pt x="2394417" y="0"/>
                </a:lnTo>
                <a:lnTo>
                  <a:pt x="2394417" y="1859194"/>
                </a:lnTo>
                <a:lnTo>
                  <a:pt x="0" y="1859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990088" y="6900657"/>
            <a:ext cx="2394417" cy="1859195"/>
          </a:xfrm>
          <a:custGeom>
            <a:avLst/>
            <a:gdLst/>
            <a:ahLst/>
            <a:cxnLst/>
            <a:rect r="r" b="b" t="t" l="l"/>
            <a:pathLst>
              <a:path h="1859195" w="2394417">
                <a:moveTo>
                  <a:pt x="0" y="0"/>
                </a:moveTo>
                <a:lnTo>
                  <a:pt x="2394417" y="0"/>
                </a:lnTo>
                <a:lnTo>
                  <a:pt x="2394417" y="1859194"/>
                </a:lnTo>
                <a:lnTo>
                  <a:pt x="0" y="1859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273779" y="4691783"/>
            <a:ext cx="2394417" cy="1859195"/>
          </a:xfrm>
          <a:custGeom>
            <a:avLst/>
            <a:gdLst/>
            <a:ahLst/>
            <a:cxnLst/>
            <a:rect r="r" b="b" t="t" l="l"/>
            <a:pathLst>
              <a:path h="1859195" w="2394417">
                <a:moveTo>
                  <a:pt x="0" y="0"/>
                </a:moveTo>
                <a:lnTo>
                  <a:pt x="2394417" y="0"/>
                </a:lnTo>
                <a:lnTo>
                  <a:pt x="2394417" y="1859195"/>
                </a:lnTo>
                <a:lnTo>
                  <a:pt x="0" y="1859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11690" y="1875352"/>
            <a:ext cx="14713012" cy="1577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2"/>
              </a:lnSpc>
              <a:spcBef>
                <a:spcPct val="0"/>
              </a:spcBef>
            </a:pPr>
            <a:r>
              <a:rPr lang="en-US" sz="3813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점점 이미지가 많아지면서, 관리해야할 컨테이너와 서버들 또한 많아짐</a:t>
            </a:r>
          </a:p>
          <a:p>
            <a:pPr algn="ctr">
              <a:lnSpc>
                <a:spcPts val="6482"/>
              </a:lnSpc>
              <a:spcBef>
                <a:spcPct val="0"/>
              </a:spcBef>
            </a:pPr>
            <a:r>
              <a:rPr lang="en-US" sz="3813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-&gt; 관리하기가 어려워짐...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58236" y="7856861"/>
            <a:ext cx="1019940" cy="146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9"/>
              </a:lnSpc>
              <a:spcBef>
                <a:spcPct val="0"/>
              </a:spcBef>
            </a:pPr>
            <a:r>
              <a:rPr lang="en-US" sz="7294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...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8698" y="1324368"/>
            <a:ext cx="172506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584754" y="6022997"/>
            <a:ext cx="2987026" cy="2987026"/>
          </a:xfrm>
          <a:custGeom>
            <a:avLst/>
            <a:gdLst/>
            <a:ahLst/>
            <a:cxnLst/>
            <a:rect r="r" b="b" t="t" l="l"/>
            <a:pathLst>
              <a:path h="2987026" w="2987026">
                <a:moveTo>
                  <a:pt x="0" y="0"/>
                </a:moveTo>
                <a:lnTo>
                  <a:pt x="2987026" y="0"/>
                </a:lnTo>
                <a:lnTo>
                  <a:pt x="2987026" y="2987026"/>
                </a:lnTo>
                <a:lnTo>
                  <a:pt x="0" y="2987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495167" y="3180097"/>
            <a:ext cx="5750345" cy="3773664"/>
            <a:chOff x="0" y="0"/>
            <a:chExt cx="812800" cy="533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38100" y="88900"/>
              <a:ext cx="7366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034707" y="4561114"/>
            <a:ext cx="1203152" cy="1011630"/>
          </a:xfrm>
          <a:custGeom>
            <a:avLst/>
            <a:gdLst/>
            <a:ahLst/>
            <a:cxnLst/>
            <a:rect r="r" b="b" t="t" l="l"/>
            <a:pathLst>
              <a:path h="1011630" w="1203152">
                <a:moveTo>
                  <a:pt x="0" y="0"/>
                </a:moveTo>
                <a:lnTo>
                  <a:pt x="1203152" y="0"/>
                </a:lnTo>
                <a:lnTo>
                  <a:pt x="1203152" y="1011630"/>
                </a:lnTo>
                <a:lnTo>
                  <a:pt x="0" y="1011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5127" y="565416"/>
            <a:ext cx="15026817" cy="61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5300" spc="-90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쿠버네티스의 등장 배경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58586" y="1732477"/>
            <a:ext cx="11486926" cy="84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8"/>
              </a:lnSpc>
              <a:spcBef>
                <a:spcPct val="0"/>
              </a:spcBef>
            </a:pPr>
            <a:r>
              <a:rPr lang="en-US" sz="4216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컨테이너들의 관리도 쉽게 자동화할 수는 없을까?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8571780" y="6304495"/>
            <a:ext cx="1627795" cy="1212015"/>
          </a:xfrm>
          <a:prstGeom prst="line">
            <a:avLst/>
          </a:prstGeom>
          <a:ln cap="flat" w="857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1518754" y="4438387"/>
            <a:ext cx="3304547" cy="1680743"/>
            <a:chOff x="0" y="0"/>
            <a:chExt cx="2851459" cy="14502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51459" cy="1450296"/>
            </a:xfrm>
            <a:custGeom>
              <a:avLst/>
              <a:gdLst/>
              <a:ahLst/>
              <a:cxnLst/>
              <a:rect r="r" b="b" t="t" l="l"/>
              <a:pathLst>
                <a:path h="1450296" w="2851459">
                  <a:moveTo>
                    <a:pt x="0" y="0"/>
                  </a:moveTo>
                  <a:lnTo>
                    <a:pt x="2851459" y="0"/>
                  </a:lnTo>
                  <a:lnTo>
                    <a:pt x="2851459" y="1450296"/>
                  </a:lnTo>
                  <a:lnTo>
                    <a:pt x="0" y="1450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851459" cy="1450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382154" y="4610373"/>
            <a:ext cx="730833" cy="567470"/>
          </a:xfrm>
          <a:custGeom>
            <a:avLst/>
            <a:gdLst/>
            <a:ahLst/>
            <a:cxnLst/>
            <a:rect r="r" b="b" t="t" l="l"/>
            <a:pathLst>
              <a:path h="567470" w="730833">
                <a:moveTo>
                  <a:pt x="0" y="0"/>
                </a:moveTo>
                <a:lnTo>
                  <a:pt x="730833" y="0"/>
                </a:lnTo>
                <a:lnTo>
                  <a:pt x="730833" y="567470"/>
                </a:lnTo>
                <a:lnTo>
                  <a:pt x="0" y="567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171028" y="4610373"/>
            <a:ext cx="730833" cy="567470"/>
          </a:xfrm>
          <a:custGeom>
            <a:avLst/>
            <a:gdLst/>
            <a:ahLst/>
            <a:cxnLst/>
            <a:rect r="r" b="b" t="t" l="l"/>
            <a:pathLst>
              <a:path h="567470" w="730833">
                <a:moveTo>
                  <a:pt x="0" y="0"/>
                </a:moveTo>
                <a:lnTo>
                  <a:pt x="730833" y="0"/>
                </a:lnTo>
                <a:lnTo>
                  <a:pt x="730833" y="567470"/>
                </a:lnTo>
                <a:lnTo>
                  <a:pt x="0" y="567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440195" y="5278759"/>
            <a:ext cx="730833" cy="567470"/>
          </a:xfrm>
          <a:custGeom>
            <a:avLst/>
            <a:gdLst/>
            <a:ahLst/>
            <a:cxnLst/>
            <a:rect r="r" b="b" t="t" l="l"/>
            <a:pathLst>
              <a:path h="567470" w="730833">
                <a:moveTo>
                  <a:pt x="0" y="0"/>
                </a:moveTo>
                <a:lnTo>
                  <a:pt x="730833" y="0"/>
                </a:lnTo>
                <a:lnTo>
                  <a:pt x="730833" y="567470"/>
                </a:lnTo>
                <a:lnTo>
                  <a:pt x="0" y="567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71028" y="5284573"/>
            <a:ext cx="730833" cy="567470"/>
          </a:xfrm>
          <a:custGeom>
            <a:avLst/>
            <a:gdLst/>
            <a:ahLst/>
            <a:cxnLst/>
            <a:rect r="r" b="b" t="t" l="l"/>
            <a:pathLst>
              <a:path h="567470" w="730833">
                <a:moveTo>
                  <a:pt x="0" y="0"/>
                </a:moveTo>
                <a:lnTo>
                  <a:pt x="730833" y="0"/>
                </a:lnTo>
                <a:lnTo>
                  <a:pt x="730833" y="567471"/>
                </a:lnTo>
                <a:lnTo>
                  <a:pt x="0" y="56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006522" y="4610373"/>
            <a:ext cx="730833" cy="567470"/>
          </a:xfrm>
          <a:custGeom>
            <a:avLst/>
            <a:gdLst/>
            <a:ahLst/>
            <a:cxnLst/>
            <a:rect r="r" b="b" t="t" l="l"/>
            <a:pathLst>
              <a:path h="567470" w="730833">
                <a:moveTo>
                  <a:pt x="0" y="0"/>
                </a:moveTo>
                <a:lnTo>
                  <a:pt x="730833" y="0"/>
                </a:lnTo>
                <a:lnTo>
                  <a:pt x="730833" y="567470"/>
                </a:lnTo>
                <a:lnTo>
                  <a:pt x="0" y="567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614123" y="5278759"/>
            <a:ext cx="730833" cy="567470"/>
          </a:xfrm>
          <a:custGeom>
            <a:avLst/>
            <a:gdLst/>
            <a:ahLst/>
            <a:cxnLst/>
            <a:rect r="r" b="b" t="t" l="l"/>
            <a:pathLst>
              <a:path h="567470" w="730833">
                <a:moveTo>
                  <a:pt x="0" y="0"/>
                </a:moveTo>
                <a:lnTo>
                  <a:pt x="730833" y="0"/>
                </a:lnTo>
                <a:lnTo>
                  <a:pt x="730833" y="567470"/>
                </a:lnTo>
                <a:lnTo>
                  <a:pt x="0" y="567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006522" y="5284573"/>
            <a:ext cx="730833" cy="567470"/>
          </a:xfrm>
          <a:custGeom>
            <a:avLst/>
            <a:gdLst/>
            <a:ahLst/>
            <a:cxnLst/>
            <a:rect r="r" b="b" t="t" l="l"/>
            <a:pathLst>
              <a:path h="567470" w="730833">
                <a:moveTo>
                  <a:pt x="0" y="0"/>
                </a:moveTo>
                <a:lnTo>
                  <a:pt x="730833" y="0"/>
                </a:lnTo>
                <a:lnTo>
                  <a:pt x="730833" y="567471"/>
                </a:lnTo>
                <a:lnTo>
                  <a:pt x="0" y="56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651321" y="4610373"/>
            <a:ext cx="730833" cy="567470"/>
          </a:xfrm>
          <a:custGeom>
            <a:avLst/>
            <a:gdLst/>
            <a:ahLst/>
            <a:cxnLst/>
            <a:rect r="r" b="b" t="t" l="l"/>
            <a:pathLst>
              <a:path h="567470" w="730833">
                <a:moveTo>
                  <a:pt x="0" y="0"/>
                </a:moveTo>
                <a:lnTo>
                  <a:pt x="730833" y="0"/>
                </a:lnTo>
                <a:lnTo>
                  <a:pt x="730833" y="567470"/>
                </a:lnTo>
                <a:lnTo>
                  <a:pt x="0" y="567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020084" y="5566791"/>
            <a:ext cx="311310" cy="45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4"/>
              </a:lnSpc>
              <a:spcBef>
                <a:spcPct val="0"/>
              </a:spcBef>
            </a:pPr>
            <a:r>
              <a:rPr lang="en-US" sz="2226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...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8698" y="1324368"/>
            <a:ext cx="172506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975980" y="3180097"/>
            <a:ext cx="9413076" cy="4706538"/>
          </a:xfrm>
          <a:custGeom>
            <a:avLst/>
            <a:gdLst/>
            <a:ahLst/>
            <a:cxnLst/>
            <a:rect r="r" b="b" t="t" l="l"/>
            <a:pathLst>
              <a:path h="4706538" w="9413076">
                <a:moveTo>
                  <a:pt x="0" y="0"/>
                </a:moveTo>
                <a:lnTo>
                  <a:pt x="9413077" y="0"/>
                </a:lnTo>
                <a:lnTo>
                  <a:pt x="9413077" y="4706539"/>
                </a:lnTo>
                <a:lnTo>
                  <a:pt x="0" y="4706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1428" y="8010461"/>
            <a:ext cx="1379194" cy="1379194"/>
          </a:xfrm>
          <a:custGeom>
            <a:avLst/>
            <a:gdLst/>
            <a:ahLst/>
            <a:cxnLst/>
            <a:rect r="r" b="b" t="t" l="l"/>
            <a:pathLst>
              <a:path h="1379194" w="1379194">
                <a:moveTo>
                  <a:pt x="0" y="0"/>
                </a:moveTo>
                <a:lnTo>
                  <a:pt x="1379194" y="0"/>
                </a:lnTo>
                <a:lnTo>
                  <a:pt x="1379194" y="1379194"/>
                </a:lnTo>
                <a:lnTo>
                  <a:pt x="0" y="1379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5127" y="565416"/>
            <a:ext cx="15026817" cy="61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5300" spc="-90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쿠버네티스의 등장 배경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15041" y="1732477"/>
            <a:ext cx="9774016" cy="84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8"/>
              </a:lnSpc>
              <a:spcBef>
                <a:spcPct val="0"/>
              </a:spcBef>
            </a:pPr>
            <a:r>
              <a:rPr lang="en-US" sz="4216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2015년 7월, 쿠버네티스가 처음으로 출시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64664" y="8542110"/>
            <a:ext cx="721410" cy="85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8"/>
              </a:lnSpc>
              <a:spcBef>
                <a:spcPct val="0"/>
              </a:spcBef>
            </a:pPr>
            <a:r>
              <a:rPr lang="en-US" sz="4216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by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8698" y="1324368"/>
            <a:ext cx="172506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91769" y="2635876"/>
            <a:ext cx="88550" cy="1791924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654989" y="5163969"/>
            <a:ext cx="3421958" cy="4218156"/>
          </a:xfrm>
          <a:custGeom>
            <a:avLst/>
            <a:gdLst/>
            <a:ahLst/>
            <a:cxnLst/>
            <a:rect r="r" b="b" t="t" l="l"/>
            <a:pathLst>
              <a:path h="4218156" w="3421958">
                <a:moveTo>
                  <a:pt x="0" y="0"/>
                </a:moveTo>
                <a:lnTo>
                  <a:pt x="3421958" y="0"/>
                </a:lnTo>
                <a:lnTo>
                  <a:pt x="3421958" y="4218156"/>
                </a:lnTo>
                <a:lnTo>
                  <a:pt x="0" y="4218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5127" y="565416"/>
            <a:ext cx="15026817" cy="61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5300" spc="-90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쿠버네티스의 주요 특징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24925"/>
            <a:ext cx="7454530" cy="3215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3275" indent="-411638" lvl="1">
              <a:lnSpc>
                <a:spcPts val="6482"/>
              </a:lnSpc>
              <a:buFont typeface="Arial"/>
              <a:buChar char="•"/>
            </a:pPr>
            <a:r>
              <a:rPr lang="en-US" sz="3813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자동화된 컨테이너 배포 및 관리</a:t>
            </a:r>
          </a:p>
          <a:p>
            <a:pPr algn="l" marL="823275" indent="-411638" lvl="1">
              <a:lnSpc>
                <a:spcPts val="6482"/>
              </a:lnSpc>
              <a:buFont typeface="Arial"/>
              <a:buChar char="•"/>
            </a:pPr>
            <a:r>
              <a:rPr lang="en-US" sz="3813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확장성</a:t>
            </a:r>
          </a:p>
          <a:p>
            <a:pPr algn="l" marL="823275" indent="-411638" lvl="1">
              <a:lnSpc>
                <a:spcPts val="6482"/>
              </a:lnSpc>
              <a:buFont typeface="Arial"/>
              <a:buChar char="•"/>
            </a:pPr>
            <a:r>
              <a:rPr lang="en-US" sz="3813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자체 치유(Self-healing)</a:t>
            </a:r>
          </a:p>
          <a:p>
            <a:pPr algn="l" marL="823275" indent="-411638" lvl="1">
              <a:lnSpc>
                <a:spcPts val="6482"/>
              </a:lnSpc>
              <a:buFont typeface="Arial"/>
              <a:buChar char="•"/>
            </a:pPr>
            <a:r>
              <a:rPr lang="en-US" sz="3813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롤아웃 및 롤백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97677" y="2996419"/>
            <a:ext cx="4158538" cy="967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sz="4818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오케스트레이션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051294" y="6074275"/>
            <a:ext cx="4795088" cy="2397544"/>
          </a:xfrm>
          <a:custGeom>
            <a:avLst/>
            <a:gdLst/>
            <a:ahLst/>
            <a:cxnLst/>
            <a:rect r="r" b="b" t="t" l="l"/>
            <a:pathLst>
              <a:path h="2397544" w="4795088">
                <a:moveTo>
                  <a:pt x="0" y="0"/>
                </a:moveTo>
                <a:lnTo>
                  <a:pt x="4795088" y="0"/>
                </a:lnTo>
                <a:lnTo>
                  <a:pt x="4795088" y="2397544"/>
                </a:lnTo>
                <a:lnTo>
                  <a:pt x="0" y="2397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83335" y="6432862"/>
            <a:ext cx="783419" cy="163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17"/>
              </a:lnSpc>
            </a:pPr>
            <a:r>
              <a:rPr lang="en-US" sz="8010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=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4673" y="821107"/>
            <a:ext cx="15026817" cy="61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5300" spc="-90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쿠버네티스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1511" y="818048"/>
            <a:ext cx="8115300" cy="61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0"/>
              </a:lnSpc>
            </a:pPr>
            <a:r>
              <a:rPr lang="en-US" sz="5219" spc="-88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Kubernetes 아키텍처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333057" y="1567983"/>
            <a:ext cx="12867509" cy="7870599"/>
            <a:chOff x="0" y="0"/>
            <a:chExt cx="21208254" cy="129723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08254" cy="12972338"/>
            </a:xfrm>
            <a:custGeom>
              <a:avLst/>
              <a:gdLst/>
              <a:ahLst/>
              <a:cxnLst/>
              <a:rect r="r" b="b" t="t" l="l"/>
              <a:pathLst>
                <a:path h="12972338" w="21208254">
                  <a:moveTo>
                    <a:pt x="0" y="0"/>
                  </a:moveTo>
                  <a:lnTo>
                    <a:pt x="21208254" y="0"/>
                  </a:lnTo>
                  <a:lnTo>
                    <a:pt x="21208254" y="12972338"/>
                  </a:lnTo>
                  <a:lnTo>
                    <a:pt x="0" y="12972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208254" cy="13000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123911" y="2122863"/>
            <a:ext cx="3010781" cy="2229874"/>
            <a:chOff x="0" y="0"/>
            <a:chExt cx="4014375" cy="297316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324120" y="0"/>
              <a:ext cx="3366134" cy="2378787"/>
              <a:chOff x="0" y="0"/>
              <a:chExt cx="4161052" cy="294054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161051" cy="2940542"/>
              </a:xfrm>
              <a:custGeom>
                <a:avLst/>
                <a:gdLst/>
                <a:ahLst/>
                <a:cxnLst/>
                <a:rect r="r" b="b" t="t" l="l"/>
                <a:pathLst>
                  <a:path h="2940542" w="4161051">
                    <a:moveTo>
                      <a:pt x="0" y="0"/>
                    </a:moveTo>
                    <a:lnTo>
                      <a:pt x="4161051" y="0"/>
                    </a:lnTo>
                    <a:lnTo>
                      <a:pt x="4161051" y="2940542"/>
                    </a:lnTo>
                    <a:lnTo>
                      <a:pt x="0" y="294054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4161052" cy="29691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2362754"/>
              <a:ext cx="4014375" cy="610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7"/>
                </a:lnSpc>
                <a:spcBef>
                  <a:spcPct val="0"/>
                </a:spcBef>
              </a:pPr>
              <a:r>
                <a:rPr lang="en-US" b="true" sz="2847" spc="-48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워커 노드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797063" y="594377"/>
              <a:ext cx="1210124" cy="1172972"/>
            </a:xfrm>
            <a:custGeom>
              <a:avLst/>
              <a:gdLst/>
              <a:ahLst/>
              <a:cxnLst/>
              <a:rect r="r" b="b" t="t" l="l"/>
              <a:pathLst>
                <a:path h="1172972" w="1210124">
                  <a:moveTo>
                    <a:pt x="0" y="0"/>
                  </a:moveTo>
                  <a:lnTo>
                    <a:pt x="1210124" y="0"/>
                  </a:lnTo>
                  <a:lnTo>
                    <a:pt x="1210124" y="1172972"/>
                  </a:lnTo>
                  <a:lnTo>
                    <a:pt x="0" y="1172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07187" y="594377"/>
              <a:ext cx="1210124" cy="1172972"/>
            </a:xfrm>
            <a:custGeom>
              <a:avLst/>
              <a:gdLst/>
              <a:ahLst/>
              <a:cxnLst/>
              <a:rect r="r" b="b" t="t" l="l"/>
              <a:pathLst>
                <a:path h="1172972" w="1210124">
                  <a:moveTo>
                    <a:pt x="0" y="0"/>
                  </a:moveTo>
                  <a:lnTo>
                    <a:pt x="1210125" y="0"/>
                  </a:lnTo>
                  <a:lnTo>
                    <a:pt x="1210125" y="1172972"/>
                  </a:lnTo>
                  <a:lnTo>
                    <a:pt x="0" y="1172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23911" y="4573918"/>
            <a:ext cx="3010781" cy="2229874"/>
            <a:chOff x="0" y="0"/>
            <a:chExt cx="4014375" cy="297316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324120" y="0"/>
              <a:ext cx="3366134" cy="2378787"/>
              <a:chOff x="0" y="0"/>
              <a:chExt cx="4161052" cy="294054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161051" cy="2940542"/>
              </a:xfrm>
              <a:custGeom>
                <a:avLst/>
                <a:gdLst/>
                <a:ahLst/>
                <a:cxnLst/>
                <a:rect r="r" b="b" t="t" l="l"/>
                <a:pathLst>
                  <a:path h="2940542" w="4161051">
                    <a:moveTo>
                      <a:pt x="0" y="0"/>
                    </a:moveTo>
                    <a:lnTo>
                      <a:pt x="4161051" y="0"/>
                    </a:lnTo>
                    <a:lnTo>
                      <a:pt x="4161051" y="2940542"/>
                    </a:lnTo>
                    <a:lnTo>
                      <a:pt x="0" y="294054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4161052" cy="29691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2362754"/>
              <a:ext cx="4014375" cy="610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7"/>
                </a:lnSpc>
                <a:spcBef>
                  <a:spcPct val="0"/>
                </a:spcBef>
              </a:pPr>
              <a:r>
                <a:rPr lang="en-US" b="true" sz="2847" spc="-48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워커 노드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797063" y="594377"/>
              <a:ext cx="1210124" cy="1172972"/>
            </a:xfrm>
            <a:custGeom>
              <a:avLst/>
              <a:gdLst/>
              <a:ahLst/>
              <a:cxnLst/>
              <a:rect r="r" b="b" t="t" l="l"/>
              <a:pathLst>
                <a:path h="1172972" w="1210124">
                  <a:moveTo>
                    <a:pt x="0" y="0"/>
                  </a:moveTo>
                  <a:lnTo>
                    <a:pt x="1210124" y="0"/>
                  </a:lnTo>
                  <a:lnTo>
                    <a:pt x="1210124" y="1172972"/>
                  </a:lnTo>
                  <a:lnTo>
                    <a:pt x="0" y="1172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007187" y="594377"/>
              <a:ext cx="1210124" cy="1172972"/>
            </a:xfrm>
            <a:custGeom>
              <a:avLst/>
              <a:gdLst/>
              <a:ahLst/>
              <a:cxnLst/>
              <a:rect r="r" b="b" t="t" l="l"/>
              <a:pathLst>
                <a:path h="1172972" w="1210124">
                  <a:moveTo>
                    <a:pt x="0" y="0"/>
                  </a:moveTo>
                  <a:lnTo>
                    <a:pt x="1210125" y="0"/>
                  </a:lnTo>
                  <a:lnTo>
                    <a:pt x="1210125" y="1172972"/>
                  </a:lnTo>
                  <a:lnTo>
                    <a:pt x="0" y="1172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123911" y="7022866"/>
            <a:ext cx="3010781" cy="2229874"/>
            <a:chOff x="0" y="0"/>
            <a:chExt cx="4014375" cy="2973165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324120" y="0"/>
              <a:ext cx="3366134" cy="2378787"/>
              <a:chOff x="0" y="0"/>
              <a:chExt cx="4161052" cy="294054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161051" cy="2940542"/>
              </a:xfrm>
              <a:custGeom>
                <a:avLst/>
                <a:gdLst/>
                <a:ahLst/>
                <a:cxnLst/>
                <a:rect r="r" b="b" t="t" l="l"/>
                <a:pathLst>
                  <a:path h="2940542" w="4161051">
                    <a:moveTo>
                      <a:pt x="0" y="0"/>
                    </a:moveTo>
                    <a:lnTo>
                      <a:pt x="4161051" y="0"/>
                    </a:lnTo>
                    <a:lnTo>
                      <a:pt x="4161051" y="2940542"/>
                    </a:lnTo>
                    <a:lnTo>
                      <a:pt x="0" y="294054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4161052" cy="29691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2362754"/>
              <a:ext cx="4014375" cy="610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7"/>
                </a:lnSpc>
                <a:spcBef>
                  <a:spcPct val="0"/>
                </a:spcBef>
              </a:pPr>
              <a:r>
                <a:rPr lang="en-US" b="true" sz="2847" spc="-48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워커 노드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797063" y="594377"/>
              <a:ext cx="1210124" cy="1172972"/>
            </a:xfrm>
            <a:custGeom>
              <a:avLst/>
              <a:gdLst/>
              <a:ahLst/>
              <a:cxnLst/>
              <a:rect r="r" b="b" t="t" l="l"/>
              <a:pathLst>
                <a:path h="1172972" w="1210124">
                  <a:moveTo>
                    <a:pt x="0" y="0"/>
                  </a:moveTo>
                  <a:lnTo>
                    <a:pt x="1210124" y="0"/>
                  </a:lnTo>
                  <a:lnTo>
                    <a:pt x="1210124" y="1172972"/>
                  </a:lnTo>
                  <a:lnTo>
                    <a:pt x="0" y="1172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007187" y="594377"/>
              <a:ext cx="1210124" cy="1172972"/>
            </a:xfrm>
            <a:custGeom>
              <a:avLst/>
              <a:gdLst/>
              <a:ahLst/>
              <a:cxnLst/>
              <a:rect r="r" b="b" t="t" l="l"/>
              <a:pathLst>
                <a:path h="1172972" w="1210124">
                  <a:moveTo>
                    <a:pt x="0" y="0"/>
                  </a:moveTo>
                  <a:lnTo>
                    <a:pt x="1210125" y="0"/>
                  </a:lnTo>
                  <a:lnTo>
                    <a:pt x="1210125" y="1172972"/>
                  </a:lnTo>
                  <a:lnTo>
                    <a:pt x="0" y="1172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709161" y="4418688"/>
            <a:ext cx="3010781" cy="2385103"/>
            <a:chOff x="0" y="0"/>
            <a:chExt cx="4014375" cy="318013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276108" y="0"/>
              <a:ext cx="3690254" cy="2518928"/>
              <a:chOff x="0" y="0"/>
              <a:chExt cx="4561714" cy="311377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561713" cy="3113776"/>
              </a:xfrm>
              <a:custGeom>
                <a:avLst/>
                <a:gdLst/>
                <a:ahLst/>
                <a:cxnLst/>
                <a:rect r="r" b="b" t="t" l="l"/>
                <a:pathLst>
                  <a:path h="3113776" w="4561713">
                    <a:moveTo>
                      <a:pt x="0" y="0"/>
                    </a:moveTo>
                    <a:lnTo>
                      <a:pt x="4561713" y="0"/>
                    </a:lnTo>
                    <a:lnTo>
                      <a:pt x="4561713" y="3113776"/>
                    </a:lnTo>
                    <a:lnTo>
                      <a:pt x="0" y="311377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4561714" cy="3142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2569728"/>
              <a:ext cx="4014375" cy="610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7"/>
                </a:lnSpc>
                <a:spcBef>
                  <a:spcPct val="0"/>
                </a:spcBef>
              </a:pPr>
              <a:r>
                <a:rPr lang="en-US" b="true" sz="2847" spc="-48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마스터 노드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2218602" y="187566"/>
              <a:ext cx="1526686" cy="1002755"/>
              <a:chOff x="0" y="0"/>
              <a:chExt cx="1887216" cy="123955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887216" cy="1239558"/>
              </a:xfrm>
              <a:custGeom>
                <a:avLst/>
                <a:gdLst/>
                <a:ahLst/>
                <a:cxnLst/>
                <a:rect r="r" b="b" t="t" l="l"/>
                <a:pathLst>
                  <a:path h="1239558" w="1887216">
                    <a:moveTo>
                      <a:pt x="0" y="0"/>
                    </a:moveTo>
                    <a:lnTo>
                      <a:pt x="1887216" y="0"/>
                    </a:lnTo>
                    <a:lnTo>
                      <a:pt x="1887216" y="1239558"/>
                    </a:lnTo>
                    <a:lnTo>
                      <a:pt x="0" y="123955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1887216" cy="1268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  <a:r>
                  <a:rPr lang="en-US" b="true" sz="1652" spc="-28">
                    <a:solidFill>
                      <a:srgbClr val="222222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ETCD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450868" y="165695"/>
              <a:ext cx="1569020" cy="1046497"/>
              <a:chOff x="0" y="0"/>
              <a:chExt cx="1939546" cy="12936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939546" cy="1293629"/>
              </a:xfrm>
              <a:custGeom>
                <a:avLst/>
                <a:gdLst/>
                <a:ahLst/>
                <a:cxnLst/>
                <a:rect r="r" b="b" t="t" l="l"/>
                <a:pathLst>
                  <a:path h="1293629" w="1939546">
                    <a:moveTo>
                      <a:pt x="0" y="0"/>
                    </a:moveTo>
                    <a:lnTo>
                      <a:pt x="1939546" y="0"/>
                    </a:lnTo>
                    <a:lnTo>
                      <a:pt x="1939546" y="1293629"/>
                    </a:lnTo>
                    <a:lnTo>
                      <a:pt x="0" y="129362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28575"/>
                <a:ext cx="1939546" cy="13222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  <a:r>
                  <a:rPr lang="en-US" b="true" sz="1652" spc="-28">
                    <a:solidFill>
                      <a:srgbClr val="222222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API Server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438168" y="1291434"/>
              <a:ext cx="1611353" cy="1046497"/>
              <a:chOff x="0" y="0"/>
              <a:chExt cx="1991876" cy="1293629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991876" cy="1293629"/>
              </a:xfrm>
              <a:custGeom>
                <a:avLst/>
                <a:gdLst/>
                <a:ahLst/>
                <a:cxnLst/>
                <a:rect r="r" b="b" t="t" l="l"/>
                <a:pathLst>
                  <a:path h="1293629" w="1991876">
                    <a:moveTo>
                      <a:pt x="0" y="0"/>
                    </a:moveTo>
                    <a:lnTo>
                      <a:pt x="1991876" y="0"/>
                    </a:lnTo>
                    <a:lnTo>
                      <a:pt x="1991876" y="1293629"/>
                    </a:lnTo>
                    <a:lnTo>
                      <a:pt x="0" y="129362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28575"/>
                <a:ext cx="1991876" cy="13222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  <a:r>
                  <a:rPr lang="en-US" b="true" sz="1652" spc="-28">
                    <a:solidFill>
                      <a:srgbClr val="222222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Controller Manager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2176268" y="1322476"/>
              <a:ext cx="1611353" cy="1002755"/>
              <a:chOff x="0" y="0"/>
              <a:chExt cx="1991876" cy="1239558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991876" cy="1239558"/>
              </a:xfrm>
              <a:custGeom>
                <a:avLst/>
                <a:gdLst/>
                <a:ahLst/>
                <a:cxnLst/>
                <a:rect r="r" b="b" t="t" l="l"/>
                <a:pathLst>
                  <a:path h="1239558" w="1991876">
                    <a:moveTo>
                      <a:pt x="0" y="0"/>
                    </a:moveTo>
                    <a:lnTo>
                      <a:pt x="1991876" y="0"/>
                    </a:lnTo>
                    <a:lnTo>
                      <a:pt x="1991876" y="1239558"/>
                    </a:lnTo>
                    <a:lnTo>
                      <a:pt x="0" y="123955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28575"/>
                <a:ext cx="1991876" cy="1268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  <a:r>
                  <a:rPr lang="en-US" b="true" sz="1652" spc="-28">
                    <a:solidFill>
                      <a:srgbClr val="222222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Scheduler</a:t>
                </a:r>
              </a:p>
            </p:txBody>
          </p:sp>
        </p:grpSp>
      </p:grpSp>
      <p:sp>
        <p:nvSpPr>
          <p:cNvPr name="TextBox 44" id="44"/>
          <p:cNvSpPr txBox="true"/>
          <p:nvPr/>
        </p:nvSpPr>
        <p:spPr>
          <a:xfrm rot="0">
            <a:off x="2654402" y="1801565"/>
            <a:ext cx="3471896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쿠버네티스 클러스터</a:t>
            </a:r>
          </a:p>
        </p:txBody>
      </p:sp>
      <p:sp>
        <p:nvSpPr>
          <p:cNvPr name="AutoShape 45" id="45"/>
          <p:cNvSpPr/>
          <p:nvPr/>
        </p:nvSpPr>
        <p:spPr>
          <a:xfrm flipV="true">
            <a:off x="7719942" y="5459061"/>
            <a:ext cx="2389224" cy="2517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V="true">
            <a:off x="7719942" y="3193578"/>
            <a:ext cx="2389023" cy="11591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7719942" y="6341224"/>
            <a:ext cx="2516251" cy="14601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10694741" y="775984"/>
            <a:ext cx="3471896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노드 = 머신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405931"/>
            <a:ext cx="11301259" cy="3475137"/>
          </a:xfrm>
          <a:custGeom>
            <a:avLst/>
            <a:gdLst/>
            <a:ahLst/>
            <a:cxnLst/>
            <a:rect r="r" b="b" t="t" l="l"/>
            <a:pathLst>
              <a:path h="3475137" w="11301259">
                <a:moveTo>
                  <a:pt x="0" y="0"/>
                </a:moveTo>
                <a:lnTo>
                  <a:pt x="11301258" y="0"/>
                </a:lnTo>
                <a:lnTo>
                  <a:pt x="11301258" y="3475138"/>
                </a:lnTo>
                <a:lnTo>
                  <a:pt x="0" y="3475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65703"/>
            <a:ext cx="8115300" cy="61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0"/>
              </a:lnSpc>
            </a:pPr>
            <a:r>
              <a:rPr lang="en-US" sz="5219" spc="-88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Kubernetes 아키텍처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40243" y="3114249"/>
            <a:ext cx="2743090" cy="47852"/>
            <a:chOff x="0" y="0"/>
            <a:chExt cx="722460" cy="126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2460" cy="12603"/>
            </a:xfrm>
            <a:custGeom>
              <a:avLst/>
              <a:gdLst/>
              <a:ahLst/>
              <a:cxnLst/>
              <a:rect r="r" b="b" t="t" l="l"/>
              <a:pathLst>
                <a:path h="12603" w="722460">
                  <a:moveTo>
                    <a:pt x="0" y="0"/>
                  </a:moveTo>
                  <a:lnTo>
                    <a:pt x="722460" y="0"/>
                  </a:lnTo>
                  <a:lnTo>
                    <a:pt x="722460" y="12603"/>
                  </a:lnTo>
                  <a:lnTo>
                    <a:pt x="0" y="12603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22460" cy="41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57388" y="678497"/>
            <a:ext cx="9632555" cy="46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4086" spc="-69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쿠버네티스 클러스터 on Local Machine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76690" y="2312471"/>
            <a:ext cx="2238003" cy="71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9"/>
              </a:lnSpc>
              <a:spcBef>
                <a:spcPct val="0"/>
              </a:spcBef>
            </a:pPr>
            <a:r>
              <a:rPr lang="en-US" sz="4232" spc="-7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Minikube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0483" y="2312471"/>
            <a:ext cx="2349475" cy="71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9"/>
              </a:lnSpc>
              <a:spcBef>
                <a:spcPct val="0"/>
              </a:spcBef>
            </a:pPr>
            <a:r>
              <a:rPr lang="en-US" sz="4232" spc="-7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Kubeadm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7313" y="4432330"/>
            <a:ext cx="1089645" cy="71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9"/>
              </a:lnSpc>
              <a:spcBef>
                <a:spcPct val="0"/>
              </a:spcBef>
            </a:pPr>
            <a:r>
              <a:rPr lang="en-US" sz="4232" spc="-7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24799" y="4432330"/>
            <a:ext cx="1007938" cy="71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9"/>
              </a:lnSpc>
              <a:spcBef>
                <a:spcPct val="0"/>
              </a:spcBef>
            </a:pPr>
            <a:r>
              <a:rPr lang="en-US" sz="4232" spc="-7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K3S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73676" y="3138175"/>
            <a:ext cx="2743090" cy="47852"/>
            <a:chOff x="0" y="0"/>
            <a:chExt cx="722460" cy="126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2460" cy="12603"/>
            </a:xfrm>
            <a:custGeom>
              <a:avLst/>
              <a:gdLst/>
              <a:ahLst/>
              <a:cxnLst/>
              <a:rect r="r" b="b" t="t" l="l"/>
              <a:pathLst>
                <a:path h="12603" w="722460">
                  <a:moveTo>
                    <a:pt x="0" y="0"/>
                  </a:moveTo>
                  <a:lnTo>
                    <a:pt x="722460" y="0"/>
                  </a:lnTo>
                  <a:lnTo>
                    <a:pt x="722460" y="12603"/>
                  </a:lnTo>
                  <a:lnTo>
                    <a:pt x="0" y="12603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722460" cy="41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432160" y="3172250"/>
            <a:ext cx="1482844" cy="49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6"/>
              </a:lnSpc>
              <a:spcBef>
                <a:spcPct val="0"/>
              </a:spcBef>
            </a:pPr>
            <a:r>
              <a:rPr lang="en-US" sz="3012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단일 노드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48843" y="3280964"/>
            <a:ext cx="2656194" cy="424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580" spc="-4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다중 노드 구성 가능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55262" y="4432330"/>
            <a:ext cx="2586038" cy="71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9"/>
              </a:lnSpc>
              <a:spcBef>
                <a:spcPct val="0"/>
              </a:spcBef>
            </a:pPr>
            <a:r>
              <a:rPr lang="en-US" sz="4232" spc="-7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kubespray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7128"/>
            <a:ext cx="6353457" cy="46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4086" spc="-69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minikube 설치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7444" y="3439975"/>
            <a:ext cx="5778352" cy="3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  <a:spcBef>
                <a:spcPct val="0"/>
              </a:spcBef>
            </a:pPr>
            <a:r>
              <a:rPr lang="en-US" b="true" sz="2046" spc="-3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관리자 권한으로 PowerShell을 열고 다음 명령을 실행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4600" y="3870387"/>
            <a:ext cx="13254799" cy="94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8"/>
              </a:lnSpc>
              <a:spcBef>
                <a:spcPct val="0"/>
              </a:spcBef>
            </a:pPr>
            <a:r>
              <a:rPr lang="en-US" sz="1871" spc="-3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Set-ExecutionPolicy Bypass -Scope Process -Force; `</a:t>
            </a:r>
          </a:p>
          <a:p>
            <a:pPr algn="just">
              <a:lnSpc>
                <a:spcPts val="2488"/>
              </a:lnSpc>
              <a:spcBef>
                <a:spcPct val="0"/>
              </a:spcBef>
            </a:pPr>
            <a:r>
              <a:rPr lang="en-US" sz="1871" spc="-3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[System.Net.ServicePointManager]::SecurityProtocol = [System.Net.ServicePointManager]::SecurityProtocol -bor 3072; `</a:t>
            </a:r>
          </a:p>
          <a:p>
            <a:pPr algn="just">
              <a:lnSpc>
                <a:spcPts val="2488"/>
              </a:lnSpc>
              <a:spcBef>
                <a:spcPct val="0"/>
              </a:spcBef>
            </a:pPr>
            <a:r>
              <a:rPr lang="en-US" sz="1871" spc="-3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iex ((New-Object System.Net.WebClient).DownloadString('https://community.chocolatey.org/install.ps1'))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6704" y="5225673"/>
            <a:ext cx="1665599" cy="3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  <a:spcBef>
                <a:spcPct val="0"/>
              </a:spcBef>
            </a:pPr>
            <a:r>
              <a:rPr lang="en-US" b="true" sz="2046" spc="-3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Minikube 설치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4040" y="5705612"/>
            <a:ext cx="2623078" cy="3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  <a:spcBef>
                <a:spcPct val="0"/>
              </a:spcBef>
            </a:pPr>
            <a:r>
              <a:rPr lang="en-US" sz="2046" spc="-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choco install minikube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6704" y="6471142"/>
            <a:ext cx="1665982" cy="34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  <a:spcBef>
                <a:spcPct val="0"/>
              </a:spcBef>
            </a:pPr>
            <a:r>
              <a:rPr lang="en-US" b="true" sz="2046" spc="-3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Minikube 시작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3807" y="6951706"/>
            <a:ext cx="3669242" cy="3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  <a:spcBef>
                <a:spcPct val="0"/>
              </a:spcBef>
            </a:pPr>
            <a:r>
              <a:rPr lang="en-US" sz="2046" spc="-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minikube start --driver=docker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704" y="1720793"/>
            <a:ext cx="11028330" cy="110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  <a:spcBef>
                <a:spcPct val="0"/>
              </a:spcBef>
            </a:pPr>
            <a:r>
              <a:rPr lang="en-US" sz="1652" spc="-2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Minikube는 가상 머신에서 Kubernetes 클러스터를 실행합니다. Windows에서 사용할 수 있는 하이퍼바이저는 다음과 같습니다.</a:t>
            </a:r>
          </a:p>
          <a:p>
            <a:pPr algn="l">
              <a:lnSpc>
                <a:spcPts val="2197"/>
              </a:lnSpc>
              <a:spcBef>
                <a:spcPct val="0"/>
              </a:spcBef>
            </a:pPr>
            <a:r>
              <a:rPr lang="en-US" sz="1652" spc="-2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- Hyper-V (Windows 10 Pro, Enterprise 또는 Education에서 사용 가능)</a:t>
            </a:r>
          </a:p>
          <a:p>
            <a:pPr algn="l">
              <a:lnSpc>
                <a:spcPts val="2197"/>
              </a:lnSpc>
              <a:spcBef>
                <a:spcPct val="0"/>
              </a:spcBef>
            </a:pPr>
            <a:r>
              <a:rPr lang="en-US" sz="1652" spc="-2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- VirtualBox</a:t>
            </a:r>
          </a:p>
          <a:p>
            <a:pPr algn="l">
              <a:lnSpc>
                <a:spcPts val="2197"/>
              </a:lnSpc>
              <a:spcBef>
                <a:spcPct val="0"/>
              </a:spcBef>
            </a:pPr>
            <a:r>
              <a:rPr lang="en-US" sz="1652" spc="-2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- WSL2 (Windows Subsystem for Linux 2)도 사용 가능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65126" y="4416934"/>
            <a:ext cx="6325661" cy="72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1"/>
              </a:lnSpc>
            </a:pPr>
            <a:r>
              <a:rPr lang="en-US" sz="6232" spc="-105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2. 파드와 서비스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17437" y="5043879"/>
            <a:ext cx="5353994" cy="3320582"/>
            <a:chOff x="0" y="0"/>
            <a:chExt cx="8824463" cy="5472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24464" cy="5472990"/>
            </a:xfrm>
            <a:custGeom>
              <a:avLst/>
              <a:gdLst/>
              <a:ahLst/>
              <a:cxnLst/>
              <a:rect r="r" b="b" t="t" l="l"/>
              <a:pathLst>
                <a:path h="5472990" w="8824464">
                  <a:moveTo>
                    <a:pt x="0" y="0"/>
                  </a:moveTo>
                  <a:lnTo>
                    <a:pt x="8824464" y="0"/>
                  </a:lnTo>
                  <a:lnTo>
                    <a:pt x="8824464" y="5472990"/>
                  </a:lnTo>
                  <a:lnTo>
                    <a:pt x="0" y="5472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824463" cy="550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51344" y="4472757"/>
            <a:ext cx="1227437" cy="1189753"/>
          </a:xfrm>
          <a:custGeom>
            <a:avLst/>
            <a:gdLst/>
            <a:ahLst/>
            <a:cxnLst/>
            <a:rect r="r" b="b" t="t" l="l"/>
            <a:pathLst>
              <a:path h="1189753" w="1227437">
                <a:moveTo>
                  <a:pt x="0" y="0"/>
                </a:moveTo>
                <a:lnTo>
                  <a:pt x="1227437" y="0"/>
                </a:lnTo>
                <a:lnTo>
                  <a:pt x="1227437" y="1189753"/>
                </a:lnTo>
                <a:lnTo>
                  <a:pt x="0" y="1189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60650" y="5134308"/>
            <a:ext cx="667569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7"/>
              </a:lnSpc>
              <a:spcBef>
                <a:spcPct val="0"/>
              </a:spcBef>
            </a:pPr>
            <a:r>
              <a:rPr lang="en-US" b="true" sz="2847" spc="-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32134" y="5812124"/>
            <a:ext cx="2524600" cy="1784091"/>
            <a:chOff x="0" y="0"/>
            <a:chExt cx="4161052" cy="29405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61051" cy="2940542"/>
            </a:xfrm>
            <a:custGeom>
              <a:avLst/>
              <a:gdLst/>
              <a:ahLst/>
              <a:cxnLst/>
              <a:rect r="r" b="b" t="t" l="l"/>
              <a:pathLst>
                <a:path h="2940542" w="4161051">
                  <a:moveTo>
                    <a:pt x="0" y="0"/>
                  </a:moveTo>
                  <a:lnTo>
                    <a:pt x="4161051" y="0"/>
                  </a:lnTo>
                  <a:lnTo>
                    <a:pt x="4161051" y="2940542"/>
                  </a:lnTo>
                  <a:lnTo>
                    <a:pt x="0" y="29405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161052" cy="2969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761252" y="6109293"/>
            <a:ext cx="1466364" cy="1138589"/>
          </a:xfrm>
          <a:custGeom>
            <a:avLst/>
            <a:gdLst/>
            <a:ahLst/>
            <a:cxnLst/>
            <a:rect r="r" b="b" t="t" l="l"/>
            <a:pathLst>
              <a:path h="1138589" w="1466364">
                <a:moveTo>
                  <a:pt x="0" y="0"/>
                </a:moveTo>
                <a:lnTo>
                  <a:pt x="1466364" y="0"/>
                </a:lnTo>
                <a:lnTo>
                  <a:pt x="1466364" y="1138589"/>
                </a:lnTo>
                <a:lnTo>
                  <a:pt x="0" y="1138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0442" y="678113"/>
            <a:ext cx="6754615" cy="50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파드(Pod)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0442" y="1352188"/>
            <a:ext cx="12701606" cy="208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514" indent="-336757" lvl="1">
              <a:lnSpc>
                <a:spcPts val="4149"/>
              </a:lnSpc>
              <a:buFont typeface="Arial"/>
              <a:buChar char="•"/>
            </a:pPr>
            <a:r>
              <a:rPr lang="en-US" sz="3119" spc="-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쿠버네티스에서 Pod는 가장 작은 단위</a:t>
            </a:r>
          </a:p>
          <a:p>
            <a:pPr algn="l" marL="673514" indent="-336757" lvl="1">
              <a:lnSpc>
                <a:spcPts val="4149"/>
              </a:lnSpc>
              <a:buFont typeface="Arial"/>
              <a:buChar char="•"/>
            </a:pPr>
            <a:r>
              <a:rPr lang="en-US" sz="3119" spc="-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Pod는 네트워크, 스토리지 등의 리소스를 공유하는 컨테이너의 논리적 단위</a:t>
            </a:r>
          </a:p>
          <a:p>
            <a:pPr algn="l" marL="673514" indent="-336757" lvl="1">
              <a:lnSpc>
                <a:spcPts val="4149"/>
              </a:lnSpc>
              <a:buFont typeface="Arial"/>
              <a:buChar char="•"/>
            </a:pPr>
            <a:r>
              <a:rPr lang="en-US" sz="3119" spc="-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Pod는 컨테이너의 Wrapper !</a:t>
            </a:r>
          </a:p>
          <a:p>
            <a:pPr algn="l" marL="673514" indent="-336757" lvl="1">
              <a:lnSpc>
                <a:spcPts val="4149"/>
              </a:lnSpc>
              <a:buFont typeface="Arial"/>
              <a:buChar char="•"/>
            </a:pPr>
            <a:r>
              <a:rPr lang="en-US" sz="3119" spc="-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일반적으로 Pod와 컨테이너는 1:1 관계에 있음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6357" y="3492251"/>
            <a:ext cx="9043723" cy="4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sz="2919" spc="-49">
                <a:solidFill>
                  <a:srgbClr val="0C9855"/>
                </a:solidFill>
                <a:latin typeface="Inter"/>
                <a:ea typeface="Inter"/>
                <a:cs typeface="Inter"/>
                <a:sym typeface="Inter"/>
              </a:rPr>
              <a:t>※ </a:t>
            </a:r>
            <a:r>
              <a:rPr lang="en-US" sz="2919" spc="-49">
                <a:solidFill>
                  <a:srgbClr val="0C9855"/>
                </a:solidFill>
                <a:latin typeface="Inter"/>
                <a:ea typeface="Inter"/>
                <a:cs typeface="Inter"/>
                <a:sym typeface="Inter"/>
              </a:rPr>
              <a:t>물론, 예외적으로 다중 컨테이너를 구축하는 경우도 있긴함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196403" y="5734480"/>
            <a:ext cx="5184259" cy="2020157"/>
            <a:chOff x="0" y="0"/>
            <a:chExt cx="14045143" cy="54729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045143" cy="5472990"/>
            </a:xfrm>
            <a:custGeom>
              <a:avLst/>
              <a:gdLst/>
              <a:ahLst/>
              <a:cxnLst/>
              <a:rect r="r" b="b" t="t" l="l"/>
              <a:pathLst>
                <a:path h="5472990" w="14045143">
                  <a:moveTo>
                    <a:pt x="0" y="0"/>
                  </a:moveTo>
                  <a:lnTo>
                    <a:pt x="14045143" y="0"/>
                  </a:lnTo>
                  <a:lnTo>
                    <a:pt x="14045143" y="5472990"/>
                  </a:lnTo>
                  <a:lnTo>
                    <a:pt x="0" y="5472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045143" cy="550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852006" y="5387025"/>
            <a:ext cx="746741" cy="723815"/>
          </a:xfrm>
          <a:custGeom>
            <a:avLst/>
            <a:gdLst/>
            <a:ahLst/>
            <a:cxnLst/>
            <a:rect r="r" b="b" t="t" l="l"/>
            <a:pathLst>
              <a:path h="723815" w="746741">
                <a:moveTo>
                  <a:pt x="0" y="0"/>
                </a:moveTo>
                <a:lnTo>
                  <a:pt x="746741" y="0"/>
                </a:lnTo>
                <a:lnTo>
                  <a:pt x="746741" y="723815"/>
                </a:lnTo>
                <a:lnTo>
                  <a:pt x="0" y="723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677230" y="5829981"/>
            <a:ext cx="406132" cy="28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  <a:spcBef>
                <a:spcPct val="0"/>
              </a:spcBef>
            </a:pPr>
            <a:r>
              <a:rPr lang="en-US" b="true" sz="1732" spc="-2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57068" y="6201862"/>
            <a:ext cx="1535902" cy="1085395"/>
            <a:chOff x="0" y="0"/>
            <a:chExt cx="4161052" cy="29405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61051" cy="2940542"/>
            </a:xfrm>
            <a:custGeom>
              <a:avLst/>
              <a:gdLst/>
              <a:ahLst/>
              <a:cxnLst/>
              <a:rect r="r" b="b" t="t" l="l"/>
              <a:pathLst>
                <a:path h="2940542" w="4161051">
                  <a:moveTo>
                    <a:pt x="0" y="0"/>
                  </a:moveTo>
                  <a:lnTo>
                    <a:pt x="4161051" y="0"/>
                  </a:lnTo>
                  <a:lnTo>
                    <a:pt x="4161051" y="2940542"/>
                  </a:lnTo>
                  <a:lnTo>
                    <a:pt x="0" y="29405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4161052" cy="2969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2378970" y="6382652"/>
            <a:ext cx="892098" cy="692688"/>
          </a:xfrm>
          <a:custGeom>
            <a:avLst/>
            <a:gdLst/>
            <a:ahLst/>
            <a:cxnLst/>
            <a:rect r="r" b="b" t="t" l="l"/>
            <a:pathLst>
              <a:path h="692688" w="892098">
                <a:moveTo>
                  <a:pt x="0" y="0"/>
                </a:moveTo>
                <a:lnTo>
                  <a:pt x="892099" y="0"/>
                </a:lnTo>
                <a:lnTo>
                  <a:pt x="892099" y="692688"/>
                </a:lnTo>
                <a:lnTo>
                  <a:pt x="0" y="692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4170570" y="6201862"/>
            <a:ext cx="1535902" cy="1085395"/>
            <a:chOff x="0" y="0"/>
            <a:chExt cx="4161052" cy="29405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61051" cy="2940542"/>
            </a:xfrm>
            <a:custGeom>
              <a:avLst/>
              <a:gdLst/>
              <a:ahLst/>
              <a:cxnLst/>
              <a:rect r="r" b="b" t="t" l="l"/>
              <a:pathLst>
                <a:path h="2940542" w="4161051">
                  <a:moveTo>
                    <a:pt x="0" y="0"/>
                  </a:moveTo>
                  <a:lnTo>
                    <a:pt x="4161051" y="0"/>
                  </a:lnTo>
                  <a:lnTo>
                    <a:pt x="4161051" y="2940542"/>
                  </a:lnTo>
                  <a:lnTo>
                    <a:pt x="0" y="29405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161052" cy="2969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4492472" y="6382652"/>
            <a:ext cx="892098" cy="692688"/>
          </a:xfrm>
          <a:custGeom>
            <a:avLst/>
            <a:gdLst/>
            <a:ahLst/>
            <a:cxnLst/>
            <a:rect r="r" b="b" t="t" l="l"/>
            <a:pathLst>
              <a:path h="692688" w="892098">
                <a:moveTo>
                  <a:pt x="0" y="0"/>
                </a:moveTo>
                <a:lnTo>
                  <a:pt x="892098" y="0"/>
                </a:lnTo>
                <a:lnTo>
                  <a:pt x="892098" y="692688"/>
                </a:lnTo>
                <a:lnTo>
                  <a:pt x="0" y="692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885975" y="7287033"/>
            <a:ext cx="2210807" cy="28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  <a:spcBef>
                <a:spcPct val="0"/>
              </a:spcBef>
            </a:pPr>
            <a:r>
              <a:rPr lang="en-US" b="true" sz="1732" spc="-2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Helper Container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19616" y="7287033"/>
            <a:ext cx="2210807" cy="28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  <a:spcBef>
                <a:spcPct val="0"/>
              </a:spcBef>
            </a:pPr>
            <a:r>
              <a:rPr lang="en-US" b="true" sz="1732" spc="-2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Main Container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25032" y="7954663"/>
            <a:ext cx="3010781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7"/>
              </a:lnSpc>
              <a:spcBef>
                <a:spcPct val="0"/>
              </a:spcBef>
            </a:pPr>
            <a:r>
              <a:rPr lang="en-US" b="true" sz="2847" spc="-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 파드 N 컨테이너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19908" y="8459711"/>
            <a:ext cx="3010781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7"/>
              </a:lnSpc>
              <a:spcBef>
                <a:spcPct val="0"/>
              </a:spcBef>
            </a:pPr>
            <a:r>
              <a:rPr lang="en-US" b="true" sz="2847" spc="-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 파드 1 컨테이너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7128"/>
            <a:ext cx="6754615" cy="50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파드(Pod)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9836" y="759558"/>
            <a:ext cx="9996910" cy="42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3529" spc="-60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파드(Pod) 생성 명령을 주는 방법 (직접 파드 생성)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9836" y="1433930"/>
            <a:ext cx="5085321" cy="101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794" indent="-330397" lvl="1">
              <a:lnSpc>
                <a:spcPts val="4070"/>
              </a:lnSpc>
              <a:buFont typeface="Arial"/>
              <a:buChar char="•"/>
            </a:pPr>
            <a:r>
              <a:rPr lang="en-US" sz="3060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kubectl에게 직접 명령 전달</a:t>
            </a:r>
          </a:p>
          <a:p>
            <a:pPr algn="l" marL="660794" indent="-330397" lvl="1">
              <a:lnSpc>
                <a:spcPts val="4070"/>
              </a:lnSpc>
              <a:buFont typeface="Arial"/>
              <a:buChar char="•"/>
            </a:pPr>
            <a:r>
              <a:rPr lang="en-US" sz="3060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메니페스트 파일 작성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5535" y="3937502"/>
            <a:ext cx="12488826" cy="45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4"/>
              </a:lnSpc>
              <a:spcBef>
                <a:spcPct val="0"/>
              </a:spcBef>
            </a:pPr>
            <a:r>
              <a:rPr lang="en-US" sz="2777" spc="-4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일반적으로 파드는 직접 생성하지는 않으며, 대신 워크로드 리소스를 사용하여 생성한다.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9836" y="3034902"/>
            <a:ext cx="1457992" cy="70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6"/>
              </a:lnSpc>
              <a:spcBef>
                <a:spcPct val="0"/>
              </a:spcBef>
            </a:pPr>
            <a:r>
              <a:rPr lang="en-US" b="true" sz="4238" spc="-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그러나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9836" y="4757524"/>
            <a:ext cx="971995" cy="70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6"/>
              </a:lnSpc>
              <a:spcBef>
                <a:spcPct val="0"/>
              </a:spcBef>
            </a:pPr>
            <a:r>
              <a:rPr lang="en-US" b="true" sz="4238" spc="-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대신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0276" y="5662826"/>
            <a:ext cx="15932776" cy="134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713" spc="-4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워크로드 리소스</a:t>
            </a:r>
            <a:r>
              <a:rPr lang="en-US" sz="2713" spc="-4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를 사용하여 여러 파드를 만들고 관리할 수 있다. 리소스에 대한 컨트롤러는 파드 장애 시 복제 및 롤아웃과 자동 복구를 처리한다. 예를 들어, 노드가 실패하면, 컨트롤러는 해당 노드의 파드가 작동을 중지했음을 인식하고 대체 파드를 생성한다. 스케줄러는 대체 파드를 정상 노드에 배치한다.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0276" y="7380810"/>
            <a:ext cx="10453611" cy="91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n-US" sz="2769" spc="-4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다음은 하나 이상의 파드를 관리하는 워크로드 리소스의 몇 가지 예시이다.</a:t>
            </a:r>
          </a:p>
          <a:p>
            <a:pPr algn="ctr">
              <a:lnSpc>
                <a:spcPts val="368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127753"/>
            <a:ext cx="3857228" cy="14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827" indent="-313913" lvl="1">
              <a:lnSpc>
                <a:spcPts val="3867"/>
              </a:lnSpc>
              <a:buFont typeface="Arial"/>
              <a:buChar char="•"/>
            </a:pPr>
            <a:r>
              <a:rPr lang="en-US" sz="2907" spc="-49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디플로이먼트</a:t>
            </a:r>
          </a:p>
          <a:p>
            <a:pPr algn="l" marL="627827" indent="-313913" lvl="1">
              <a:lnSpc>
                <a:spcPts val="3867"/>
              </a:lnSpc>
              <a:buFont typeface="Arial"/>
              <a:buChar char="•"/>
            </a:pPr>
            <a:r>
              <a:rPr lang="en-US" sz="2907" spc="-49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스테이트풀셋</a:t>
            </a:r>
          </a:p>
          <a:p>
            <a:pPr algn="l" marL="627827" indent="-313913" lvl="1">
              <a:lnSpc>
                <a:spcPts val="3867"/>
              </a:lnSpc>
              <a:buFont typeface="Arial"/>
              <a:buChar char="•"/>
            </a:pPr>
            <a:r>
              <a:rPr lang="en-US" sz="2907" spc="-49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데몬셋(DaemonSet)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7282" y="4864413"/>
            <a:ext cx="11248141" cy="1363383"/>
          </a:xfrm>
          <a:custGeom>
            <a:avLst/>
            <a:gdLst/>
            <a:ahLst/>
            <a:cxnLst/>
            <a:rect r="r" b="b" t="t" l="l"/>
            <a:pathLst>
              <a:path h="1363383" w="11248141">
                <a:moveTo>
                  <a:pt x="0" y="0"/>
                </a:moveTo>
                <a:lnTo>
                  <a:pt x="11248141" y="0"/>
                </a:lnTo>
                <a:lnTo>
                  <a:pt x="11248141" y="1363383"/>
                </a:lnTo>
                <a:lnTo>
                  <a:pt x="0" y="1363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2588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0205" y="2394410"/>
            <a:ext cx="9554024" cy="1326395"/>
          </a:xfrm>
          <a:custGeom>
            <a:avLst/>
            <a:gdLst/>
            <a:ahLst/>
            <a:cxnLst/>
            <a:rect r="r" b="b" t="t" l="l"/>
            <a:pathLst>
              <a:path h="1326395" w="9554024">
                <a:moveTo>
                  <a:pt x="0" y="0"/>
                </a:moveTo>
                <a:lnTo>
                  <a:pt x="9554024" y="0"/>
                </a:lnTo>
                <a:lnTo>
                  <a:pt x="9554024" y="1326395"/>
                </a:lnTo>
                <a:lnTo>
                  <a:pt x="0" y="1326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73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0205" y="7046556"/>
            <a:ext cx="11301259" cy="275263"/>
          </a:xfrm>
          <a:custGeom>
            <a:avLst/>
            <a:gdLst/>
            <a:ahLst/>
            <a:cxnLst/>
            <a:rect r="r" b="b" t="t" l="l"/>
            <a:pathLst>
              <a:path h="275263" w="11301259">
                <a:moveTo>
                  <a:pt x="0" y="0"/>
                </a:moveTo>
                <a:lnTo>
                  <a:pt x="11301259" y="0"/>
                </a:lnTo>
                <a:lnTo>
                  <a:pt x="11301259" y="275263"/>
                </a:lnTo>
                <a:lnTo>
                  <a:pt x="0" y="275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830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0205" y="8254507"/>
            <a:ext cx="11301259" cy="1280773"/>
          </a:xfrm>
          <a:custGeom>
            <a:avLst/>
            <a:gdLst/>
            <a:ahLst/>
            <a:cxnLst/>
            <a:rect r="r" b="b" t="t" l="l"/>
            <a:pathLst>
              <a:path h="1280773" w="11301259">
                <a:moveTo>
                  <a:pt x="0" y="0"/>
                </a:moveTo>
                <a:lnTo>
                  <a:pt x="11301259" y="0"/>
                </a:lnTo>
                <a:lnTo>
                  <a:pt x="11301259" y="1280774"/>
                </a:lnTo>
                <a:lnTo>
                  <a:pt x="0" y="12807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4044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37128"/>
            <a:ext cx="7766451" cy="50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실습. </a:t>
            </a:r>
            <a:r>
              <a:rPr lang="en-US" sz="4344" spc="-73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첫번째 k8s 배포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5666" y="1760447"/>
            <a:ext cx="1964288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이미지 빌드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46886" y="1750922"/>
            <a:ext cx="6485340" cy="43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663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결국 쿠버네티스도 클러스터를 관리해주는 것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68962" y="907663"/>
            <a:ext cx="4174954" cy="44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663" spc="-4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명령적 접근 방식으로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5666" y="4158955"/>
            <a:ext cx="8470959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도커 허브에 이미지 저장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5666" y="6310822"/>
            <a:ext cx="8470959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도커 이미지명 수정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7282" y="7615724"/>
            <a:ext cx="8470959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도커 허브에 push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1763" y="2166484"/>
            <a:ext cx="13249034" cy="596207"/>
          </a:xfrm>
          <a:custGeom>
            <a:avLst/>
            <a:gdLst/>
            <a:ahLst/>
            <a:cxnLst/>
            <a:rect r="r" b="b" t="t" l="l"/>
            <a:pathLst>
              <a:path h="596207" w="13249034">
                <a:moveTo>
                  <a:pt x="0" y="0"/>
                </a:moveTo>
                <a:lnTo>
                  <a:pt x="13249034" y="0"/>
                </a:lnTo>
                <a:lnTo>
                  <a:pt x="13249034" y="596207"/>
                </a:lnTo>
                <a:lnTo>
                  <a:pt x="0" y="596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1763" y="4332039"/>
            <a:ext cx="11301259" cy="2189619"/>
          </a:xfrm>
          <a:custGeom>
            <a:avLst/>
            <a:gdLst/>
            <a:ahLst/>
            <a:cxnLst/>
            <a:rect r="r" b="b" t="t" l="l"/>
            <a:pathLst>
              <a:path h="2189619" w="11301259">
                <a:moveTo>
                  <a:pt x="0" y="0"/>
                </a:moveTo>
                <a:lnTo>
                  <a:pt x="11301259" y="0"/>
                </a:lnTo>
                <a:lnTo>
                  <a:pt x="11301259" y="2189619"/>
                </a:lnTo>
                <a:lnTo>
                  <a:pt x="0" y="2189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7224" y="704905"/>
            <a:ext cx="8470959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이미지 빌드 후 쿠버네티스 클러스터로 내보내기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1763" y="1429413"/>
            <a:ext cx="13000413" cy="44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663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kubectl create deployment first-k8s-dpm </a:t>
            </a:r>
            <a:r>
              <a:rPr lang="en-US" sz="2663" spc="-4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--image=captainyun/first-k8s-app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24" y="3449010"/>
            <a:ext cx="8470959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정상 동작 확인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24" y="7055058"/>
            <a:ext cx="8470959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그러나 밖에서 (클러스터 외부) 접근 불가하다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1763" y="2166484"/>
            <a:ext cx="10709518" cy="1619815"/>
          </a:xfrm>
          <a:custGeom>
            <a:avLst/>
            <a:gdLst/>
            <a:ahLst/>
            <a:cxnLst/>
            <a:rect r="r" b="b" t="t" l="l"/>
            <a:pathLst>
              <a:path h="1619815" w="10709518">
                <a:moveTo>
                  <a:pt x="0" y="0"/>
                </a:moveTo>
                <a:lnTo>
                  <a:pt x="10709518" y="0"/>
                </a:lnTo>
                <a:lnTo>
                  <a:pt x="10709518" y="1619815"/>
                </a:lnTo>
                <a:lnTo>
                  <a:pt x="0" y="1619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1763" y="5146689"/>
            <a:ext cx="10709518" cy="3200678"/>
          </a:xfrm>
          <a:custGeom>
            <a:avLst/>
            <a:gdLst/>
            <a:ahLst/>
            <a:cxnLst/>
            <a:rect r="r" b="b" t="t" l="l"/>
            <a:pathLst>
              <a:path h="3200678" w="10709518">
                <a:moveTo>
                  <a:pt x="0" y="0"/>
                </a:moveTo>
                <a:lnTo>
                  <a:pt x="10709518" y="0"/>
                </a:lnTo>
                <a:lnTo>
                  <a:pt x="10709518" y="3200678"/>
                </a:lnTo>
                <a:lnTo>
                  <a:pt x="0" y="3200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16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13394" y="6545851"/>
            <a:ext cx="6808276" cy="2436991"/>
          </a:xfrm>
          <a:custGeom>
            <a:avLst/>
            <a:gdLst/>
            <a:ahLst/>
            <a:cxnLst/>
            <a:rect r="r" b="b" t="t" l="l"/>
            <a:pathLst>
              <a:path h="2436991" w="6808276">
                <a:moveTo>
                  <a:pt x="0" y="0"/>
                </a:moveTo>
                <a:lnTo>
                  <a:pt x="6808276" y="0"/>
                </a:lnTo>
                <a:lnTo>
                  <a:pt x="6808276" y="2436991"/>
                </a:lnTo>
                <a:lnTo>
                  <a:pt x="0" y="24369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013394" y="6545851"/>
            <a:ext cx="6808276" cy="2436991"/>
            <a:chOff x="0" y="0"/>
            <a:chExt cx="1793126" cy="6418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3126" cy="641841"/>
            </a:xfrm>
            <a:custGeom>
              <a:avLst/>
              <a:gdLst/>
              <a:ahLst/>
              <a:cxnLst/>
              <a:rect r="r" b="b" t="t" l="l"/>
              <a:pathLst>
                <a:path h="641841" w="1793126">
                  <a:moveTo>
                    <a:pt x="0" y="0"/>
                  </a:moveTo>
                  <a:lnTo>
                    <a:pt x="1793126" y="0"/>
                  </a:lnTo>
                  <a:lnTo>
                    <a:pt x="1793126" y="641841"/>
                  </a:lnTo>
                  <a:lnTo>
                    <a:pt x="0" y="64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793126" cy="670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57224" y="704905"/>
            <a:ext cx="8470959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그럼 어떻게??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1763" y="1429413"/>
            <a:ext cx="13000413" cy="44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663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서비스로 파드 그룹을 묶어준다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763" y="4370667"/>
            <a:ext cx="1851478" cy="44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663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URL에 접속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91793" y="5904584"/>
            <a:ext cx="1851478" cy="44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663" spc="-4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앱 정상 실행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75918" y="9013603"/>
            <a:ext cx="9202087" cy="381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277" spc="-3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※ /error 경로로 가면 node 앱이 꺼지는데 쿠버네티스에 의해 다시 재시작됌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4748" y="2057003"/>
            <a:ext cx="11301259" cy="2462928"/>
          </a:xfrm>
          <a:custGeom>
            <a:avLst/>
            <a:gdLst/>
            <a:ahLst/>
            <a:cxnLst/>
            <a:rect r="r" b="b" t="t" l="l"/>
            <a:pathLst>
              <a:path h="2462928" w="11301259">
                <a:moveTo>
                  <a:pt x="0" y="0"/>
                </a:moveTo>
                <a:lnTo>
                  <a:pt x="11301259" y="0"/>
                </a:lnTo>
                <a:lnTo>
                  <a:pt x="11301259" y="2462928"/>
                </a:lnTo>
                <a:lnTo>
                  <a:pt x="0" y="2462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2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7224" y="704905"/>
            <a:ext cx="8470959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스케일링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1763" y="1429413"/>
            <a:ext cx="4411889" cy="44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663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서비스로 파드 그룹을 묶어준다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2321" y="1476134"/>
            <a:ext cx="11301259" cy="2462928"/>
          </a:xfrm>
          <a:custGeom>
            <a:avLst/>
            <a:gdLst/>
            <a:ahLst/>
            <a:cxnLst/>
            <a:rect r="r" b="b" t="t" l="l"/>
            <a:pathLst>
              <a:path h="2462928" w="11301259">
                <a:moveTo>
                  <a:pt x="0" y="0"/>
                </a:moveTo>
                <a:lnTo>
                  <a:pt x="11301259" y="0"/>
                </a:lnTo>
                <a:lnTo>
                  <a:pt x="11301259" y="2462928"/>
                </a:lnTo>
                <a:lnTo>
                  <a:pt x="0" y="2462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2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7224" y="704905"/>
            <a:ext cx="8470959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Deployment 업데이트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510576" y="5143500"/>
            <a:ext cx="1633424" cy="15019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443441" y="6645431"/>
            <a:ext cx="2134270" cy="1067135"/>
          </a:xfrm>
          <a:custGeom>
            <a:avLst/>
            <a:gdLst/>
            <a:ahLst/>
            <a:cxnLst/>
            <a:rect r="r" b="b" t="t" l="l"/>
            <a:pathLst>
              <a:path h="1067135" w="2134270">
                <a:moveTo>
                  <a:pt x="0" y="0"/>
                </a:moveTo>
                <a:lnTo>
                  <a:pt x="2134270" y="0"/>
                </a:lnTo>
                <a:lnTo>
                  <a:pt x="2134270" y="1067135"/>
                </a:lnTo>
                <a:lnTo>
                  <a:pt x="0" y="1067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3132" y="770448"/>
            <a:ext cx="6509247" cy="41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3640" spc="-61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실습. </a:t>
            </a:r>
            <a:r>
              <a:rPr lang="en-US" sz="3640" spc="-61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선언적 방식으로의 전환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6119" y="1626052"/>
            <a:ext cx="4323219" cy="49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932" spc="-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yml(or yaml) 파일로 정의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6717158"/>
            <a:ext cx="7045261" cy="39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  <a:spcBef>
                <a:spcPct val="0"/>
              </a:spcBef>
            </a:pPr>
            <a:r>
              <a:rPr lang="en-US" sz="2415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쿠버네티스가 yaml 파일을 읽어 실행할 수 있도록 하려면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7269104"/>
            <a:ext cx="5833989" cy="44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  <a:spcBef>
                <a:spcPct val="0"/>
              </a:spcBef>
            </a:pPr>
            <a:r>
              <a:rPr lang="en-US" b="true" sz="2667" spc="-4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kubectl apply -f=deployment.yaml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69952" y="3621927"/>
            <a:ext cx="2991026" cy="55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6"/>
              </a:lnSpc>
              <a:spcBef>
                <a:spcPct val="0"/>
              </a:spcBef>
            </a:pPr>
            <a:r>
              <a:rPr lang="en-US" sz="3440" spc="-5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Pod의 상태 관리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85852" y="2981715"/>
            <a:ext cx="3075126" cy="54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250" spc="-5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디플로이먼트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0521" y="3486158"/>
            <a:ext cx="6907559" cy="5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8"/>
              </a:lnSpc>
              <a:spcBef>
                <a:spcPct val="0"/>
              </a:spcBef>
            </a:pPr>
            <a:r>
              <a:rPr lang="en-US" sz="3314" spc="-5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네트워크 접근성과 트래픽 라우팅을 책임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51742" y="2913932"/>
            <a:ext cx="1327274" cy="53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3"/>
              </a:lnSpc>
            </a:pPr>
            <a:r>
              <a:rPr lang="en-US" sz="3213" spc="-5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서비스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617215" y="4550845"/>
            <a:ext cx="1069853" cy="1069853"/>
          </a:xfrm>
          <a:custGeom>
            <a:avLst/>
            <a:gdLst/>
            <a:ahLst/>
            <a:cxnLst/>
            <a:rect r="r" b="b" t="t" l="l"/>
            <a:pathLst>
              <a:path h="1069853" w="1069853">
                <a:moveTo>
                  <a:pt x="0" y="0"/>
                </a:moveTo>
                <a:lnTo>
                  <a:pt x="1069853" y="0"/>
                </a:lnTo>
                <a:lnTo>
                  <a:pt x="1069853" y="1069853"/>
                </a:lnTo>
                <a:lnTo>
                  <a:pt x="0" y="1069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51742" y="4477412"/>
            <a:ext cx="1069853" cy="1069853"/>
          </a:xfrm>
          <a:custGeom>
            <a:avLst/>
            <a:gdLst/>
            <a:ahLst/>
            <a:cxnLst/>
            <a:rect r="r" b="b" t="t" l="l"/>
            <a:pathLst>
              <a:path h="1069853" w="1069853">
                <a:moveTo>
                  <a:pt x="0" y="0"/>
                </a:moveTo>
                <a:lnTo>
                  <a:pt x="1069853" y="0"/>
                </a:lnTo>
                <a:lnTo>
                  <a:pt x="1069853" y="1069853"/>
                </a:lnTo>
                <a:lnTo>
                  <a:pt x="0" y="1069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flipH="true" flipV="true">
            <a:off x="5687068" y="5085772"/>
            <a:ext cx="1273910" cy="15596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5" id="15"/>
          <p:cNvSpPr txBox="true"/>
          <p:nvPr/>
        </p:nvSpPr>
        <p:spPr>
          <a:xfrm rot="0">
            <a:off x="9144000" y="7864966"/>
            <a:ext cx="5833989" cy="44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  <a:spcBef>
                <a:spcPct val="0"/>
              </a:spcBef>
            </a:pPr>
            <a:r>
              <a:rPr lang="en-US" b="true" sz="2667" spc="-4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kubectl apply -f=service.yaml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7746" y="2652632"/>
            <a:ext cx="5371545" cy="1376822"/>
          </a:xfrm>
          <a:custGeom>
            <a:avLst/>
            <a:gdLst/>
            <a:ahLst/>
            <a:cxnLst/>
            <a:rect r="r" b="b" t="t" l="l"/>
            <a:pathLst>
              <a:path h="1376822" w="5371545">
                <a:moveTo>
                  <a:pt x="0" y="0"/>
                </a:moveTo>
                <a:lnTo>
                  <a:pt x="5371545" y="0"/>
                </a:lnTo>
                <a:lnTo>
                  <a:pt x="5371545" y="1376822"/>
                </a:lnTo>
                <a:lnTo>
                  <a:pt x="0" y="1376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7746" y="5148024"/>
            <a:ext cx="5371545" cy="2573122"/>
          </a:xfrm>
          <a:custGeom>
            <a:avLst/>
            <a:gdLst/>
            <a:ahLst/>
            <a:cxnLst/>
            <a:rect r="r" b="b" t="t" l="l"/>
            <a:pathLst>
              <a:path h="2573122" w="5371545">
                <a:moveTo>
                  <a:pt x="0" y="0"/>
                </a:moveTo>
                <a:lnTo>
                  <a:pt x="5371545" y="0"/>
                </a:lnTo>
                <a:lnTo>
                  <a:pt x="5371545" y="2573123"/>
                </a:lnTo>
                <a:lnTo>
                  <a:pt x="0" y="2573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187" b="-464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17779" y="3767865"/>
            <a:ext cx="10486646" cy="787931"/>
          </a:xfrm>
          <a:custGeom>
            <a:avLst/>
            <a:gdLst/>
            <a:ahLst/>
            <a:cxnLst/>
            <a:rect r="r" b="b" t="t" l="l"/>
            <a:pathLst>
              <a:path h="787931" w="10486646">
                <a:moveTo>
                  <a:pt x="0" y="0"/>
                </a:moveTo>
                <a:lnTo>
                  <a:pt x="10486646" y="0"/>
                </a:lnTo>
                <a:lnTo>
                  <a:pt x="10486646" y="787931"/>
                </a:lnTo>
                <a:lnTo>
                  <a:pt x="0" y="787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17779" y="5647574"/>
            <a:ext cx="10523771" cy="1508177"/>
          </a:xfrm>
          <a:custGeom>
            <a:avLst/>
            <a:gdLst/>
            <a:ahLst/>
            <a:cxnLst/>
            <a:rect r="r" b="b" t="t" l="l"/>
            <a:pathLst>
              <a:path h="1508177" w="10523771">
                <a:moveTo>
                  <a:pt x="0" y="0"/>
                </a:moveTo>
                <a:lnTo>
                  <a:pt x="10523771" y="0"/>
                </a:lnTo>
                <a:lnTo>
                  <a:pt x="10523771" y="1508177"/>
                </a:lnTo>
                <a:lnTo>
                  <a:pt x="0" y="1508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660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9836" y="759558"/>
            <a:ext cx="9996910" cy="42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3529" spc="-60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[실습] Pod 매니패스트 작성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9836" y="1830053"/>
            <a:ext cx="1863460" cy="45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4"/>
              </a:lnSpc>
              <a:spcBef>
                <a:spcPct val="0"/>
              </a:spcBef>
            </a:pPr>
            <a:r>
              <a:rPr lang="en-US" b="true" sz="2777" spc="-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(1) 파일 생성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9836" y="4340205"/>
            <a:ext cx="3850326" cy="45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  <a:spcBef>
                <a:spcPct val="0"/>
              </a:spcBef>
            </a:pPr>
            <a:r>
              <a:rPr lang="en-US" b="true" sz="2777" spc="-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(2) 매니패스트 내용 작성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7779" y="1849801"/>
            <a:ext cx="5643512" cy="45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  <a:spcBef>
                <a:spcPct val="0"/>
              </a:spcBef>
            </a:pPr>
            <a:r>
              <a:rPr lang="en-US" b="true" sz="2777" spc="-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(3) 매니패스트를 통한 파드 실행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39475" y="1849977"/>
            <a:ext cx="5005935" cy="45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  <a:spcBef>
                <a:spcPct val="0"/>
              </a:spcBef>
            </a:pPr>
            <a:r>
              <a:rPr lang="en-US" sz="2723" spc="-4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kubectl apply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17779" y="4853150"/>
            <a:ext cx="5643512" cy="45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  <a:spcBef>
                <a:spcPct val="0"/>
              </a:spcBef>
            </a:pPr>
            <a:r>
              <a:rPr lang="en-US" sz="2777" spc="-4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클러스터 내 파드 조회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17779" y="2975520"/>
            <a:ext cx="5643512" cy="45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  <a:spcBef>
                <a:spcPct val="0"/>
              </a:spcBef>
            </a:pPr>
            <a:r>
              <a:rPr lang="en-US" sz="2777" spc="-4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클러스터 내 파드 생성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999268"/>
            <a:ext cx="10460413" cy="1447187"/>
          </a:xfrm>
          <a:custGeom>
            <a:avLst/>
            <a:gdLst/>
            <a:ahLst/>
            <a:cxnLst/>
            <a:rect r="r" b="b" t="t" l="l"/>
            <a:pathLst>
              <a:path h="1447187" w="10460413">
                <a:moveTo>
                  <a:pt x="0" y="0"/>
                </a:moveTo>
                <a:lnTo>
                  <a:pt x="10460413" y="0"/>
                </a:lnTo>
                <a:lnTo>
                  <a:pt x="10460413" y="1447187"/>
                </a:lnTo>
                <a:lnTo>
                  <a:pt x="0" y="1447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130" r="0" b="-20071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348170"/>
            <a:ext cx="15705132" cy="2812028"/>
          </a:xfrm>
          <a:custGeom>
            <a:avLst/>
            <a:gdLst/>
            <a:ahLst/>
            <a:cxnLst/>
            <a:rect r="r" b="b" t="t" l="l"/>
            <a:pathLst>
              <a:path h="2812028" w="15705132">
                <a:moveTo>
                  <a:pt x="0" y="0"/>
                </a:moveTo>
                <a:lnTo>
                  <a:pt x="15705132" y="0"/>
                </a:lnTo>
                <a:lnTo>
                  <a:pt x="15705132" y="2812028"/>
                </a:lnTo>
                <a:lnTo>
                  <a:pt x="0" y="2812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551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184739"/>
            <a:ext cx="15705132" cy="1177885"/>
          </a:xfrm>
          <a:custGeom>
            <a:avLst/>
            <a:gdLst/>
            <a:ahLst/>
            <a:cxnLst/>
            <a:rect r="r" b="b" t="t" l="l"/>
            <a:pathLst>
              <a:path h="1177885" w="15705132">
                <a:moveTo>
                  <a:pt x="0" y="0"/>
                </a:moveTo>
                <a:lnTo>
                  <a:pt x="15705132" y="0"/>
                </a:lnTo>
                <a:lnTo>
                  <a:pt x="15705132" y="1177885"/>
                </a:lnTo>
                <a:lnTo>
                  <a:pt x="0" y="11778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62311" y="728680"/>
            <a:ext cx="2735149" cy="55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7"/>
              </a:lnSpc>
              <a:spcBef>
                <a:spcPct val="0"/>
              </a:spcBef>
            </a:pPr>
            <a:r>
              <a:rPr lang="en-US" b="true" sz="3366" spc="-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파드 상세 조회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694224"/>
            <a:ext cx="2753923" cy="481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7"/>
              </a:lnSpc>
              <a:spcBef>
                <a:spcPct val="0"/>
              </a:spcBef>
            </a:pPr>
            <a:r>
              <a:rPr lang="en-US" sz="2885" spc="-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이벤트 정보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407848"/>
            <a:ext cx="10460413" cy="481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7"/>
              </a:lnSpc>
              <a:spcBef>
                <a:spcPct val="0"/>
              </a:spcBef>
            </a:pPr>
            <a:r>
              <a:rPr lang="en-US" sz="2885" spc="-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kubectl exec 명령으로 파드 내 컨테이너 정상 실행 동작 확인 가능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5664" y="4595310"/>
            <a:ext cx="8945123" cy="4264652"/>
            <a:chOff x="0" y="0"/>
            <a:chExt cx="20584861" cy="9813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84861" cy="9813982"/>
            </a:xfrm>
            <a:custGeom>
              <a:avLst/>
              <a:gdLst/>
              <a:ahLst/>
              <a:cxnLst/>
              <a:rect r="r" b="b" t="t" l="l"/>
              <a:pathLst>
                <a:path h="9813982" w="20584861">
                  <a:moveTo>
                    <a:pt x="0" y="0"/>
                  </a:moveTo>
                  <a:lnTo>
                    <a:pt x="20584861" y="0"/>
                  </a:lnTo>
                  <a:lnTo>
                    <a:pt x="20584861" y="9813982"/>
                  </a:lnTo>
                  <a:lnTo>
                    <a:pt x="0" y="9813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584861" cy="9842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99482" y="4071433"/>
            <a:ext cx="3258763" cy="1047754"/>
          </a:xfrm>
          <a:custGeom>
            <a:avLst/>
            <a:gdLst/>
            <a:ahLst/>
            <a:cxnLst/>
            <a:rect r="r" b="b" t="t" l="l"/>
            <a:pathLst>
              <a:path h="1047754" w="3258763">
                <a:moveTo>
                  <a:pt x="0" y="0"/>
                </a:moveTo>
                <a:lnTo>
                  <a:pt x="3258763" y="0"/>
                </a:lnTo>
                <a:lnTo>
                  <a:pt x="3258763" y="1047754"/>
                </a:lnTo>
                <a:lnTo>
                  <a:pt x="0" y="1047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36653" y="8479738"/>
            <a:ext cx="1335398" cy="1335398"/>
          </a:xfrm>
          <a:custGeom>
            <a:avLst/>
            <a:gdLst/>
            <a:ahLst/>
            <a:cxnLst/>
            <a:rect r="r" b="b" t="t" l="l"/>
            <a:pathLst>
              <a:path h="1335398" w="1335398">
                <a:moveTo>
                  <a:pt x="0" y="0"/>
                </a:moveTo>
                <a:lnTo>
                  <a:pt x="1335398" y="0"/>
                </a:lnTo>
                <a:lnTo>
                  <a:pt x="1335398" y="1335398"/>
                </a:lnTo>
                <a:lnTo>
                  <a:pt x="0" y="1335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5009836" y="6787657"/>
            <a:ext cx="5908433" cy="15992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271280" y="6192780"/>
            <a:ext cx="1227437" cy="1189753"/>
          </a:xfrm>
          <a:custGeom>
            <a:avLst/>
            <a:gdLst/>
            <a:ahLst/>
            <a:cxnLst/>
            <a:rect r="r" b="b" t="t" l="l"/>
            <a:pathLst>
              <a:path h="1189753" w="1227437">
                <a:moveTo>
                  <a:pt x="0" y="0"/>
                </a:moveTo>
                <a:lnTo>
                  <a:pt x="1227438" y="0"/>
                </a:lnTo>
                <a:lnTo>
                  <a:pt x="1227438" y="1189753"/>
                </a:lnTo>
                <a:lnTo>
                  <a:pt x="0" y="1189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02544" y="2143853"/>
            <a:ext cx="7119271" cy="718707"/>
          </a:xfrm>
          <a:custGeom>
            <a:avLst/>
            <a:gdLst/>
            <a:ahLst/>
            <a:cxnLst/>
            <a:rect r="r" b="b" t="t" l="l"/>
            <a:pathLst>
              <a:path h="718707" w="7119271">
                <a:moveTo>
                  <a:pt x="0" y="0"/>
                </a:moveTo>
                <a:lnTo>
                  <a:pt x="7119271" y="0"/>
                </a:lnTo>
                <a:lnTo>
                  <a:pt x="7119271" y="718707"/>
                </a:lnTo>
                <a:lnTo>
                  <a:pt x="0" y="7187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21687" y="6098999"/>
            <a:ext cx="1494843" cy="1494843"/>
          </a:xfrm>
          <a:custGeom>
            <a:avLst/>
            <a:gdLst/>
            <a:ahLst/>
            <a:cxnLst/>
            <a:rect r="r" b="b" t="t" l="l"/>
            <a:pathLst>
              <a:path h="1494843" w="1494843">
                <a:moveTo>
                  <a:pt x="0" y="0"/>
                </a:moveTo>
                <a:lnTo>
                  <a:pt x="1494843" y="0"/>
                </a:lnTo>
                <a:lnTo>
                  <a:pt x="1494843" y="1494843"/>
                </a:lnTo>
                <a:lnTo>
                  <a:pt x="0" y="1494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97728" y="553138"/>
            <a:ext cx="5917665" cy="572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1"/>
              </a:lnSpc>
              <a:spcBef>
                <a:spcPct val="0"/>
              </a:spcBef>
            </a:pPr>
            <a:r>
              <a:rPr lang="en-US" b="true" sz="3399" spc="-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근데, 앱 동작은 어떻게 확인하지?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99482" y="455373"/>
            <a:ext cx="9037475" cy="57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sz="3399" spc="-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Don’t forget! We’re in the minikube cluster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55242" y="8164901"/>
            <a:ext cx="3817313" cy="57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b="true" sz="3399" spc="-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Minikube 클러스터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60032" y="8282242"/>
            <a:ext cx="2502355" cy="3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b="true" sz="2228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클러스터 내부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0982" y="8974263"/>
            <a:ext cx="2502355" cy="3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b="true" sz="2228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클러스터 외부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481760"/>
            <a:ext cx="13387240" cy="49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277" indent="-316639" lvl="1">
              <a:lnSpc>
                <a:spcPts val="3901"/>
              </a:lnSpc>
              <a:buFont typeface="Arial"/>
              <a:buChar char="•"/>
            </a:pPr>
            <a:r>
              <a:rPr lang="en-US" sz="2933" spc="-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minikube의 IP를 통해 클러스터 외부에서 클러스터 내부의 동작을 확인할 수 있음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32770" y="7600105"/>
            <a:ext cx="2662255" cy="49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1"/>
              </a:lnSpc>
            </a:pPr>
            <a:r>
              <a:rPr lang="en-US" sz="2933" spc="-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192.168.49.2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04916" y="5604501"/>
            <a:ext cx="2084451" cy="49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1"/>
              </a:lnSpc>
            </a:pPr>
            <a:r>
              <a:rPr lang="en-US" sz="2933" spc="-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파드 자체 IP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043535"/>
            <a:ext cx="13387240" cy="49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277" indent="-316639" lvl="1">
              <a:lnSpc>
                <a:spcPts val="3901"/>
              </a:lnSpc>
              <a:buFont typeface="Arial"/>
              <a:buChar char="•"/>
            </a:pPr>
            <a:r>
              <a:rPr lang="en-US" sz="2933" spc="-4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But, 파드는 클러스터 외부에서 직접 접근이 불가하다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2544" y="6184024"/>
            <a:ext cx="2702927" cy="119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1"/>
              </a:lnSpc>
              <a:spcBef>
                <a:spcPct val="0"/>
              </a:spcBef>
            </a:pPr>
            <a:r>
              <a:rPr lang="en-US" b="true" sz="2407" spc="-40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cannot access pods from outside k8s cluster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48087" y="3381004"/>
            <a:ext cx="8945123" cy="4264652"/>
            <a:chOff x="0" y="0"/>
            <a:chExt cx="20584861" cy="9813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84861" cy="9813982"/>
            </a:xfrm>
            <a:custGeom>
              <a:avLst/>
              <a:gdLst/>
              <a:ahLst/>
              <a:cxnLst/>
              <a:rect r="r" b="b" t="t" l="l"/>
              <a:pathLst>
                <a:path h="9813982" w="20584861">
                  <a:moveTo>
                    <a:pt x="0" y="0"/>
                  </a:moveTo>
                  <a:lnTo>
                    <a:pt x="20584861" y="0"/>
                  </a:lnTo>
                  <a:lnTo>
                    <a:pt x="20584861" y="9813982"/>
                  </a:lnTo>
                  <a:lnTo>
                    <a:pt x="0" y="9813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584861" cy="9842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561905" y="2857126"/>
            <a:ext cx="3258763" cy="1047754"/>
          </a:xfrm>
          <a:custGeom>
            <a:avLst/>
            <a:gdLst/>
            <a:ahLst/>
            <a:cxnLst/>
            <a:rect r="r" b="b" t="t" l="l"/>
            <a:pathLst>
              <a:path h="1047754" w="3258763">
                <a:moveTo>
                  <a:pt x="0" y="0"/>
                </a:moveTo>
                <a:lnTo>
                  <a:pt x="3258763" y="0"/>
                </a:lnTo>
                <a:lnTo>
                  <a:pt x="3258763" y="1047755"/>
                </a:lnTo>
                <a:lnTo>
                  <a:pt x="0" y="1047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99076" y="7265431"/>
            <a:ext cx="1335398" cy="1335398"/>
          </a:xfrm>
          <a:custGeom>
            <a:avLst/>
            <a:gdLst/>
            <a:ahLst/>
            <a:cxnLst/>
            <a:rect r="r" b="b" t="t" l="l"/>
            <a:pathLst>
              <a:path h="1335398" w="1335398">
                <a:moveTo>
                  <a:pt x="0" y="0"/>
                </a:moveTo>
                <a:lnTo>
                  <a:pt x="1335398" y="0"/>
                </a:lnTo>
                <a:lnTo>
                  <a:pt x="1335398" y="1335398"/>
                </a:lnTo>
                <a:lnTo>
                  <a:pt x="0" y="1335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4272637" y="5513577"/>
            <a:ext cx="5908433" cy="15992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633703" y="4978474"/>
            <a:ext cx="1227437" cy="1189753"/>
          </a:xfrm>
          <a:custGeom>
            <a:avLst/>
            <a:gdLst/>
            <a:ahLst/>
            <a:cxnLst/>
            <a:rect r="r" b="b" t="t" l="l"/>
            <a:pathLst>
              <a:path h="1189753" w="1227437">
                <a:moveTo>
                  <a:pt x="0" y="0"/>
                </a:moveTo>
                <a:lnTo>
                  <a:pt x="1227438" y="0"/>
                </a:lnTo>
                <a:lnTo>
                  <a:pt x="1227438" y="1189752"/>
                </a:lnTo>
                <a:lnTo>
                  <a:pt x="0" y="1189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02982" y="4353174"/>
            <a:ext cx="1290210" cy="1250598"/>
          </a:xfrm>
          <a:custGeom>
            <a:avLst/>
            <a:gdLst/>
            <a:ahLst/>
            <a:cxnLst/>
            <a:rect r="r" b="b" t="t" l="l"/>
            <a:pathLst>
              <a:path h="1250598" w="1290210">
                <a:moveTo>
                  <a:pt x="0" y="0"/>
                </a:moveTo>
                <a:lnTo>
                  <a:pt x="1290210" y="0"/>
                </a:lnTo>
                <a:lnTo>
                  <a:pt x="1290210" y="1250599"/>
                </a:lnTo>
                <a:lnTo>
                  <a:pt x="0" y="12505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97728" y="553138"/>
            <a:ext cx="6595091" cy="57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b="true" sz="3399" spc="-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파드만으로는 외부에서 접근이 불가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17665" y="6950594"/>
            <a:ext cx="3817313" cy="57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b="true" sz="3399" spc="-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Minikube 클러스터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22455" y="7067935"/>
            <a:ext cx="2502355" cy="3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b="true" sz="2228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클러스터 내부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03405" y="7759956"/>
            <a:ext cx="2502355" cy="3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b="true" sz="2228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클러스터 외부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85924" y="1259150"/>
            <a:ext cx="6316151" cy="57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b="true" sz="3399" spc="-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그래서                            가 필요하다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93570" y="942975"/>
            <a:ext cx="2107935" cy="101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8"/>
              </a:lnSpc>
              <a:spcBef>
                <a:spcPct val="0"/>
              </a:spcBef>
            </a:pPr>
            <a:r>
              <a:rPr lang="en-US" b="true" sz="6127" spc="-10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서비스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10529" y="4018579"/>
            <a:ext cx="4150614" cy="92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304" indent="-298652" lvl="1">
              <a:lnSpc>
                <a:spcPts val="3679"/>
              </a:lnSpc>
              <a:buFont typeface="Arial"/>
              <a:buChar char="•"/>
            </a:pPr>
            <a:r>
              <a:rPr lang="en-US" b="true" sz="2766" spc="-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고정IP (외부와 통신 O)</a:t>
            </a:r>
          </a:p>
          <a:p>
            <a:pPr algn="l" marL="597304" indent="-298652" lvl="1">
              <a:lnSpc>
                <a:spcPts val="3679"/>
              </a:lnSpc>
              <a:buFont typeface="Arial"/>
              <a:buChar char="•"/>
            </a:pPr>
            <a:r>
              <a:rPr lang="en-US" b="true" sz="2766" spc="-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요청에 따라 파드 호출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16180" y="6184580"/>
            <a:ext cx="1044961" cy="45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766" spc="-47" b="true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label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02982" y="5632877"/>
            <a:ext cx="1582916" cy="45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766" spc="-47" b="true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selector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30997" y="6053926"/>
            <a:ext cx="1582916" cy="45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766" spc="-47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:first-app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20668" y="6605628"/>
            <a:ext cx="1582916" cy="45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766" spc="-47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:first-app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90404" y="3877154"/>
            <a:ext cx="2211560" cy="2070234"/>
            <a:chOff x="0" y="0"/>
            <a:chExt cx="5089327" cy="47641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327" cy="4764103"/>
            </a:xfrm>
            <a:custGeom>
              <a:avLst/>
              <a:gdLst/>
              <a:ahLst/>
              <a:cxnLst/>
              <a:rect r="r" b="b" t="t" l="l"/>
              <a:pathLst>
                <a:path h="4764103" w="5089327">
                  <a:moveTo>
                    <a:pt x="0" y="0"/>
                  </a:moveTo>
                  <a:lnTo>
                    <a:pt x="5089327" y="0"/>
                  </a:lnTo>
                  <a:lnTo>
                    <a:pt x="5089327" y="4764103"/>
                  </a:lnTo>
                  <a:lnTo>
                    <a:pt x="0" y="4764103"/>
                  </a:lnTo>
                  <a:close/>
                </a:path>
              </a:pathLst>
            </a:custGeom>
            <a:solidFill>
              <a:srgbClr val="38B6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089327" cy="4792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96184" y="2002911"/>
            <a:ext cx="11263116" cy="6407897"/>
            <a:chOff x="0" y="0"/>
            <a:chExt cx="25919118" cy="147460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919117" cy="14746100"/>
            </a:xfrm>
            <a:custGeom>
              <a:avLst/>
              <a:gdLst/>
              <a:ahLst/>
              <a:cxnLst/>
              <a:rect r="r" b="b" t="t" l="l"/>
              <a:pathLst>
                <a:path h="14746100" w="25919117">
                  <a:moveTo>
                    <a:pt x="0" y="0"/>
                  </a:moveTo>
                  <a:lnTo>
                    <a:pt x="25919117" y="0"/>
                  </a:lnTo>
                  <a:lnTo>
                    <a:pt x="25919117" y="14746100"/>
                  </a:lnTo>
                  <a:lnTo>
                    <a:pt x="0" y="14746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5919118" cy="14774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46751" y="3877154"/>
            <a:ext cx="2211560" cy="2070234"/>
            <a:chOff x="0" y="0"/>
            <a:chExt cx="5089327" cy="47641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9327" cy="4764103"/>
            </a:xfrm>
            <a:custGeom>
              <a:avLst/>
              <a:gdLst/>
              <a:ahLst/>
              <a:cxnLst/>
              <a:rect r="r" b="b" t="t" l="l"/>
              <a:pathLst>
                <a:path h="4764103" w="5089327">
                  <a:moveTo>
                    <a:pt x="0" y="0"/>
                  </a:moveTo>
                  <a:lnTo>
                    <a:pt x="5089327" y="0"/>
                  </a:lnTo>
                  <a:lnTo>
                    <a:pt x="5089327" y="4764103"/>
                  </a:lnTo>
                  <a:lnTo>
                    <a:pt x="0" y="4764103"/>
                  </a:lnTo>
                  <a:close/>
                </a:path>
              </a:pathLst>
            </a:custGeom>
            <a:solidFill>
              <a:srgbClr val="5DC11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5089327" cy="4792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825797" y="4405263"/>
            <a:ext cx="1227437" cy="1189753"/>
          </a:xfrm>
          <a:custGeom>
            <a:avLst/>
            <a:gdLst/>
            <a:ahLst/>
            <a:cxnLst/>
            <a:rect r="r" b="b" t="t" l="l"/>
            <a:pathLst>
              <a:path h="1189753" w="1227437">
                <a:moveTo>
                  <a:pt x="0" y="0"/>
                </a:moveTo>
                <a:lnTo>
                  <a:pt x="1227437" y="0"/>
                </a:lnTo>
                <a:lnTo>
                  <a:pt x="1227437" y="1189752"/>
                </a:lnTo>
                <a:lnTo>
                  <a:pt x="0" y="1189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007950" y="4216507"/>
            <a:ext cx="1290210" cy="1250598"/>
          </a:xfrm>
          <a:custGeom>
            <a:avLst/>
            <a:gdLst/>
            <a:ahLst/>
            <a:cxnLst/>
            <a:rect r="r" b="b" t="t" l="l"/>
            <a:pathLst>
              <a:path h="1250598" w="1290210">
                <a:moveTo>
                  <a:pt x="0" y="0"/>
                </a:moveTo>
                <a:lnTo>
                  <a:pt x="1290210" y="0"/>
                </a:lnTo>
                <a:lnTo>
                  <a:pt x="1290210" y="1250598"/>
                </a:lnTo>
                <a:lnTo>
                  <a:pt x="0" y="1250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7728" y="553138"/>
            <a:ext cx="6595091" cy="57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b="true" sz="3399" spc="-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물론 서비스는 여러 종류가 있다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22437" y="7879986"/>
            <a:ext cx="2502355" cy="3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b="true" sz="2228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클러스터 내부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22437" y="8651704"/>
            <a:ext cx="2502355" cy="3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b="true" sz="2228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클러스터 외부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16378" y="5447813"/>
            <a:ext cx="1582916" cy="45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766" spc="-4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ClusterIP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46231" y="6043455"/>
            <a:ext cx="2902949" cy="73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129" indent="-240565" lvl="1">
              <a:lnSpc>
                <a:spcPts val="2963"/>
              </a:lnSpc>
              <a:buFont typeface="Arial"/>
              <a:buChar char="•"/>
            </a:pPr>
            <a:r>
              <a:rPr lang="en-US" sz="2228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내부에서만 동작</a:t>
            </a:r>
          </a:p>
          <a:p>
            <a:pPr algn="l" marL="481129" indent="-240565" lvl="1">
              <a:lnSpc>
                <a:spcPts val="2963"/>
              </a:lnSpc>
              <a:buFont typeface="Arial"/>
              <a:buChar char="•"/>
            </a:pPr>
            <a:r>
              <a:rPr lang="en-US" sz="2228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외부에서 접근 불가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296297" y="4235315"/>
            <a:ext cx="1290210" cy="1250598"/>
          </a:xfrm>
          <a:custGeom>
            <a:avLst/>
            <a:gdLst/>
            <a:ahLst/>
            <a:cxnLst/>
            <a:rect r="r" b="b" t="t" l="l"/>
            <a:pathLst>
              <a:path h="1250598" w="1290210">
                <a:moveTo>
                  <a:pt x="0" y="0"/>
                </a:moveTo>
                <a:lnTo>
                  <a:pt x="1290210" y="0"/>
                </a:lnTo>
                <a:lnTo>
                  <a:pt x="1290210" y="1250598"/>
                </a:lnTo>
                <a:lnTo>
                  <a:pt x="0" y="1250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305822" y="5429005"/>
            <a:ext cx="1805667" cy="45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766" spc="-4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NodePort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57181" y="6043455"/>
            <a:ext cx="3353139" cy="110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129" indent="-240565" lvl="1">
              <a:lnSpc>
                <a:spcPts val="2963"/>
              </a:lnSpc>
              <a:buFont typeface="Arial"/>
              <a:buChar char="•"/>
            </a:pPr>
            <a:r>
              <a:rPr lang="en-US" sz="2228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외부에서 접근 가능한 IP</a:t>
            </a:r>
          </a:p>
          <a:p>
            <a:pPr algn="l" marL="481129" indent="-240565" lvl="1">
              <a:lnSpc>
                <a:spcPts val="2963"/>
              </a:lnSpc>
              <a:buFont typeface="Arial"/>
              <a:buChar char="•"/>
            </a:pPr>
            <a:r>
              <a:rPr lang="en-US" sz="2228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노드(머신)의 포트</a:t>
            </a:r>
          </a:p>
          <a:p>
            <a:pPr algn="l" marL="481129" indent="-240565" lvl="1">
              <a:lnSpc>
                <a:spcPts val="2963"/>
              </a:lnSpc>
              <a:buFont typeface="Arial"/>
              <a:buChar char="•"/>
            </a:pPr>
            <a:r>
              <a:rPr lang="en-US" sz="2228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로컬 환경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35073" y="2002911"/>
            <a:ext cx="2333286" cy="2070234"/>
            <a:chOff x="0" y="0"/>
            <a:chExt cx="3111048" cy="276031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948746" cy="2760312"/>
              <a:chOff x="0" y="0"/>
              <a:chExt cx="5089327" cy="476410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089327" cy="4764103"/>
              </a:xfrm>
              <a:custGeom>
                <a:avLst/>
                <a:gdLst/>
                <a:ahLst/>
                <a:cxnLst/>
                <a:rect r="r" b="b" t="t" l="l"/>
                <a:pathLst>
                  <a:path h="4764103" w="5089327">
                    <a:moveTo>
                      <a:pt x="0" y="0"/>
                    </a:moveTo>
                    <a:lnTo>
                      <a:pt x="5089327" y="0"/>
                    </a:lnTo>
                    <a:lnTo>
                      <a:pt x="5089327" y="4764103"/>
                    </a:lnTo>
                    <a:lnTo>
                      <a:pt x="0" y="4764103"/>
                    </a:lnTo>
                    <a:close/>
                  </a:path>
                </a:pathLst>
              </a:custGeom>
              <a:solidFill>
                <a:srgbClr val="FFDE59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5089327" cy="47926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541191" y="477548"/>
              <a:ext cx="1720280" cy="1667465"/>
            </a:xfrm>
            <a:custGeom>
              <a:avLst/>
              <a:gdLst/>
              <a:ahLst/>
              <a:cxnLst/>
              <a:rect r="r" b="b" t="t" l="l"/>
              <a:pathLst>
                <a:path h="1667465" w="1720280">
                  <a:moveTo>
                    <a:pt x="0" y="0"/>
                  </a:moveTo>
                  <a:lnTo>
                    <a:pt x="1720280" y="0"/>
                  </a:lnTo>
                  <a:lnTo>
                    <a:pt x="1720280" y="1667464"/>
                  </a:lnTo>
                  <a:lnTo>
                    <a:pt x="0" y="166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34791" y="2081834"/>
              <a:ext cx="2976257" cy="5360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3"/>
                </a:lnSpc>
              </a:pPr>
              <a:r>
                <a:rPr lang="en-US" sz="2454" spc="-41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LoadBalancer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85189" y="4265406"/>
            <a:ext cx="4371992" cy="73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129" indent="-240565" lvl="1">
              <a:lnSpc>
                <a:spcPts val="2963"/>
              </a:lnSpc>
              <a:buFont typeface="Arial"/>
              <a:buChar char="•"/>
            </a:pPr>
            <a:r>
              <a:rPr lang="en-US" sz="2228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클라우드 프로바이더 환경에서</a:t>
            </a:r>
          </a:p>
          <a:p>
            <a:pPr algn="l" marL="481129" indent="-240565" lvl="1">
              <a:lnSpc>
                <a:spcPts val="2963"/>
              </a:lnSpc>
              <a:buFont typeface="Arial"/>
              <a:buChar char="•"/>
            </a:pPr>
            <a:r>
              <a:rPr lang="en-US" sz="2228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NodePort 대체</a:t>
            </a:r>
          </a:p>
        </p:txBody>
      </p:sp>
      <p:sp>
        <p:nvSpPr>
          <p:cNvPr name="AutoShape 28" id="28"/>
          <p:cNvSpPr/>
          <p:nvPr/>
        </p:nvSpPr>
        <p:spPr>
          <a:xfrm>
            <a:off x="3468359" y="3038028"/>
            <a:ext cx="2527825" cy="839126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TextBox 29" id="29"/>
          <p:cNvSpPr txBox="true"/>
          <p:nvPr/>
        </p:nvSpPr>
        <p:spPr>
          <a:xfrm rot="0">
            <a:off x="3980719" y="2071614"/>
            <a:ext cx="1607878" cy="47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9"/>
              </a:lnSpc>
              <a:spcBef>
                <a:spcPct val="0"/>
              </a:spcBef>
            </a:pPr>
            <a:r>
              <a:rPr lang="en-US" b="true" sz="2804" spc="-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Replaced</a:t>
            </a:r>
          </a:p>
        </p:txBody>
      </p:sp>
      <p:sp>
        <p:nvSpPr>
          <p:cNvPr name="AutoShape 30" id="30"/>
          <p:cNvSpPr/>
          <p:nvPr/>
        </p:nvSpPr>
        <p:spPr>
          <a:xfrm flipV="true">
            <a:off x="11251694" y="5142904"/>
            <a:ext cx="2077634" cy="13867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triangle" len="med" w="lg"/>
            <a:tailEnd type="triangle" len="med" w="lg"/>
          </a:ln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96184" y="3127012"/>
            <a:ext cx="11263116" cy="5283797"/>
            <a:chOff x="0" y="0"/>
            <a:chExt cx="25919118" cy="12159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9117" cy="12159276"/>
            </a:xfrm>
            <a:custGeom>
              <a:avLst/>
              <a:gdLst/>
              <a:ahLst/>
              <a:cxnLst/>
              <a:rect r="r" b="b" t="t" l="l"/>
              <a:pathLst>
                <a:path h="12159276" w="25919117">
                  <a:moveTo>
                    <a:pt x="0" y="0"/>
                  </a:moveTo>
                  <a:lnTo>
                    <a:pt x="25919117" y="0"/>
                  </a:lnTo>
                  <a:lnTo>
                    <a:pt x="25919117" y="12159276"/>
                  </a:lnTo>
                  <a:lnTo>
                    <a:pt x="0" y="121592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5919118" cy="12187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94077" y="5174033"/>
            <a:ext cx="1227437" cy="1189753"/>
          </a:xfrm>
          <a:custGeom>
            <a:avLst/>
            <a:gdLst/>
            <a:ahLst/>
            <a:cxnLst/>
            <a:rect r="r" b="b" t="t" l="l"/>
            <a:pathLst>
              <a:path h="1189753" w="1227437">
                <a:moveTo>
                  <a:pt x="0" y="0"/>
                </a:moveTo>
                <a:lnTo>
                  <a:pt x="1227437" y="0"/>
                </a:lnTo>
                <a:lnTo>
                  <a:pt x="1227437" y="1189753"/>
                </a:lnTo>
                <a:lnTo>
                  <a:pt x="0" y="1189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7728" y="553138"/>
            <a:ext cx="12447567" cy="57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b="true" sz="3399" spc="-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서비스를 만들기 위해 파드에 레이블을 주고 서비스의 셀렉터로 잡는다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39495" y="7881226"/>
            <a:ext cx="2502355" cy="3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b="true" sz="2228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클러스터 내부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9495" y="8545398"/>
            <a:ext cx="2502355" cy="3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b="true" sz="2228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클러스터 외부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90404" y="4686168"/>
            <a:ext cx="2211560" cy="2070234"/>
            <a:chOff x="0" y="0"/>
            <a:chExt cx="2948746" cy="276031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948746" cy="2760312"/>
              <a:chOff x="0" y="0"/>
              <a:chExt cx="5089327" cy="476410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089327" cy="4764103"/>
              </a:xfrm>
              <a:custGeom>
                <a:avLst/>
                <a:gdLst/>
                <a:ahLst/>
                <a:cxnLst/>
                <a:rect r="r" b="b" t="t" l="l"/>
                <a:pathLst>
                  <a:path h="4764103" w="5089327">
                    <a:moveTo>
                      <a:pt x="0" y="0"/>
                    </a:moveTo>
                    <a:lnTo>
                      <a:pt x="5089327" y="0"/>
                    </a:lnTo>
                    <a:lnTo>
                      <a:pt x="5089327" y="4764103"/>
                    </a:lnTo>
                    <a:lnTo>
                      <a:pt x="0" y="4764103"/>
                    </a:lnTo>
                    <a:close/>
                  </a:path>
                </a:pathLst>
              </a:custGeom>
              <a:solidFill>
                <a:srgbClr val="38B6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5089327" cy="47926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541191" y="477548"/>
              <a:ext cx="1720280" cy="1667465"/>
            </a:xfrm>
            <a:custGeom>
              <a:avLst/>
              <a:gdLst/>
              <a:ahLst/>
              <a:cxnLst/>
              <a:rect r="r" b="b" t="t" l="l"/>
              <a:pathLst>
                <a:path h="1667465" w="1720280">
                  <a:moveTo>
                    <a:pt x="0" y="0"/>
                  </a:moveTo>
                  <a:lnTo>
                    <a:pt x="1720280" y="0"/>
                  </a:lnTo>
                  <a:lnTo>
                    <a:pt x="1720280" y="1667464"/>
                  </a:lnTo>
                  <a:lnTo>
                    <a:pt x="0" y="166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312591" y="2081834"/>
              <a:ext cx="2407555" cy="599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9"/>
                </a:lnSpc>
              </a:pPr>
              <a:r>
                <a:rPr lang="en-US" b="true" sz="2766" spc="-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서비스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7522586" y="5816108"/>
            <a:ext cx="4684000" cy="80910"/>
          </a:xfrm>
          <a:prstGeom prst="line">
            <a:avLst/>
          </a:prstGeom>
          <a:ln cap="flat" w="66675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933923" y="1264528"/>
            <a:ext cx="13173873" cy="114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956" indent="-366978" lvl="1">
              <a:lnSpc>
                <a:spcPts val="4521"/>
              </a:lnSpc>
              <a:buFont typeface="Arial"/>
              <a:buChar char="•"/>
            </a:pPr>
            <a:r>
              <a:rPr lang="en-US" sz="3399" spc="-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서비스를 만들기 위해선 파드에 레이블(Label)을 줘야함</a:t>
            </a:r>
          </a:p>
          <a:p>
            <a:pPr algn="l" marL="733956" indent="-366978" lvl="1">
              <a:lnSpc>
                <a:spcPts val="4521"/>
              </a:lnSpc>
              <a:spcBef>
                <a:spcPct val="0"/>
              </a:spcBef>
              <a:buFont typeface="Arial"/>
              <a:buChar char="•"/>
            </a:pPr>
            <a:r>
              <a:rPr lang="en-US" sz="3399" spc="-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서비스가 파드를 선택(Select)할 수 있어야 하기 때문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94825" y="6525687"/>
            <a:ext cx="3625941" cy="52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b="true" sz="3229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label : first-app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8960" y="5165361"/>
            <a:ext cx="3625941" cy="107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4"/>
              </a:lnSpc>
            </a:pPr>
            <a:r>
              <a:rPr lang="en-US" b="true" sz="3229" spc="-54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selector : </a:t>
            </a:r>
          </a:p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b="true" sz="3229" spc="-54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app: first-app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94825" y="4634517"/>
            <a:ext cx="3864655" cy="3202963"/>
            <a:chOff x="0" y="0"/>
            <a:chExt cx="812800" cy="6736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673635"/>
            </a:xfrm>
            <a:custGeom>
              <a:avLst/>
              <a:gdLst/>
              <a:ahLst/>
              <a:cxnLst/>
              <a:rect r="r" b="b" t="t" l="l"/>
              <a:pathLst>
                <a:path h="673635" w="812800">
                  <a:moveTo>
                    <a:pt x="406400" y="0"/>
                  </a:moveTo>
                  <a:cubicBezTo>
                    <a:pt x="181951" y="0"/>
                    <a:pt x="0" y="150798"/>
                    <a:pt x="0" y="336818"/>
                  </a:cubicBezTo>
                  <a:cubicBezTo>
                    <a:pt x="0" y="522837"/>
                    <a:pt x="181951" y="673635"/>
                    <a:pt x="406400" y="673635"/>
                  </a:cubicBezTo>
                  <a:cubicBezTo>
                    <a:pt x="630849" y="673635"/>
                    <a:pt x="812800" y="522837"/>
                    <a:pt x="812800" y="336818"/>
                  </a:cubicBezTo>
                  <a:cubicBezTo>
                    <a:pt x="812800" y="15079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4578"/>
              <a:ext cx="660400" cy="575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12275" y="3892013"/>
            <a:ext cx="3864655" cy="3202963"/>
            <a:chOff x="0" y="0"/>
            <a:chExt cx="812800" cy="6736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73635"/>
            </a:xfrm>
            <a:custGeom>
              <a:avLst/>
              <a:gdLst/>
              <a:ahLst/>
              <a:cxnLst/>
              <a:rect r="r" b="b" t="t" l="l"/>
              <a:pathLst>
                <a:path h="673635" w="812800">
                  <a:moveTo>
                    <a:pt x="406400" y="0"/>
                  </a:moveTo>
                  <a:cubicBezTo>
                    <a:pt x="181951" y="0"/>
                    <a:pt x="0" y="150798"/>
                    <a:pt x="0" y="336818"/>
                  </a:cubicBezTo>
                  <a:cubicBezTo>
                    <a:pt x="0" y="522837"/>
                    <a:pt x="181951" y="673635"/>
                    <a:pt x="406400" y="673635"/>
                  </a:cubicBezTo>
                  <a:cubicBezTo>
                    <a:pt x="630849" y="673635"/>
                    <a:pt x="812800" y="522837"/>
                    <a:pt x="812800" y="336818"/>
                  </a:cubicBezTo>
                  <a:cubicBezTo>
                    <a:pt x="812800" y="15079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4578"/>
              <a:ext cx="660400" cy="575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811527" y="4431529"/>
            <a:ext cx="1227437" cy="1189753"/>
          </a:xfrm>
          <a:custGeom>
            <a:avLst/>
            <a:gdLst/>
            <a:ahLst/>
            <a:cxnLst/>
            <a:rect r="r" b="b" t="t" l="l"/>
            <a:pathLst>
              <a:path h="1189753" w="1227437">
                <a:moveTo>
                  <a:pt x="0" y="0"/>
                </a:moveTo>
                <a:lnTo>
                  <a:pt x="1227437" y="0"/>
                </a:lnTo>
                <a:lnTo>
                  <a:pt x="1227437" y="1189752"/>
                </a:lnTo>
                <a:lnTo>
                  <a:pt x="0" y="1189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56945" y="7138721"/>
            <a:ext cx="2502355" cy="3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b="true" sz="2228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클러스터 내부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48169" y="3892013"/>
            <a:ext cx="2211560" cy="2070234"/>
            <a:chOff x="0" y="0"/>
            <a:chExt cx="2948746" cy="276031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948746" cy="2760312"/>
              <a:chOff x="0" y="0"/>
              <a:chExt cx="5089327" cy="476410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089327" cy="4764103"/>
              </a:xfrm>
              <a:custGeom>
                <a:avLst/>
                <a:gdLst/>
                <a:ahLst/>
                <a:cxnLst/>
                <a:rect r="r" b="b" t="t" l="l"/>
                <a:pathLst>
                  <a:path h="4764103" w="5089327">
                    <a:moveTo>
                      <a:pt x="0" y="0"/>
                    </a:moveTo>
                    <a:lnTo>
                      <a:pt x="5089327" y="0"/>
                    </a:lnTo>
                    <a:lnTo>
                      <a:pt x="5089327" y="4764103"/>
                    </a:lnTo>
                    <a:lnTo>
                      <a:pt x="0" y="4764103"/>
                    </a:lnTo>
                    <a:close/>
                  </a:path>
                </a:pathLst>
              </a:custGeom>
              <a:solidFill>
                <a:srgbClr val="38B6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5089327" cy="47926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541191" y="477548"/>
              <a:ext cx="1720280" cy="1667465"/>
            </a:xfrm>
            <a:custGeom>
              <a:avLst/>
              <a:gdLst/>
              <a:ahLst/>
              <a:cxnLst/>
              <a:rect r="r" b="b" t="t" l="l"/>
              <a:pathLst>
                <a:path h="1667465" w="1720280">
                  <a:moveTo>
                    <a:pt x="0" y="0"/>
                  </a:moveTo>
                  <a:lnTo>
                    <a:pt x="1720280" y="0"/>
                  </a:lnTo>
                  <a:lnTo>
                    <a:pt x="1720280" y="1667464"/>
                  </a:lnTo>
                  <a:lnTo>
                    <a:pt x="0" y="1667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12591" y="2081834"/>
              <a:ext cx="2407555" cy="599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9"/>
                </a:lnSpc>
              </a:pPr>
              <a:r>
                <a:rPr lang="en-US" b="true" sz="2766" spc="-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서비스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7582640" y="4995435"/>
            <a:ext cx="3941396" cy="159079"/>
          </a:xfrm>
          <a:prstGeom prst="line">
            <a:avLst/>
          </a:prstGeom>
          <a:ln cap="flat" w="66675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11612275" y="5783182"/>
            <a:ext cx="3625941" cy="52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b="true" sz="3229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label : first-app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18693" y="6048308"/>
            <a:ext cx="2327152" cy="40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  <a:spcBef>
                <a:spcPct val="0"/>
              </a:spcBef>
            </a:pPr>
            <a:r>
              <a:rPr lang="en-US" b="true" sz="2433" spc="-4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port:targetPort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89928" y="4542763"/>
            <a:ext cx="2365560" cy="61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1"/>
              </a:lnSpc>
              <a:spcBef>
                <a:spcPct val="0"/>
              </a:spcBef>
            </a:pPr>
            <a:r>
              <a:rPr lang="en-US" b="true" sz="3692" spc="-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nodePort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888988" y="4878856"/>
            <a:ext cx="1967632" cy="1853769"/>
          </a:xfrm>
          <a:prstGeom prst="line">
            <a:avLst/>
          </a:prstGeom>
          <a:ln cap="flat" w="66675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697396" y="5277446"/>
            <a:ext cx="1139927" cy="63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7"/>
              </a:lnSpc>
              <a:spcBef>
                <a:spcPct val="0"/>
              </a:spcBef>
            </a:pPr>
            <a:r>
              <a:rPr lang="en-US" b="true" sz="3817" spc="-6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외부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25469" y="6536709"/>
            <a:ext cx="8056960" cy="363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sz="2228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클러스터 내부 통신에 사용하는 포트: 파드 내부의 애플리케이션 포트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550871" y="1822457"/>
            <a:ext cx="12122974" cy="6036595"/>
            <a:chOff x="0" y="0"/>
            <a:chExt cx="27897855" cy="138916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897857" cy="13891644"/>
            </a:xfrm>
            <a:custGeom>
              <a:avLst/>
              <a:gdLst/>
              <a:ahLst/>
              <a:cxnLst/>
              <a:rect r="r" b="b" t="t" l="l"/>
              <a:pathLst>
                <a:path h="13891644" w="27897857">
                  <a:moveTo>
                    <a:pt x="0" y="0"/>
                  </a:moveTo>
                  <a:lnTo>
                    <a:pt x="27897857" y="0"/>
                  </a:lnTo>
                  <a:lnTo>
                    <a:pt x="27897857" y="13891644"/>
                  </a:lnTo>
                  <a:lnTo>
                    <a:pt x="0" y="138916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7897855" cy="13920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742639" y="8098126"/>
            <a:ext cx="2502355" cy="3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b="true" sz="2228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클러스터 외부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9836" y="759558"/>
            <a:ext cx="10281241" cy="42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3529" spc="-60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[실습] 파드 레이블 부여 &amp; 서비스 매니패스트 작성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54403" y="2627594"/>
            <a:ext cx="8892995" cy="589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apiVersion: v1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kind: Pod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metadata: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name: my-first-pod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b="true" sz="3508" spc="-5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labels: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b="true" sz="3508" spc="-5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app: my-first-pod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spec: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containers: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- name: my-first-pod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  image: captainyun/k8s-todo-front-app:v1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7270" y="1800388"/>
            <a:ext cx="8850536" cy="61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1"/>
              </a:lnSpc>
              <a:spcBef>
                <a:spcPct val="0"/>
              </a:spcBef>
            </a:pPr>
            <a:r>
              <a:rPr lang="en-US" b="true" sz="3707" spc="-6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(1) 파드 매니페스트 파일 수정 - 레이블 부여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91388" y="4839229"/>
            <a:ext cx="8180262" cy="521492"/>
          </a:xfrm>
          <a:custGeom>
            <a:avLst/>
            <a:gdLst/>
            <a:ahLst/>
            <a:cxnLst/>
            <a:rect r="r" b="b" t="t" l="l"/>
            <a:pathLst>
              <a:path h="521492" w="8180262">
                <a:moveTo>
                  <a:pt x="0" y="0"/>
                </a:moveTo>
                <a:lnTo>
                  <a:pt x="8180262" y="0"/>
                </a:lnTo>
                <a:lnTo>
                  <a:pt x="8180262" y="521492"/>
                </a:lnTo>
                <a:lnTo>
                  <a:pt x="0" y="521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91388" y="4139142"/>
            <a:ext cx="8180262" cy="566737"/>
          </a:xfrm>
          <a:custGeom>
            <a:avLst/>
            <a:gdLst/>
            <a:ahLst/>
            <a:cxnLst/>
            <a:rect r="r" b="b" t="t" l="l"/>
            <a:pathLst>
              <a:path h="566737" w="8180262">
                <a:moveTo>
                  <a:pt x="0" y="0"/>
                </a:moveTo>
                <a:lnTo>
                  <a:pt x="8180262" y="0"/>
                </a:lnTo>
                <a:lnTo>
                  <a:pt x="8180262" y="566737"/>
                </a:lnTo>
                <a:lnTo>
                  <a:pt x="0" y="56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58032" y="7247359"/>
            <a:ext cx="8720316" cy="1591458"/>
          </a:xfrm>
          <a:custGeom>
            <a:avLst/>
            <a:gdLst/>
            <a:ahLst/>
            <a:cxnLst/>
            <a:rect r="r" b="b" t="t" l="l"/>
            <a:pathLst>
              <a:path h="1591458" w="8720316">
                <a:moveTo>
                  <a:pt x="0" y="0"/>
                </a:moveTo>
                <a:lnTo>
                  <a:pt x="8720316" y="0"/>
                </a:lnTo>
                <a:lnTo>
                  <a:pt x="8720316" y="1591458"/>
                </a:lnTo>
                <a:lnTo>
                  <a:pt x="0" y="1591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3667" y="1798756"/>
            <a:ext cx="5233801" cy="707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5"/>
              </a:lnSpc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apiVersion: v1</a:t>
            </a:r>
          </a:p>
          <a:p>
            <a:pPr algn="l">
              <a:lnSpc>
                <a:spcPts val="4665"/>
              </a:lnSpc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kind: Service</a:t>
            </a:r>
          </a:p>
          <a:p>
            <a:pPr algn="l">
              <a:lnSpc>
                <a:spcPts val="4665"/>
              </a:lnSpc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metadata:</a:t>
            </a:r>
          </a:p>
          <a:p>
            <a:pPr algn="l">
              <a:lnSpc>
                <a:spcPts val="4665"/>
              </a:lnSpc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name: my-first-service</a:t>
            </a:r>
          </a:p>
          <a:p>
            <a:pPr algn="l">
              <a:lnSpc>
                <a:spcPts val="4665"/>
              </a:lnSpc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spec:</a:t>
            </a:r>
          </a:p>
          <a:p>
            <a:pPr algn="l">
              <a:lnSpc>
                <a:spcPts val="4665"/>
              </a:lnSpc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selector:</a:t>
            </a:r>
          </a:p>
          <a:p>
            <a:pPr algn="l">
              <a:lnSpc>
                <a:spcPts val="4665"/>
              </a:lnSpc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app: my-first-app</a:t>
            </a:r>
          </a:p>
          <a:p>
            <a:pPr algn="l">
              <a:lnSpc>
                <a:spcPts val="4665"/>
              </a:lnSpc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ports:</a:t>
            </a:r>
          </a:p>
          <a:p>
            <a:pPr algn="l">
              <a:lnSpc>
                <a:spcPts val="4665"/>
              </a:lnSpc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- name: http</a:t>
            </a:r>
          </a:p>
          <a:p>
            <a:pPr algn="l">
              <a:lnSpc>
                <a:spcPts val="4665"/>
              </a:lnSpc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port: 80</a:t>
            </a:r>
          </a:p>
          <a:p>
            <a:pPr algn="l">
              <a:lnSpc>
                <a:spcPts val="4665"/>
              </a:lnSpc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nodePort: 30080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type: NodePort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91059"/>
            <a:ext cx="5628120" cy="61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1"/>
              </a:lnSpc>
              <a:spcBef>
                <a:spcPct val="0"/>
              </a:spcBef>
            </a:pPr>
            <a:r>
              <a:rPr lang="en-US" b="true" sz="3707" spc="-6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(2) 서비스 매니페스트 작성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52331" y="707628"/>
            <a:ext cx="8619319" cy="121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2"/>
              </a:lnSpc>
            </a:pPr>
            <a:r>
              <a:rPr lang="en-US" b="true" sz="3610" spc="-6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(3) 수정한 파드 매니페스트 및 새롭게 작성한 </a:t>
            </a:r>
          </a:p>
          <a:p>
            <a:pPr algn="just">
              <a:lnSpc>
                <a:spcPts val="4802"/>
              </a:lnSpc>
              <a:spcBef>
                <a:spcPct val="0"/>
              </a:spcBef>
            </a:pPr>
            <a:r>
              <a:rPr lang="en-US" b="true" sz="3610" spc="-6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 서비스 매니페스트 파일 쿠버네티스에 적용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06844" y="2415887"/>
            <a:ext cx="7721696" cy="117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kubectl apply -f [파드 매니페스트] kubectl apply -f [서비스 매니페스트]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52331" y="6094426"/>
            <a:ext cx="8619319" cy="60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2"/>
              </a:lnSpc>
              <a:spcBef>
                <a:spcPct val="0"/>
              </a:spcBef>
            </a:pPr>
            <a:r>
              <a:rPr lang="en-US" b="true" sz="3610" spc="-6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(4) 리소스 생성 확인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70971" y="5706804"/>
            <a:ext cx="5233801" cy="117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5"/>
              </a:lnSpc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kubectl get service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  <a:r>
              <a:rPr lang="en-US" sz="3508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kubectl get svc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2418" y="1316998"/>
            <a:ext cx="11269060" cy="4099121"/>
          </a:xfrm>
          <a:custGeom>
            <a:avLst/>
            <a:gdLst/>
            <a:ahLst/>
            <a:cxnLst/>
            <a:rect r="r" b="b" t="t" l="l"/>
            <a:pathLst>
              <a:path h="4099121" w="11269060">
                <a:moveTo>
                  <a:pt x="0" y="0"/>
                </a:moveTo>
                <a:lnTo>
                  <a:pt x="11269060" y="0"/>
                </a:lnTo>
                <a:lnTo>
                  <a:pt x="11269060" y="4099120"/>
                </a:lnTo>
                <a:lnTo>
                  <a:pt x="0" y="4099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81634" y="4138358"/>
            <a:ext cx="11301259" cy="5636503"/>
          </a:xfrm>
          <a:custGeom>
            <a:avLst/>
            <a:gdLst/>
            <a:ahLst/>
            <a:cxnLst/>
            <a:rect r="r" b="b" t="t" l="l"/>
            <a:pathLst>
              <a:path h="5636503" w="11301259">
                <a:moveTo>
                  <a:pt x="0" y="0"/>
                </a:moveTo>
                <a:lnTo>
                  <a:pt x="11301259" y="0"/>
                </a:lnTo>
                <a:lnTo>
                  <a:pt x="11301259" y="5636503"/>
                </a:lnTo>
                <a:lnTo>
                  <a:pt x="0" y="56365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0282" y="555952"/>
            <a:ext cx="2166702" cy="47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4038" spc="-68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동작확인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6142" y="1494080"/>
            <a:ext cx="10849903" cy="41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3529" spc="-60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파드와 서비스 직접 만들어보기!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6142" y="2058739"/>
            <a:ext cx="13613077" cy="123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525" indent="-400262" lvl="1">
              <a:lnSpc>
                <a:spcPts val="4931"/>
              </a:lnSpc>
              <a:buFont typeface="Arial"/>
              <a:buChar char="•"/>
            </a:pPr>
            <a:r>
              <a:rPr lang="en-US" sz="3707" spc="-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프로젝트 내 basic-app 에 있는 도커파일을 활용해 파드 만들기</a:t>
            </a:r>
          </a:p>
          <a:p>
            <a:pPr algn="l" marL="800525" indent="-400262" lvl="1">
              <a:lnSpc>
                <a:spcPts val="4931"/>
              </a:lnSpc>
              <a:spcBef>
                <a:spcPct val="0"/>
              </a:spcBef>
              <a:buFont typeface="Arial"/>
              <a:buChar char="•"/>
            </a:pPr>
            <a:r>
              <a:rPr lang="en-US" sz="3707" spc="-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해당 파드와 연결되는 서비스 만들기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6588" y="412296"/>
            <a:ext cx="2121373" cy="61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1"/>
              </a:lnSpc>
              <a:spcBef>
                <a:spcPct val="0"/>
              </a:spcBef>
            </a:pPr>
            <a:r>
              <a:rPr lang="en-US" sz="3707" spc="-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[연습문제]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88058" y="4416934"/>
            <a:ext cx="10994174" cy="72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1"/>
              </a:lnSpc>
            </a:pPr>
            <a:r>
              <a:rPr lang="en-US" sz="6232" spc="-105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3. 리플리카셋과 디플로이먼트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34782" y="5538454"/>
            <a:ext cx="1957206" cy="426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2"/>
              </a:lnSpc>
            </a:pPr>
            <a:r>
              <a:rPr lang="en-US" sz="3746" spc="-63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컨트롤러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07582" y="6530344"/>
            <a:ext cx="2009443" cy="2009443"/>
          </a:xfrm>
          <a:custGeom>
            <a:avLst/>
            <a:gdLst/>
            <a:ahLst/>
            <a:cxnLst/>
            <a:rect r="r" b="b" t="t" l="l"/>
            <a:pathLst>
              <a:path h="2009443" w="2009443">
                <a:moveTo>
                  <a:pt x="0" y="0"/>
                </a:moveTo>
                <a:lnTo>
                  <a:pt x="2009442" y="0"/>
                </a:lnTo>
                <a:lnTo>
                  <a:pt x="2009442" y="2009443"/>
                </a:lnTo>
                <a:lnTo>
                  <a:pt x="0" y="2009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7128"/>
            <a:ext cx="7766451" cy="5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Pod 직접 관리의 한계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90065"/>
            <a:ext cx="15967748" cy="353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421" indent="-379211" lvl="1">
              <a:lnSpc>
                <a:spcPts val="4672"/>
              </a:lnSpc>
              <a:buFont typeface="Arial"/>
              <a:buChar char="•"/>
            </a:pPr>
            <a:r>
              <a:rPr lang="en-US" sz="3512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Pod는 Kubernetes에서 일시적인(disposable) 객체입니다. </a:t>
            </a:r>
          </a:p>
          <a:p>
            <a:pPr algn="l" marL="758421" indent="-379211" lvl="1">
              <a:lnSpc>
                <a:spcPts val="4672"/>
              </a:lnSpc>
              <a:buFont typeface="Arial"/>
              <a:buChar char="•"/>
            </a:pPr>
            <a:r>
              <a:rPr lang="en-US" sz="3512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여러 이유로 인해 Pod가 종료될 수 있습니다. </a:t>
            </a:r>
          </a:p>
          <a:p>
            <a:pPr algn="l" marL="758421" indent="-379211" lvl="1">
              <a:lnSpc>
                <a:spcPts val="4672"/>
              </a:lnSpc>
              <a:buFont typeface="Arial"/>
              <a:buChar char="•"/>
            </a:pPr>
            <a:r>
              <a:rPr lang="en-US" sz="3512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예를 들어, 노드가 실패하거나, Pod가 너무 많은 리소스(CPU, 메모리)를 소비할 때 Kubernetes는 Pod를 종료시킬 수 있습니다. </a:t>
            </a:r>
          </a:p>
          <a:p>
            <a:pPr algn="l" marL="758421" indent="-379211" lvl="1">
              <a:lnSpc>
                <a:spcPts val="4672"/>
              </a:lnSpc>
              <a:buFont typeface="Arial"/>
              <a:buChar char="•"/>
            </a:pPr>
            <a:r>
              <a:rPr lang="en-US" b="true" sz="3512" spc="-5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Pod를 직접 배포하면</a:t>
            </a:r>
            <a:r>
              <a:rPr lang="en-US" sz="3512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그 수명 관리는 </a:t>
            </a:r>
            <a:r>
              <a:rPr lang="en-US" b="true" sz="3512" spc="-5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사용자의 책임</a:t>
            </a:r>
            <a:r>
              <a:rPr lang="en-US" sz="3512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입니다. </a:t>
            </a:r>
          </a:p>
          <a:p>
            <a:pPr algn="l" marL="758421" indent="-379211" lvl="1">
              <a:lnSpc>
                <a:spcPts val="4672"/>
              </a:lnSpc>
              <a:buFont typeface="Arial"/>
              <a:buChar char="•"/>
            </a:pPr>
            <a:r>
              <a:rPr lang="en-US" sz="3512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만약 Pod가 죽으면 다시 자동으로 생성되지 않으며, 수동으로 조치를 취해야 합니다.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053783" y="6191729"/>
            <a:ext cx="1365337" cy="1323418"/>
          </a:xfrm>
          <a:custGeom>
            <a:avLst/>
            <a:gdLst/>
            <a:ahLst/>
            <a:cxnLst/>
            <a:rect r="r" b="b" t="t" l="l"/>
            <a:pathLst>
              <a:path h="1323418" w="1365337">
                <a:moveTo>
                  <a:pt x="0" y="0"/>
                </a:moveTo>
                <a:lnTo>
                  <a:pt x="1365336" y="0"/>
                </a:lnTo>
                <a:lnTo>
                  <a:pt x="1365336" y="1323418"/>
                </a:lnTo>
                <a:lnTo>
                  <a:pt x="0" y="13234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53783" y="7858159"/>
            <a:ext cx="1365337" cy="1323418"/>
          </a:xfrm>
          <a:custGeom>
            <a:avLst/>
            <a:gdLst/>
            <a:ahLst/>
            <a:cxnLst/>
            <a:rect r="r" b="b" t="t" l="l"/>
            <a:pathLst>
              <a:path h="1323418" w="1365337">
                <a:moveTo>
                  <a:pt x="0" y="0"/>
                </a:moveTo>
                <a:lnTo>
                  <a:pt x="1365336" y="0"/>
                </a:lnTo>
                <a:lnTo>
                  <a:pt x="1365336" y="1323418"/>
                </a:lnTo>
                <a:lnTo>
                  <a:pt x="0" y="13234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H="true" flipV="true">
            <a:off x="5419119" y="6853438"/>
            <a:ext cx="3488462" cy="681628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" id="8"/>
          <p:cNvSpPr/>
          <p:nvPr/>
        </p:nvSpPr>
        <p:spPr>
          <a:xfrm flipH="true">
            <a:off x="5419119" y="8052948"/>
            <a:ext cx="3488462" cy="46692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9069957" y="8678122"/>
            <a:ext cx="1847067" cy="58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2"/>
              </a:lnSpc>
            </a:pPr>
            <a:r>
              <a:rPr lang="en-US" sz="3512" spc="-5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수동 관리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17024" y="7385695"/>
            <a:ext cx="6358862" cy="906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6644" indent="-293322" lvl="1">
              <a:lnSpc>
                <a:spcPts val="3613"/>
              </a:lnSpc>
              <a:buFont typeface="Arial"/>
              <a:buChar char="•"/>
            </a:pPr>
            <a:r>
              <a:rPr lang="en-US" b="true" sz="2717" spc="-4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파드 매니패스트 파일 작성</a:t>
            </a:r>
          </a:p>
          <a:p>
            <a:pPr algn="l" marL="586644" indent="-293322" lvl="1">
              <a:lnSpc>
                <a:spcPts val="3613"/>
              </a:lnSpc>
              <a:buFont typeface="Arial"/>
              <a:buChar char="•"/>
            </a:pPr>
            <a:r>
              <a:rPr lang="en-US" b="true" sz="2717" spc="-4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kubectl apply -f my-first.pod.yml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181" y="6510425"/>
            <a:ext cx="2009443" cy="2009443"/>
          </a:xfrm>
          <a:custGeom>
            <a:avLst/>
            <a:gdLst/>
            <a:ahLst/>
            <a:cxnLst/>
            <a:rect r="r" b="b" t="t" l="l"/>
            <a:pathLst>
              <a:path h="2009443" w="2009443">
                <a:moveTo>
                  <a:pt x="0" y="0"/>
                </a:moveTo>
                <a:lnTo>
                  <a:pt x="2009442" y="0"/>
                </a:lnTo>
                <a:lnTo>
                  <a:pt x="2009442" y="2009443"/>
                </a:lnTo>
                <a:lnTo>
                  <a:pt x="0" y="2009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06013" y="6191729"/>
            <a:ext cx="1365337" cy="1323418"/>
          </a:xfrm>
          <a:custGeom>
            <a:avLst/>
            <a:gdLst/>
            <a:ahLst/>
            <a:cxnLst/>
            <a:rect r="r" b="b" t="t" l="l"/>
            <a:pathLst>
              <a:path h="1323418" w="1365337">
                <a:moveTo>
                  <a:pt x="0" y="0"/>
                </a:moveTo>
                <a:lnTo>
                  <a:pt x="1365337" y="0"/>
                </a:lnTo>
                <a:lnTo>
                  <a:pt x="1365337" y="1323418"/>
                </a:lnTo>
                <a:lnTo>
                  <a:pt x="0" y="13234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06013" y="7858159"/>
            <a:ext cx="1365337" cy="1323418"/>
          </a:xfrm>
          <a:custGeom>
            <a:avLst/>
            <a:gdLst/>
            <a:ahLst/>
            <a:cxnLst/>
            <a:rect r="r" b="b" t="t" l="l"/>
            <a:pathLst>
              <a:path h="1323418" w="1365337">
                <a:moveTo>
                  <a:pt x="0" y="0"/>
                </a:moveTo>
                <a:lnTo>
                  <a:pt x="1365337" y="0"/>
                </a:lnTo>
                <a:lnTo>
                  <a:pt x="1365337" y="1323418"/>
                </a:lnTo>
                <a:lnTo>
                  <a:pt x="0" y="13234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H="true" flipV="true">
            <a:off x="4471350" y="6853438"/>
            <a:ext cx="3535851" cy="424767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 flipH="true">
            <a:off x="4471350" y="8052948"/>
            <a:ext cx="3488462" cy="46692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322306" y="6544105"/>
            <a:ext cx="1975763" cy="1975763"/>
          </a:xfrm>
          <a:custGeom>
            <a:avLst/>
            <a:gdLst/>
            <a:ahLst/>
            <a:cxnLst/>
            <a:rect r="r" b="b" t="t" l="l"/>
            <a:pathLst>
              <a:path h="1975763" w="1975763">
                <a:moveTo>
                  <a:pt x="0" y="0"/>
                </a:moveTo>
                <a:lnTo>
                  <a:pt x="1975763" y="0"/>
                </a:lnTo>
                <a:lnTo>
                  <a:pt x="1975763" y="1975763"/>
                </a:lnTo>
                <a:lnTo>
                  <a:pt x="0" y="1975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48176"/>
            <a:ext cx="7766451" cy="5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ReplicaSet을 통한 Pod 관리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553900"/>
            <a:ext cx="16230600" cy="412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421" indent="-379211" lvl="1">
              <a:lnSpc>
                <a:spcPts val="4672"/>
              </a:lnSpc>
              <a:buFont typeface="Arial"/>
              <a:buChar char="•"/>
            </a:pPr>
            <a:r>
              <a:rPr lang="en-US" sz="3512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Pod를 직접 배포하는 대신, ReplicaSet을 사용해 Pod의 수명을 자동으로 관리할 수 있습니다. </a:t>
            </a:r>
          </a:p>
          <a:p>
            <a:pPr algn="l" marL="758421" indent="-379211" lvl="1">
              <a:lnSpc>
                <a:spcPts val="4672"/>
              </a:lnSpc>
              <a:buFont typeface="Arial"/>
              <a:buChar char="•"/>
            </a:pPr>
            <a:r>
              <a:rPr lang="en-US" sz="3512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ReplicaSet은 Kubernetes에 추가적인 구성 정보를 제공해 특정 Pod의 복제본 개수를 유지시킵니다. </a:t>
            </a:r>
          </a:p>
          <a:p>
            <a:pPr algn="l" marL="758421" indent="-379211" lvl="1">
              <a:lnSpc>
                <a:spcPts val="4672"/>
              </a:lnSpc>
              <a:buFont typeface="Arial"/>
              <a:buChar char="•"/>
            </a:pPr>
            <a:r>
              <a:rPr lang="en-US" sz="3512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예를 들어, 한 번에 1개의 Pod가 실행 중이어야 한다고 정의할 수 있으며, Pod가 죽을 경우 Kubernetes가 새로운 Pod를 자동으로 생성합니다. </a:t>
            </a:r>
          </a:p>
          <a:p>
            <a:pPr algn="l" marL="758421" indent="-379211" lvl="1">
              <a:lnSpc>
                <a:spcPts val="4672"/>
              </a:lnSpc>
              <a:buFont typeface="Arial"/>
              <a:buChar char="•"/>
            </a:pPr>
            <a:r>
              <a:rPr lang="en-US" sz="3512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ReplicaSet을 사용하면 Pod의 지속적인 가용성을 보장할 수 있습니다.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08875" y="8678122"/>
            <a:ext cx="4287573" cy="58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2"/>
              </a:lnSpc>
            </a:pPr>
            <a:r>
              <a:rPr lang="en-US" sz="3512" spc="-5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ReplicaSet에게 위임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17205" y="8607039"/>
            <a:ext cx="2392035" cy="58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2"/>
              </a:lnSpc>
            </a:pPr>
            <a:r>
              <a:rPr lang="en-US" sz="3512" spc="-5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ReplicaSet</a:t>
            </a:r>
          </a:p>
        </p:txBody>
      </p:sp>
      <p:sp>
        <p:nvSpPr>
          <p:cNvPr name="AutoShape 12" id="12"/>
          <p:cNvSpPr/>
          <p:nvPr/>
        </p:nvSpPr>
        <p:spPr>
          <a:xfrm flipH="true" flipV="true">
            <a:off x="10382510" y="7498343"/>
            <a:ext cx="2967189" cy="14913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3232409" y="9210675"/>
            <a:ext cx="1112546" cy="58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2"/>
              </a:lnSpc>
            </a:pPr>
            <a:r>
              <a:rPr lang="en-US" sz="3512" spc="-5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53766" y="9305452"/>
            <a:ext cx="4287573" cy="58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2"/>
              </a:lnSpc>
            </a:pPr>
            <a:r>
              <a:rPr lang="en-US" sz="3512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내가 파드 관리할거야!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3286" y="700788"/>
            <a:ext cx="7766451" cy="5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ReplicaSet 정의 방법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3286" y="1435429"/>
            <a:ext cx="17259300" cy="429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712" indent="-344856" lvl="1">
              <a:lnSpc>
                <a:spcPts val="4248"/>
              </a:lnSpc>
              <a:buFont typeface="Arial"/>
              <a:buChar char="•"/>
            </a:pPr>
            <a:r>
              <a:rPr lang="en-US" sz="3194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ReplicaSet은 Pod와 비슷하게 정의되지만, 복제본의 개수를 추가적으로 설정합니다. </a:t>
            </a:r>
          </a:p>
          <a:p>
            <a:pPr algn="l" marL="689712" indent="-344856" lvl="1">
              <a:lnSpc>
                <a:spcPts val="4248"/>
              </a:lnSpc>
              <a:buFont typeface="Arial"/>
              <a:buChar char="•"/>
            </a:pPr>
            <a:r>
              <a:rPr lang="en-US" sz="3194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ReplicaSet의 정의는 API 참조 문서를 바탕으로 합니다. </a:t>
            </a:r>
          </a:p>
          <a:p>
            <a:pPr algn="l" marL="689712" indent="-344856" lvl="1">
              <a:lnSpc>
                <a:spcPts val="4248"/>
              </a:lnSpc>
              <a:buFont typeface="Arial"/>
              <a:buChar char="•"/>
            </a:pPr>
            <a:r>
              <a:rPr lang="en-US" sz="3194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중요한 점은 API 버전이 apps/v1이라는 점입니다. </a:t>
            </a:r>
          </a:p>
          <a:p>
            <a:pPr algn="l" marL="689712" indent="-344856" lvl="1">
              <a:lnSpc>
                <a:spcPts val="4248"/>
              </a:lnSpc>
              <a:buFont typeface="Arial"/>
              <a:buChar char="•"/>
            </a:pPr>
            <a:r>
              <a:rPr lang="en-US" sz="3194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이는 ReplicaSet이 더 이상 확장 기능이 아니며, 이제는 안정화된 API로 간주된다는 것을 의미합니다.</a:t>
            </a:r>
          </a:p>
          <a:p>
            <a:pPr algn="l" marL="689712" indent="-344856" lvl="1">
              <a:lnSpc>
                <a:spcPts val="4248"/>
              </a:lnSpc>
              <a:buFont typeface="Arial"/>
              <a:buChar char="•"/>
            </a:pPr>
            <a:r>
              <a:rPr lang="en-US" sz="3194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ReplicaSet YAML 파일은 Pod 정의와 ReplicaSet 정의가 결합된 형태입니다. </a:t>
            </a:r>
          </a:p>
          <a:p>
            <a:pPr algn="l" marL="689712" indent="-344856" lvl="1">
              <a:lnSpc>
                <a:spcPts val="4248"/>
              </a:lnSpc>
              <a:buFont typeface="Arial"/>
              <a:buChar char="•"/>
            </a:pPr>
            <a:r>
              <a:rPr lang="en-US" sz="3194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 정의는 이전에 사용한 것과 동일하지만, 이제는 상위에 template이라는 태그로 감싸져 있으며, 그 아래에 Pod의 스펙이 포함됩니다. 또한 상위에 replicas 필드를 추가해 필요한 복제본 개수를 </a:t>
            </a:r>
          </a:p>
          <a:p>
            <a:pPr algn="l">
              <a:lnSpc>
                <a:spcPts val="4248"/>
              </a:lnSpc>
            </a:pPr>
            <a:r>
              <a:rPr lang="en-US" sz="3194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정의합니다.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561987" y="6509879"/>
            <a:ext cx="2877330" cy="2222999"/>
            <a:chOff x="0" y="0"/>
            <a:chExt cx="3836440" cy="29639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93933" y="0"/>
              <a:ext cx="2150991" cy="2150991"/>
            </a:xfrm>
            <a:custGeom>
              <a:avLst/>
              <a:gdLst/>
              <a:ahLst/>
              <a:cxnLst/>
              <a:rect r="r" b="b" t="t" l="l"/>
              <a:pathLst>
                <a:path h="2150991" w="2150991">
                  <a:moveTo>
                    <a:pt x="0" y="0"/>
                  </a:moveTo>
                  <a:lnTo>
                    <a:pt x="2150991" y="0"/>
                  </a:lnTo>
                  <a:lnTo>
                    <a:pt x="2150991" y="2150991"/>
                  </a:lnTo>
                  <a:lnTo>
                    <a:pt x="0" y="2150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1857533"/>
              <a:ext cx="3818413" cy="558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5"/>
                </a:lnSpc>
              </a:pPr>
              <a:r>
                <a:rPr lang="en-US" sz="2620" spc="-44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my-first-pod.yml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7140" y="2424913"/>
              <a:ext cx="3789299" cy="539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6"/>
                </a:lnSpc>
              </a:pPr>
              <a:r>
                <a:rPr lang="en-US" sz="2478" spc="-4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파드 매니패스트 파일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57893" y="8429472"/>
            <a:ext cx="5985994" cy="55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7"/>
              </a:lnSpc>
            </a:pPr>
            <a:r>
              <a:rPr lang="en-US" sz="3374" spc="-5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my-first-replicaSet.yml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17215" y="8986554"/>
            <a:ext cx="4706066" cy="53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4"/>
              </a:lnSpc>
            </a:pPr>
            <a:r>
              <a:rPr lang="en-US" sz="3191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리플리카셋 매니패스트 파일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80298" y="6002933"/>
            <a:ext cx="5288404" cy="3684763"/>
            <a:chOff x="0" y="0"/>
            <a:chExt cx="12669278" cy="88274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69279" cy="8827481"/>
            </a:xfrm>
            <a:custGeom>
              <a:avLst/>
              <a:gdLst/>
              <a:ahLst/>
              <a:cxnLst/>
              <a:rect r="r" b="b" t="t" l="l"/>
              <a:pathLst>
                <a:path h="8827481" w="12669279">
                  <a:moveTo>
                    <a:pt x="0" y="0"/>
                  </a:moveTo>
                  <a:lnTo>
                    <a:pt x="12669279" y="0"/>
                  </a:lnTo>
                  <a:lnTo>
                    <a:pt x="12669279" y="8827481"/>
                  </a:lnTo>
                  <a:lnTo>
                    <a:pt x="0" y="8827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669278" cy="8856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439316" y="7621378"/>
            <a:ext cx="4970160" cy="6961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10217215" y="7043798"/>
            <a:ext cx="3184765" cy="48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878" spc="-48" b="true">
                <a:solidFill>
                  <a:srgbClr val="0C9855"/>
                </a:solidFill>
                <a:latin typeface="Inter Bold"/>
                <a:ea typeface="Inter Bold"/>
                <a:cs typeface="Inter Bold"/>
                <a:sym typeface="Inter Bold"/>
              </a:rPr>
              <a:t>파드 정의 내용 포함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252286" y="6814757"/>
            <a:ext cx="1613243" cy="1613243"/>
          </a:xfrm>
          <a:custGeom>
            <a:avLst/>
            <a:gdLst/>
            <a:ahLst/>
            <a:cxnLst/>
            <a:rect r="r" b="b" t="t" l="l"/>
            <a:pathLst>
              <a:path h="1613243" w="1613243">
                <a:moveTo>
                  <a:pt x="0" y="0"/>
                </a:moveTo>
                <a:lnTo>
                  <a:pt x="1613243" y="0"/>
                </a:lnTo>
                <a:lnTo>
                  <a:pt x="1613243" y="1613243"/>
                </a:lnTo>
                <a:lnTo>
                  <a:pt x="0" y="1613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3286" y="700788"/>
            <a:ext cx="7766451" cy="5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ReplicaSet 문법 분석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3286" y="1435429"/>
            <a:ext cx="17259300" cy="42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713" indent="-344857" lvl="1">
              <a:lnSpc>
                <a:spcPts val="4248"/>
              </a:lnSpc>
              <a:buFont typeface="Arial"/>
              <a:buChar char="•"/>
            </a:pPr>
            <a:r>
              <a:rPr lang="en-US" sz="3194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ReplicaSet의 YAML 파일은 기존 Pod 정의를 포함하며, Pod 정의는 template 필드 안에 감싸여 있습니다. 이 템플릿 부분은 Pod의 스펙을 그대로 포함하며, ReplicaSet이 관리할 Pod의 수를 설정하는 replicas 필드가 추가됩니다. 중요한 점은 이제 Pod의 개별 이름을 설정할 필요가 없으며, ReplicaSet이 Pod의 수명 주기를 관리합니다.</a:t>
            </a:r>
          </a:p>
          <a:p>
            <a:pPr algn="l" marL="689713" indent="-344857" lvl="1">
              <a:lnSpc>
                <a:spcPts val="4248"/>
              </a:lnSpc>
              <a:buFont typeface="Arial"/>
              <a:buChar char="•"/>
            </a:pPr>
            <a:r>
              <a:rPr lang="en-US" sz="3194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ReplicaSet을 사용하려면 selector 블록이 필요합니다. 이는 서비스에서 사용된 selector와 유사한 방식으로, 어떤 Pod가 ReplicaSet의 관리 대상이 될지를 결정합니다. YAML 구조 상 replicas와 template과 동일한 레벨에 위치하며, matchLabels 필드를 사용해 선택자를 설정합니다. 예를 들어, app: webapp이라는 레이블을 가진 Pod만이 ReplicaSet의 관리 대상이 됩니다.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3286" y="700788"/>
            <a:ext cx="7766451" cy="50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ReplicaSet 매니패스트 작성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70864" y="1446524"/>
            <a:ext cx="7670102" cy="857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apiVersion: apps/v1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kind: ReplicaSet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metadata: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name: my-first-replicaset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spec: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replicas: 3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selector: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  matchLabels: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    app: my-first-pod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template:</a:t>
            </a:r>
            <a:r>
              <a:rPr lang="en-US" b="true" sz="2873" spc="-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#templete for the pods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  metadata: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    labels: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      app: my-first-pod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  spec: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    containers: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    - name: my-first-pod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r>
              <a:rPr lang="en-US" sz="2873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       image: captainyun/k8s-todo-front-app:v1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3286" y="700788"/>
            <a:ext cx="7766451" cy="50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ReplicaSet 동작 구조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195620" y="3974503"/>
            <a:ext cx="11263116" cy="5283797"/>
            <a:chOff x="0" y="0"/>
            <a:chExt cx="25919118" cy="121592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919117" cy="12159276"/>
            </a:xfrm>
            <a:custGeom>
              <a:avLst/>
              <a:gdLst/>
              <a:ahLst/>
              <a:cxnLst/>
              <a:rect r="r" b="b" t="t" l="l"/>
              <a:pathLst>
                <a:path h="12159276" w="25919117">
                  <a:moveTo>
                    <a:pt x="0" y="0"/>
                  </a:moveTo>
                  <a:lnTo>
                    <a:pt x="25919117" y="0"/>
                  </a:lnTo>
                  <a:lnTo>
                    <a:pt x="25919117" y="12159276"/>
                  </a:lnTo>
                  <a:lnTo>
                    <a:pt x="0" y="121592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919118" cy="12187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693513" y="6021525"/>
            <a:ext cx="1227437" cy="1189753"/>
          </a:xfrm>
          <a:custGeom>
            <a:avLst/>
            <a:gdLst/>
            <a:ahLst/>
            <a:cxnLst/>
            <a:rect r="r" b="b" t="t" l="l"/>
            <a:pathLst>
              <a:path h="1189753" w="1227437">
                <a:moveTo>
                  <a:pt x="0" y="0"/>
                </a:moveTo>
                <a:lnTo>
                  <a:pt x="1227437" y="0"/>
                </a:lnTo>
                <a:lnTo>
                  <a:pt x="1227437" y="1189753"/>
                </a:lnTo>
                <a:lnTo>
                  <a:pt x="0" y="1189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36699" y="4411247"/>
            <a:ext cx="1921917" cy="54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  <a:spcBef>
                <a:spcPct val="0"/>
              </a:spcBef>
            </a:pPr>
            <a:r>
              <a:rPr lang="en-US" b="true" sz="3250" spc="-5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파드 정보</a:t>
            </a:r>
          </a:p>
        </p:txBody>
      </p:sp>
      <p:sp>
        <p:nvSpPr>
          <p:cNvPr name="AutoShape 8" id="8"/>
          <p:cNvSpPr/>
          <p:nvPr/>
        </p:nvSpPr>
        <p:spPr>
          <a:xfrm>
            <a:off x="7949258" y="6213414"/>
            <a:ext cx="2456764" cy="531096"/>
          </a:xfrm>
          <a:prstGeom prst="line">
            <a:avLst/>
          </a:prstGeom>
          <a:ln cap="flat" w="66675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7247145" y="2563296"/>
            <a:ext cx="3862881" cy="107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4"/>
              </a:lnSpc>
            </a:pPr>
            <a:r>
              <a:rPr lang="en-US" sz="3229" spc="-5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label : my-first-pod</a:t>
            </a:r>
          </a:p>
          <a:p>
            <a:pPr algn="l">
              <a:lnSpc>
                <a:spcPts val="4294"/>
              </a:lnSpc>
              <a:spcBef>
                <a:spcPct val="0"/>
              </a:spcBef>
            </a:pPr>
            <a:r>
              <a:rPr lang="en-US" b="true" sz="3229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image: ...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0739" y="5742945"/>
            <a:ext cx="4478925" cy="161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4"/>
              </a:lnSpc>
            </a:pPr>
            <a:r>
              <a:rPr lang="en-US" b="true" sz="3229" spc="-54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 selector:</a:t>
            </a:r>
          </a:p>
          <a:p>
            <a:pPr algn="ctr">
              <a:lnSpc>
                <a:spcPts val="4294"/>
              </a:lnSpc>
            </a:pPr>
            <a:r>
              <a:rPr lang="en-US" b="true" sz="3229" spc="-54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  matchLabels:</a:t>
            </a:r>
          </a:p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b="true" sz="3229" spc="-54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   app: my-first-pod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158616" y="5533660"/>
            <a:ext cx="4297232" cy="3561475"/>
            <a:chOff x="0" y="0"/>
            <a:chExt cx="812800" cy="6736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673635"/>
            </a:xfrm>
            <a:custGeom>
              <a:avLst/>
              <a:gdLst/>
              <a:ahLst/>
              <a:cxnLst/>
              <a:rect r="r" b="b" t="t" l="l"/>
              <a:pathLst>
                <a:path h="673635" w="812800">
                  <a:moveTo>
                    <a:pt x="406400" y="0"/>
                  </a:moveTo>
                  <a:cubicBezTo>
                    <a:pt x="181951" y="0"/>
                    <a:pt x="0" y="150798"/>
                    <a:pt x="0" y="336818"/>
                  </a:cubicBezTo>
                  <a:cubicBezTo>
                    <a:pt x="0" y="522837"/>
                    <a:pt x="181951" y="673635"/>
                    <a:pt x="406400" y="673635"/>
                  </a:cubicBezTo>
                  <a:cubicBezTo>
                    <a:pt x="630849" y="673635"/>
                    <a:pt x="812800" y="522837"/>
                    <a:pt x="812800" y="336818"/>
                  </a:cubicBezTo>
                  <a:cubicBezTo>
                    <a:pt x="812800" y="15079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4578"/>
              <a:ext cx="660400" cy="575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99338" y="5533660"/>
            <a:ext cx="2211560" cy="2070234"/>
            <a:chOff x="0" y="0"/>
            <a:chExt cx="2948746" cy="276031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948746" cy="2760312"/>
              <a:chOff x="0" y="0"/>
              <a:chExt cx="5089327" cy="476410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089327" cy="4764103"/>
              </a:xfrm>
              <a:custGeom>
                <a:avLst/>
                <a:gdLst/>
                <a:ahLst/>
                <a:cxnLst/>
                <a:rect r="r" b="b" t="t" l="l"/>
                <a:pathLst>
                  <a:path h="4764103" w="5089327">
                    <a:moveTo>
                      <a:pt x="0" y="0"/>
                    </a:moveTo>
                    <a:lnTo>
                      <a:pt x="5089327" y="0"/>
                    </a:lnTo>
                    <a:lnTo>
                      <a:pt x="5089327" y="4764103"/>
                    </a:lnTo>
                    <a:lnTo>
                      <a:pt x="0" y="4764103"/>
                    </a:lnTo>
                    <a:close/>
                  </a:path>
                </a:pathLst>
              </a:custGeom>
              <a:solidFill>
                <a:srgbClr val="38B6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5089327" cy="47926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510816" y="309710"/>
              <a:ext cx="1927114" cy="1927114"/>
            </a:xfrm>
            <a:custGeom>
              <a:avLst/>
              <a:gdLst/>
              <a:ahLst/>
              <a:cxnLst/>
              <a:rect r="r" b="b" t="t" l="l"/>
              <a:pathLst>
                <a:path h="1927114" w="1927114">
                  <a:moveTo>
                    <a:pt x="0" y="0"/>
                  </a:moveTo>
                  <a:lnTo>
                    <a:pt x="1927114" y="0"/>
                  </a:lnTo>
                  <a:lnTo>
                    <a:pt x="1927114" y="1927114"/>
                  </a:lnTo>
                  <a:lnTo>
                    <a:pt x="0" y="1927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434563" y="2173324"/>
              <a:ext cx="2333136" cy="557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17"/>
                </a:lnSpc>
              </a:pPr>
              <a:r>
                <a:rPr lang="en-US" sz="2569" spc="-43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ReplicaSet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110026" y="7356508"/>
            <a:ext cx="1227437" cy="1189753"/>
          </a:xfrm>
          <a:custGeom>
            <a:avLst/>
            <a:gdLst/>
            <a:ahLst/>
            <a:cxnLst/>
            <a:rect r="r" b="b" t="t" l="l"/>
            <a:pathLst>
              <a:path h="1189753" w="1227437">
                <a:moveTo>
                  <a:pt x="0" y="0"/>
                </a:moveTo>
                <a:lnTo>
                  <a:pt x="1227437" y="0"/>
                </a:lnTo>
                <a:lnTo>
                  <a:pt x="1227437" y="1189753"/>
                </a:lnTo>
                <a:lnTo>
                  <a:pt x="0" y="1189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411494" y="7356508"/>
            <a:ext cx="1227437" cy="1189753"/>
          </a:xfrm>
          <a:custGeom>
            <a:avLst/>
            <a:gdLst/>
            <a:ahLst/>
            <a:cxnLst/>
            <a:rect r="r" b="b" t="t" l="l"/>
            <a:pathLst>
              <a:path h="1189753" w="1227437">
                <a:moveTo>
                  <a:pt x="0" y="0"/>
                </a:moveTo>
                <a:lnTo>
                  <a:pt x="1227437" y="0"/>
                </a:lnTo>
                <a:lnTo>
                  <a:pt x="1227437" y="1189753"/>
                </a:lnTo>
                <a:lnTo>
                  <a:pt x="0" y="1189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705904" y="1876192"/>
            <a:ext cx="4770960" cy="2582680"/>
            <a:chOff x="0" y="0"/>
            <a:chExt cx="10979117" cy="59433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9117" cy="5943364"/>
            </a:xfrm>
            <a:custGeom>
              <a:avLst/>
              <a:gdLst/>
              <a:ahLst/>
              <a:cxnLst/>
              <a:rect r="r" b="b" t="t" l="l"/>
              <a:pathLst>
                <a:path h="5943364" w="10979117">
                  <a:moveTo>
                    <a:pt x="0" y="0"/>
                  </a:moveTo>
                  <a:lnTo>
                    <a:pt x="10979117" y="0"/>
                  </a:lnTo>
                  <a:lnTo>
                    <a:pt x="10979117" y="5943364"/>
                  </a:lnTo>
                  <a:lnTo>
                    <a:pt x="0" y="59433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0979117" cy="5971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6805118" y="4480433"/>
            <a:ext cx="1305857" cy="1053227"/>
          </a:xfrm>
          <a:prstGeom prst="line">
            <a:avLst/>
          </a:prstGeom>
          <a:ln cap="flat" w="66675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6" id="26"/>
          <p:cNvSpPr txBox="true"/>
          <p:nvPr/>
        </p:nvSpPr>
        <p:spPr>
          <a:xfrm rot="0">
            <a:off x="8004380" y="6568777"/>
            <a:ext cx="2348409" cy="54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  <a:spcBef>
                <a:spcPct val="0"/>
              </a:spcBef>
            </a:pPr>
            <a:r>
              <a:rPr lang="en-US" b="true" sz="3250" spc="-5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replicas=3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15579" y="3035070"/>
            <a:ext cx="11130723" cy="4216860"/>
          </a:xfrm>
          <a:custGeom>
            <a:avLst/>
            <a:gdLst/>
            <a:ahLst/>
            <a:cxnLst/>
            <a:rect r="r" b="b" t="t" l="l"/>
            <a:pathLst>
              <a:path h="4216860" w="11130723">
                <a:moveTo>
                  <a:pt x="0" y="0"/>
                </a:moveTo>
                <a:lnTo>
                  <a:pt x="11130722" y="0"/>
                </a:lnTo>
                <a:lnTo>
                  <a:pt x="11130722" y="4216860"/>
                </a:lnTo>
                <a:lnTo>
                  <a:pt x="0" y="42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76040" y="2004640"/>
            <a:ext cx="10790750" cy="63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  <a:spcBef>
                <a:spcPct val="0"/>
              </a:spcBef>
            </a:pPr>
            <a:r>
              <a:rPr lang="en-US" b="true" sz="3794" spc="-6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특정 파드를 강제로 지워도 replicaset이 바로 복원시킴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8068" y="6220960"/>
            <a:ext cx="12369414" cy="2721271"/>
          </a:xfrm>
          <a:custGeom>
            <a:avLst/>
            <a:gdLst/>
            <a:ahLst/>
            <a:cxnLst/>
            <a:rect r="r" b="b" t="t" l="l"/>
            <a:pathLst>
              <a:path h="2721271" w="12369414">
                <a:moveTo>
                  <a:pt x="0" y="0"/>
                </a:moveTo>
                <a:lnTo>
                  <a:pt x="12369415" y="0"/>
                </a:lnTo>
                <a:lnTo>
                  <a:pt x="12369415" y="2721272"/>
                </a:lnTo>
                <a:lnTo>
                  <a:pt x="0" y="2721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8469" y="2037768"/>
            <a:ext cx="6614045" cy="3630743"/>
          </a:xfrm>
          <a:custGeom>
            <a:avLst/>
            <a:gdLst/>
            <a:ahLst/>
            <a:cxnLst/>
            <a:rect r="r" b="b" t="t" l="l"/>
            <a:pathLst>
              <a:path h="3630743" w="6614045">
                <a:moveTo>
                  <a:pt x="0" y="0"/>
                </a:moveTo>
                <a:lnTo>
                  <a:pt x="6614046" y="0"/>
                </a:lnTo>
                <a:lnTo>
                  <a:pt x="6614046" y="3630742"/>
                </a:lnTo>
                <a:lnTo>
                  <a:pt x="0" y="363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52787"/>
            <a:ext cx="10790750" cy="63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  <a:spcBef>
                <a:spcPct val="0"/>
              </a:spcBef>
            </a:pPr>
            <a:r>
              <a:rPr lang="en-US" b="true" sz="3794" spc="-6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replicas 숫자 조정 후 다시 apply로 적용하면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0760" y="1583074"/>
            <a:ext cx="9471170" cy="3883180"/>
          </a:xfrm>
          <a:custGeom>
            <a:avLst/>
            <a:gdLst/>
            <a:ahLst/>
            <a:cxnLst/>
            <a:rect r="r" b="b" t="t" l="l"/>
            <a:pathLst>
              <a:path h="3883180" w="9471170">
                <a:moveTo>
                  <a:pt x="0" y="0"/>
                </a:moveTo>
                <a:lnTo>
                  <a:pt x="9471170" y="0"/>
                </a:lnTo>
                <a:lnTo>
                  <a:pt x="9471170" y="3883179"/>
                </a:lnTo>
                <a:lnTo>
                  <a:pt x="0" y="3883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47034" y="4545656"/>
            <a:ext cx="6696180" cy="4993921"/>
          </a:xfrm>
          <a:custGeom>
            <a:avLst/>
            <a:gdLst/>
            <a:ahLst/>
            <a:cxnLst/>
            <a:rect r="r" b="b" t="t" l="l"/>
            <a:pathLst>
              <a:path h="4993921" w="6696180">
                <a:moveTo>
                  <a:pt x="0" y="0"/>
                </a:moveTo>
                <a:lnTo>
                  <a:pt x="6696180" y="0"/>
                </a:lnTo>
                <a:lnTo>
                  <a:pt x="6696180" y="4993921"/>
                </a:lnTo>
                <a:lnTo>
                  <a:pt x="0" y="4993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9966" y="576416"/>
            <a:ext cx="16230600" cy="63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  <a:spcBef>
                <a:spcPct val="0"/>
              </a:spcBef>
            </a:pPr>
            <a:r>
              <a:rPr lang="en-US" b="true" sz="3794" spc="-6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그런데 이미지를 업데이트하고 싶어서 이미지를 수정하고 다시 apply로 적용하면?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97467" y="7287388"/>
            <a:ext cx="5839267" cy="91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1"/>
              </a:lnSpc>
              <a:spcBef>
                <a:spcPct val="0"/>
              </a:spcBef>
            </a:pPr>
            <a:r>
              <a:rPr lang="en-US" sz="5512" spc="-9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안바뀐다 ㅠㅠ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8732" y="5143500"/>
            <a:ext cx="1628883" cy="1628883"/>
          </a:xfrm>
          <a:custGeom>
            <a:avLst/>
            <a:gdLst/>
            <a:ahLst/>
            <a:cxnLst/>
            <a:rect r="r" b="b" t="t" l="l"/>
            <a:pathLst>
              <a:path h="1628883" w="1628883">
                <a:moveTo>
                  <a:pt x="0" y="0"/>
                </a:moveTo>
                <a:lnTo>
                  <a:pt x="1628883" y="0"/>
                </a:lnTo>
                <a:lnTo>
                  <a:pt x="1628883" y="1628883"/>
                </a:lnTo>
                <a:lnTo>
                  <a:pt x="0" y="16288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14186" y="5187000"/>
            <a:ext cx="1578843" cy="1541839"/>
          </a:xfrm>
          <a:custGeom>
            <a:avLst/>
            <a:gdLst/>
            <a:ahLst/>
            <a:cxnLst/>
            <a:rect r="r" b="b" t="t" l="l"/>
            <a:pathLst>
              <a:path h="1541839" w="1578843">
                <a:moveTo>
                  <a:pt x="0" y="0"/>
                </a:moveTo>
                <a:lnTo>
                  <a:pt x="1578843" y="0"/>
                </a:lnTo>
                <a:lnTo>
                  <a:pt x="1578843" y="1541839"/>
                </a:lnTo>
                <a:lnTo>
                  <a:pt x="0" y="15418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2840" y="1095730"/>
            <a:ext cx="7766451" cy="50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디플로이먼트(Deployment)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42082" y="6835888"/>
            <a:ext cx="1972071" cy="48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896" spc="-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ReplicaSet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07283" y="5857029"/>
            <a:ext cx="667283" cy="74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3"/>
              </a:lnSpc>
            </a:pPr>
            <a:r>
              <a:rPr lang="en-US" sz="4506" spc="-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+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17572" y="6835866"/>
            <a:ext cx="2128345" cy="48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896" spc="-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Deployment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56804" y="5857029"/>
            <a:ext cx="667283" cy="74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3"/>
              </a:lnSpc>
            </a:pPr>
            <a:r>
              <a:rPr lang="en-US" sz="4506" spc="-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=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55133" y="5684544"/>
            <a:ext cx="3309594" cy="108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4"/>
              </a:lnSpc>
            </a:pPr>
            <a:r>
              <a:rPr lang="en-US" sz="2896" spc="-49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무중단 배포 기능</a:t>
            </a:r>
          </a:p>
          <a:p>
            <a:pPr algn="ctr">
              <a:lnSpc>
                <a:spcPts val="4344"/>
              </a:lnSpc>
            </a:pPr>
            <a:r>
              <a:rPr lang="en-US" sz="2896" spc="-49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자동 롤백 기능 제공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2840" y="1798321"/>
            <a:ext cx="17074492" cy="207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5424" indent="-317712" lvl="1">
              <a:lnSpc>
                <a:spcPts val="4120"/>
              </a:lnSpc>
              <a:buFont typeface="Arial"/>
              <a:buChar char="•"/>
            </a:pPr>
            <a:r>
              <a:rPr lang="en-US" sz="2943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943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eplicaSet은 기본적으로 Pod를 관리하지만, Deployment는 더 진보된 형태로 자동 롤링 업데이트와 롤백 </a:t>
            </a:r>
          </a:p>
          <a:p>
            <a:pPr algn="just">
              <a:lnSpc>
                <a:spcPts val="4120"/>
              </a:lnSpc>
            </a:pPr>
            <a:r>
              <a:rPr lang="en-US" sz="2943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기능을 제공합니다. </a:t>
            </a:r>
          </a:p>
          <a:p>
            <a:pPr algn="just" marL="635424" indent="-317712" lvl="1">
              <a:lnSpc>
                <a:spcPts val="4120"/>
              </a:lnSpc>
              <a:buFont typeface="Arial"/>
              <a:buChar char="•"/>
            </a:pPr>
            <a:r>
              <a:rPr lang="en-US" sz="2943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Deployment는 ReplicaSet 위에 구축된 컨트롤러로, 시스템 중단 없이 새로운 버전을 배포할 수 있습니다.</a:t>
            </a:r>
          </a:p>
          <a:p>
            <a:pPr algn="just" marL="635424" indent="-317712" lvl="1">
              <a:lnSpc>
                <a:spcPts val="4120"/>
              </a:lnSpc>
              <a:buFont typeface="Arial"/>
              <a:buChar char="•"/>
            </a:pPr>
            <a:r>
              <a:rPr lang="en-US" sz="2943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이제는 직접 ReplicaSet을 다룰 필요 없이 Deployment로 작업할 수 있습니다. (권장 방법)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4567" y="4005315"/>
            <a:ext cx="9633547" cy="45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2752" spc="-46">
                <a:solidFill>
                  <a:srgbClr val="0C9855"/>
                </a:solidFill>
                <a:latin typeface="Inter"/>
                <a:ea typeface="Inter"/>
                <a:cs typeface="Inter"/>
                <a:sym typeface="Inter"/>
              </a:rPr>
              <a:t>Deployment가 생성되면, 이는 자동으로 ReplicaSet과 Pod를 생성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4567" y="7941692"/>
            <a:ext cx="8646599" cy="50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0"/>
              </a:lnSpc>
            </a:pPr>
            <a:r>
              <a:rPr lang="en-US" sz="2943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쿠버네티스는 애초에 </a:t>
            </a:r>
            <a:r>
              <a:rPr lang="en-US" b="true" sz="2943" spc="-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운영 자동화</a:t>
            </a:r>
            <a:r>
              <a:rPr lang="en-US" sz="2943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를 목표로 설계된 표준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59718" y="8558700"/>
            <a:ext cx="8646599" cy="102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20"/>
              </a:lnSpc>
            </a:pPr>
            <a:r>
              <a:rPr lang="en-US" sz="2943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따라서 최대한 사용자가 </a:t>
            </a:r>
            <a:r>
              <a:rPr lang="en-US" b="true" sz="2943" spc="-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직접 수동으로 하는 일은 줄이고</a:t>
            </a:r>
            <a:r>
              <a:rPr lang="en-US" sz="2943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943" spc="-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쿠버네티스에게 위임하는게 좋은 방향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25829" y="4158594"/>
            <a:ext cx="9280499" cy="3940927"/>
          </a:xfrm>
          <a:custGeom>
            <a:avLst/>
            <a:gdLst/>
            <a:ahLst/>
            <a:cxnLst/>
            <a:rect r="r" b="b" t="t" l="l"/>
            <a:pathLst>
              <a:path h="3940927" w="9280499">
                <a:moveTo>
                  <a:pt x="0" y="0"/>
                </a:moveTo>
                <a:lnTo>
                  <a:pt x="9280499" y="0"/>
                </a:lnTo>
                <a:lnTo>
                  <a:pt x="9280499" y="3940927"/>
                </a:lnTo>
                <a:lnTo>
                  <a:pt x="0" y="3940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75" r="0" b="-124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6380" y="677324"/>
            <a:ext cx="15835710" cy="50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디플로이먼트(Deployment) 매니패스트 작성 &amp; 실행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8245" y="2113545"/>
            <a:ext cx="8707513" cy="798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apiVersion: apps/v1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kind: </a:t>
            </a:r>
            <a:r>
              <a:rPr lang="en-US" sz="2679" spc="-4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Deployment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metadata: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name: my-first-deployment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spec: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replicas: 3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selector: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matchLabels: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app: my-first-pod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template: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metadata: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labels: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app: my-first-pod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spec: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containers: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- name: my-first-pod</a:t>
            </a:r>
          </a:p>
          <a:p>
            <a:pPr algn="l">
              <a:lnSpc>
                <a:spcPts val="3563"/>
              </a:lnSpc>
            </a:pPr>
            <a:r>
              <a:rPr lang="en-US" sz="267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image: captainyun/k8s-todo-front-app:v2</a:t>
            </a:r>
          </a:p>
          <a:p>
            <a:pPr algn="l">
              <a:lnSpc>
                <a:spcPts val="3563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16617" y="1466361"/>
            <a:ext cx="8646599" cy="50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0"/>
              </a:lnSpc>
            </a:pPr>
            <a:r>
              <a:rPr lang="en-US" sz="2943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매니페스트 파일은 </a:t>
            </a:r>
            <a:r>
              <a:rPr lang="en-US" b="true" sz="2943" spc="-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ReplicaSet</a:t>
            </a:r>
            <a:r>
              <a:rPr lang="en-US" sz="2943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과 거의 유사함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84525" y="3451778"/>
            <a:ext cx="9845221" cy="50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0"/>
              </a:lnSpc>
            </a:pPr>
            <a:r>
              <a:rPr lang="en-US" sz="2943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실행 결과를 보면 replicaset도 생성됌 (deployment에 의해)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3286" y="858470"/>
            <a:ext cx="7766451" cy="50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무중단 배포 동작 원리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3286" y="1670511"/>
            <a:ext cx="17259300" cy="48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93" indent="-313696" lvl="1">
              <a:lnSpc>
                <a:spcPts val="3864"/>
              </a:lnSpc>
              <a:buFont typeface="Arial"/>
              <a:buChar char="•"/>
            </a:pPr>
            <a:r>
              <a:rPr lang="en-US" sz="2905" spc="-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Deployment의 이미지를 업데이트하면 Kubernetes가 자동으로 새 ReplicaSet을 생성하고 배포 과정을 시작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286" y="2237453"/>
            <a:ext cx="17004478" cy="48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93" indent="-313696" lvl="1">
              <a:lnSpc>
                <a:spcPts val="3864"/>
              </a:lnSpc>
              <a:buFont typeface="Arial"/>
              <a:buChar char="•"/>
            </a:pPr>
            <a:r>
              <a:rPr lang="en-US" sz="2905" spc="-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kubectl apply 명령으로 배포를 실행하면, 새로운 이미지가 적용된 Pod가 배포되고, 기존 Pod는 차례로 종료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101715" y="3647265"/>
            <a:ext cx="1272794" cy="1272794"/>
          </a:xfrm>
          <a:custGeom>
            <a:avLst/>
            <a:gdLst/>
            <a:ahLst/>
            <a:cxnLst/>
            <a:rect r="r" b="b" t="t" l="l"/>
            <a:pathLst>
              <a:path h="1272794" w="1272794">
                <a:moveTo>
                  <a:pt x="0" y="0"/>
                </a:moveTo>
                <a:lnTo>
                  <a:pt x="1272793" y="0"/>
                </a:lnTo>
                <a:lnTo>
                  <a:pt x="1272793" y="1272794"/>
                </a:lnTo>
                <a:lnTo>
                  <a:pt x="0" y="1272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32170" y="3609165"/>
            <a:ext cx="3155776" cy="4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6"/>
              </a:lnSpc>
            </a:pPr>
            <a:r>
              <a:rPr lang="en-US" sz="2546" spc="-4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ReplicaSet_a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738112" y="4263068"/>
            <a:ext cx="4249834" cy="5004859"/>
            <a:chOff x="0" y="0"/>
            <a:chExt cx="9779882" cy="115173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79882" cy="11517375"/>
            </a:xfrm>
            <a:custGeom>
              <a:avLst/>
              <a:gdLst/>
              <a:ahLst/>
              <a:cxnLst/>
              <a:rect r="r" b="b" t="t" l="l"/>
              <a:pathLst>
                <a:path h="11517375" w="9779882">
                  <a:moveTo>
                    <a:pt x="0" y="0"/>
                  </a:moveTo>
                  <a:lnTo>
                    <a:pt x="9779882" y="0"/>
                  </a:lnTo>
                  <a:lnTo>
                    <a:pt x="9779882" y="11517375"/>
                  </a:lnTo>
                  <a:lnTo>
                    <a:pt x="0" y="115173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779882" cy="1154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88645" y="4485985"/>
            <a:ext cx="1564754" cy="1415195"/>
            <a:chOff x="0" y="0"/>
            <a:chExt cx="2086339" cy="18869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87453" y="129829"/>
              <a:ext cx="1289361" cy="1249775"/>
            </a:xfrm>
            <a:custGeom>
              <a:avLst/>
              <a:gdLst/>
              <a:ahLst/>
              <a:cxnLst/>
              <a:rect r="r" b="b" t="t" l="l"/>
              <a:pathLst>
                <a:path h="1249775" w="1289361">
                  <a:moveTo>
                    <a:pt x="0" y="0"/>
                  </a:moveTo>
                  <a:lnTo>
                    <a:pt x="1289361" y="0"/>
                  </a:lnTo>
                  <a:lnTo>
                    <a:pt x="1289361" y="1249775"/>
                  </a:lnTo>
                  <a:lnTo>
                    <a:pt x="0" y="124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0" y="0"/>
              <a:ext cx="2086339" cy="1886927"/>
              <a:chOff x="0" y="0"/>
              <a:chExt cx="4065597" cy="367700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065597" cy="3677008"/>
              </a:xfrm>
              <a:custGeom>
                <a:avLst/>
                <a:gdLst/>
                <a:ahLst/>
                <a:cxnLst/>
                <a:rect r="r" b="b" t="t" l="l"/>
                <a:pathLst>
                  <a:path h="3677008" w="4065597">
                    <a:moveTo>
                      <a:pt x="0" y="0"/>
                    </a:moveTo>
                    <a:lnTo>
                      <a:pt x="4065597" y="0"/>
                    </a:lnTo>
                    <a:lnTo>
                      <a:pt x="4065597" y="3677008"/>
                    </a:lnTo>
                    <a:lnTo>
                      <a:pt x="0" y="36770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4065597" cy="37055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03047" y="1354120"/>
              <a:ext cx="1883292" cy="384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92"/>
                </a:lnSpc>
              </a:pPr>
              <a:r>
                <a:rPr lang="en-US" b="true" sz="1798" spc="-3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hello-app:v1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88645" y="6034530"/>
            <a:ext cx="1564754" cy="1415195"/>
            <a:chOff x="0" y="0"/>
            <a:chExt cx="2086339" cy="18869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87453" y="129829"/>
              <a:ext cx="1289361" cy="1249775"/>
            </a:xfrm>
            <a:custGeom>
              <a:avLst/>
              <a:gdLst/>
              <a:ahLst/>
              <a:cxnLst/>
              <a:rect r="r" b="b" t="t" l="l"/>
              <a:pathLst>
                <a:path h="1249775" w="1289361">
                  <a:moveTo>
                    <a:pt x="0" y="0"/>
                  </a:moveTo>
                  <a:lnTo>
                    <a:pt x="1289361" y="0"/>
                  </a:lnTo>
                  <a:lnTo>
                    <a:pt x="1289361" y="1249775"/>
                  </a:lnTo>
                  <a:lnTo>
                    <a:pt x="0" y="124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086339" cy="1886927"/>
              <a:chOff x="0" y="0"/>
              <a:chExt cx="4065597" cy="367700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5597" cy="3677008"/>
              </a:xfrm>
              <a:custGeom>
                <a:avLst/>
                <a:gdLst/>
                <a:ahLst/>
                <a:cxnLst/>
                <a:rect r="r" b="b" t="t" l="l"/>
                <a:pathLst>
                  <a:path h="3677008" w="4065597">
                    <a:moveTo>
                      <a:pt x="0" y="0"/>
                    </a:moveTo>
                    <a:lnTo>
                      <a:pt x="4065597" y="0"/>
                    </a:lnTo>
                    <a:lnTo>
                      <a:pt x="4065597" y="3677008"/>
                    </a:lnTo>
                    <a:lnTo>
                      <a:pt x="0" y="36770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4065597" cy="37055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03047" y="1354120"/>
              <a:ext cx="1883292" cy="384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92"/>
                </a:lnSpc>
              </a:pPr>
              <a:r>
                <a:rPr lang="en-US" b="true" sz="1798" spc="-3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hello-app:v1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88645" y="7583075"/>
            <a:ext cx="1564754" cy="1415195"/>
            <a:chOff x="0" y="0"/>
            <a:chExt cx="2086339" cy="18869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387453" y="129829"/>
              <a:ext cx="1289361" cy="1249775"/>
            </a:xfrm>
            <a:custGeom>
              <a:avLst/>
              <a:gdLst/>
              <a:ahLst/>
              <a:cxnLst/>
              <a:rect r="r" b="b" t="t" l="l"/>
              <a:pathLst>
                <a:path h="1249775" w="1289361">
                  <a:moveTo>
                    <a:pt x="0" y="0"/>
                  </a:moveTo>
                  <a:lnTo>
                    <a:pt x="1289361" y="0"/>
                  </a:lnTo>
                  <a:lnTo>
                    <a:pt x="1289361" y="1249775"/>
                  </a:lnTo>
                  <a:lnTo>
                    <a:pt x="0" y="124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24" id="24"/>
            <p:cNvGrpSpPr/>
            <p:nvPr/>
          </p:nvGrpSpPr>
          <p:grpSpPr>
            <a:xfrm rot="0">
              <a:off x="0" y="0"/>
              <a:ext cx="2086339" cy="1886927"/>
              <a:chOff x="0" y="0"/>
              <a:chExt cx="4065597" cy="367700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5597" cy="3677008"/>
              </a:xfrm>
              <a:custGeom>
                <a:avLst/>
                <a:gdLst/>
                <a:ahLst/>
                <a:cxnLst/>
                <a:rect r="r" b="b" t="t" l="l"/>
                <a:pathLst>
                  <a:path h="3677008" w="4065597">
                    <a:moveTo>
                      <a:pt x="0" y="0"/>
                    </a:moveTo>
                    <a:lnTo>
                      <a:pt x="4065597" y="0"/>
                    </a:lnTo>
                    <a:lnTo>
                      <a:pt x="4065597" y="3677008"/>
                    </a:lnTo>
                    <a:lnTo>
                      <a:pt x="0" y="36770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4065597" cy="37055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03047" y="1354120"/>
              <a:ext cx="1883292" cy="384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92"/>
                </a:lnSpc>
              </a:pPr>
              <a:r>
                <a:rPr lang="en-US" b="true" sz="1798" spc="-3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hello-app:v1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73236" y="4462281"/>
            <a:ext cx="1564754" cy="1415195"/>
            <a:chOff x="0" y="0"/>
            <a:chExt cx="2086339" cy="188692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387453" y="129829"/>
              <a:ext cx="1289361" cy="1249775"/>
            </a:xfrm>
            <a:custGeom>
              <a:avLst/>
              <a:gdLst/>
              <a:ahLst/>
              <a:cxnLst/>
              <a:rect r="r" b="b" t="t" l="l"/>
              <a:pathLst>
                <a:path h="1249775" w="1289361">
                  <a:moveTo>
                    <a:pt x="0" y="0"/>
                  </a:moveTo>
                  <a:lnTo>
                    <a:pt x="1289361" y="0"/>
                  </a:lnTo>
                  <a:lnTo>
                    <a:pt x="1289361" y="1249775"/>
                  </a:lnTo>
                  <a:lnTo>
                    <a:pt x="0" y="124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30" id="30"/>
            <p:cNvGrpSpPr/>
            <p:nvPr/>
          </p:nvGrpSpPr>
          <p:grpSpPr>
            <a:xfrm rot="0">
              <a:off x="0" y="0"/>
              <a:ext cx="2086339" cy="1886927"/>
              <a:chOff x="0" y="0"/>
              <a:chExt cx="4065597" cy="367700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065597" cy="3677008"/>
              </a:xfrm>
              <a:custGeom>
                <a:avLst/>
                <a:gdLst/>
                <a:ahLst/>
                <a:cxnLst/>
                <a:rect r="r" b="b" t="t" l="l"/>
                <a:pathLst>
                  <a:path h="3677008" w="4065597">
                    <a:moveTo>
                      <a:pt x="0" y="0"/>
                    </a:moveTo>
                    <a:lnTo>
                      <a:pt x="4065597" y="0"/>
                    </a:lnTo>
                    <a:lnTo>
                      <a:pt x="4065597" y="3677008"/>
                    </a:lnTo>
                    <a:lnTo>
                      <a:pt x="0" y="36770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4065597" cy="37055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03047" y="1354120"/>
              <a:ext cx="1883292" cy="384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92"/>
                </a:lnSpc>
              </a:pPr>
              <a:r>
                <a:rPr lang="en-US" b="true" sz="1798" spc="-3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hello-app:v2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373236" y="6057349"/>
            <a:ext cx="1564754" cy="1415195"/>
            <a:chOff x="0" y="0"/>
            <a:chExt cx="2086339" cy="18869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387453" y="129829"/>
              <a:ext cx="1289361" cy="1249775"/>
            </a:xfrm>
            <a:custGeom>
              <a:avLst/>
              <a:gdLst/>
              <a:ahLst/>
              <a:cxnLst/>
              <a:rect r="r" b="b" t="t" l="l"/>
              <a:pathLst>
                <a:path h="1249775" w="1289361">
                  <a:moveTo>
                    <a:pt x="0" y="0"/>
                  </a:moveTo>
                  <a:lnTo>
                    <a:pt x="1289361" y="0"/>
                  </a:lnTo>
                  <a:lnTo>
                    <a:pt x="1289361" y="1249775"/>
                  </a:lnTo>
                  <a:lnTo>
                    <a:pt x="0" y="124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36" id="36"/>
            <p:cNvGrpSpPr/>
            <p:nvPr/>
          </p:nvGrpSpPr>
          <p:grpSpPr>
            <a:xfrm rot="0">
              <a:off x="0" y="0"/>
              <a:ext cx="2086339" cy="1886927"/>
              <a:chOff x="0" y="0"/>
              <a:chExt cx="4065597" cy="3677008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065597" cy="3677008"/>
              </a:xfrm>
              <a:custGeom>
                <a:avLst/>
                <a:gdLst/>
                <a:ahLst/>
                <a:cxnLst/>
                <a:rect r="r" b="b" t="t" l="l"/>
                <a:pathLst>
                  <a:path h="3677008" w="4065597">
                    <a:moveTo>
                      <a:pt x="0" y="0"/>
                    </a:moveTo>
                    <a:lnTo>
                      <a:pt x="4065597" y="0"/>
                    </a:lnTo>
                    <a:lnTo>
                      <a:pt x="4065597" y="3677008"/>
                    </a:lnTo>
                    <a:lnTo>
                      <a:pt x="0" y="36770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28575"/>
                <a:ext cx="4065597" cy="37055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03047" y="1354120"/>
              <a:ext cx="1883292" cy="384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92"/>
                </a:lnSpc>
              </a:pPr>
              <a:r>
                <a:rPr lang="en-US" b="true" sz="1798" spc="-3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hello-app:v2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73236" y="7653519"/>
            <a:ext cx="1564754" cy="1415195"/>
            <a:chOff x="0" y="0"/>
            <a:chExt cx="2086339" cy="188692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387453" y="129829"/>
              <a:ext cx="1289361" cy="1249775"/>
            </a:xfrm>
            <a:custGeom>
              <a:avLst/>
              <a:gdLst/>
              <a:ahLst/>
              <a:cxnLst/>
              <a:rect r="r" b="b" t="t" l="l"/>
              <a:pathLst>
                <a:path h="1249775" w="1289361">
                  <a:moveTo>
                    <a:pt x="0" y="0"/>
                  </a:moveTo>
                  <a:lnTo>
                    <a:pt x="1289361" y="0"/>
                  </a:lnTo>
                  <a:lnTo>
                    <a:pt x="1289361" y="1249775"/>
                  </a:lnTo>
                  <a:lnTo>
                    <a:pt x="0" y="124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42" id="42"/>
            <p:cNvGrpSpPr/>
            <p:nvPr/>
          </p:nvGrpSpPr>
          <p:grpSpPr>
            <a:xfrm rot="0">
              <a:off x="0" y="0"/>
              <a:ext cx="2086339" cy="1886927"/>
              <a:chOff x="0" y="0"/>
              <a:chExt cx="4065597" cy="367700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065597" cy="3677008"/>
              </a:xfrm>
              <a:custGeom>
                <a:avLst/>
                <a:gdLst/>
                <a:ahLst/>
                <a:cxnLst/>
                <a:rect r="r" b="b" t="t" l="l"/>
                <a:pathLst>
                  <a:path h="3677008" w="4065597">
                    <a:moveTo>
                      <a:pt x="0" y="0"/>
                    </a:moveTo>
                    <a:lnTo>
                      <a:pt x="4065597" y="0"/>
                    </a:lnTo>
                    <a:lnTo>
                      <a:pt x="4065597" y="3677008"/>
                    </a:lnTo>
                    <a:lnTo>
                      <a:pt x="0" y="36770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28575"/>
                <a:ext cx="4065597" cy="37055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203047" y="1354120"/>
              <a:ext cx="1883292" cy="384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92"/>
                </a:lnSpc>
              </a:pPr>
              <a:r>
                <a:rPr lang="en-US" b="true" sz="1798" spc="-3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hello-app:v2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0367018" y="3647265"/>
            <a:ext cx="1272794" cy="1272794"/>
          </a:xfrm>
          <a:custGeom>
            <a:avLst/>
            <a:gdLst/>
            <a:ahLst/>
            <a:cxnLst/>
            <a:rect r="r" b="b" t="t" l="l"/>
            <a:pathLst>
              <a:path h="1272794" w="1272794">
                <a:moveTo>
                  <a:pt x="0" y="0"/>
                </a:moveTo>
                <a:lnTo>
                  <a:pt x="1272793" y="0"/>
                </a:lnTo>
                <a:lnTo>
                  <a:pt x="1272793" y="1272794"/>
                </a:lnTo>
                <a:lnTo>
                  <a:pt x="0" y="1272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2097472" y="3609165"/>
            <a:ext cx="3155776" cy="4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6"/>
              </a:lnSpc>
            </a:pPr>
            <a:r>
              <a:rPr lang="en-US" sz="2546" spc="-4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ReplicaSet_b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1003414" y="4263068"/>
            <a:ext cx="4249834" cy="5004859"/>
            <a:chOff x="0" y="0"/>
            <a:chExt cx="9779882" cy="1151737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779882" cy="11517375"/>
            </a:xfrm>
            <a:custGeom>
              <a:avLst/>
              <a:gdLst/>
              <a:ahLst/>
              <a:cxnLst/>
              <a:rect r="r" b="b" t="t" l="l"/>
              <a:pathLst>
                <a:path h="11517375" w="9779882">
                  <a:moveTo>
                    <a:pt x="0" y="0"/>
                  </a:moveTo>
                  <a:lnTo>
                    <a:pt x="9779882" y="0"/>
                  </a:lnTo>
                  <a:lnTo>
                    <a:pt x="9779882" y="11517375"/>
                  </a:lnTo>
                  <a:lnTo>
                    <a:pt x="0" y="115173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9779882" cy="1154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362028" y="4720818"/>
            <a:ext cx="1112054" cy="1004842"/>
            <a:chOff x="0" y="0"/>
            <a:chExt cx="1482739" cy="1339789"/>
          </a:xfrm>
        </p:grpSpPr>
        <p:sp>
          <p:nvSpPr>
            <p:cNvPr name="AutoShape 52" id="52"/>
            <p:cNvSpPr/>
            <p:nvPr/>
          </p:nvSpPr>
          <p:spPr>
            <a:xfrm flipV="true">
              <a:off x="35660" y="39948"/>
              <a:ext cx="1411419" cy="1259892"/>
            </a:xfrm>
            <a:prstGeom prst="line">
              <a:avLst/>
            </a:prstGeom>
            <a:ln cap="flat" w="107098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 flipH="true" flipV="true">
              <a:off x="172764" y="39948"/>
              <a:ext cx="1187712" cy="1246074"/>
            </a:xfrm>
            <a:prstGeom prst="line">
              <a:avLst/>
            </a:prstGeom>
            <a:ln cap="flat" w="107098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5314995" y="6239707"/>
            <a:ext cx="1112054" cy="1004842"/>
            <a:chOff x="0" y="0"/>
            <a:chExt cx="1482739" cy="1339789"/>
          </a:xfrm>
        </p:grpSpPr>
        <p:sp>
          <p:nvSpPr>
            <p:cNvPr name="AutoShape 55" id="55"/>
            <p:cNvSpPr/>
            <p:nvPr/>
          </p:nvSpPr>
          <p:spPr>
            <a:xfrm flipV="true">
              <a:off x="35660" y="39948"/>
              <a:ext cx="1411419" cy="1259892"/>
            </a:xfrm>
            <a:prstGeom prst="line">
              <a:avLst/>
            </a:prstGeom>
            <a:ln cap="flat" w="107098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 flipH="true" flipV="true">
              <a:off x="172764" y="39948"/>
              <a:ext cx="1187712" cy="1246074"/>
            </a:xfrm>
            <a:prstGeom prst="line">
              <a:avLst/>
            </a:prstGeom>
            <a:ln cap="flat" w="107098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5362028" y="7754525"/>
            <a:ext cx="1112054" cy="1004842"/>
            <a:chOff x="0" y="0"/>
            <a:chExt cx="1482739" cy="1339789"/>
          </a:xfrm>
        </p:grpSpPr>
        <p:sp>
          <p:nvSpPr>
            <p:cNvPr name="AutoShape 58" id="58"/>
            <p:cNvSpPr/>
            <p:nvPr/>
          </p:nvSpPr>
          <p:spPr>
            <a:xfrm flipV="true">
              <a:off x="35660" y="39948"/>
              <a:ext cx="1411419" cy="1259892"/>
            </a:xfrm>
            <a:prstGeom prst="line">
              <a:avLst/>
            </a:prstGeom>
            <a:ln cap="flat" w="107098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 flipH="true" flipV="true">
              <a:off x="172764" y="39948"/>
              <a:ext cx="1187712" cy="1246074"/>
            </a:xfrm>
            <a:prstGeom prst="line">
              <a:avLst/>
            </a:prstGeom>
            <a:ln cap="flat" w="107098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3966355" y="9363177"/>
            <a:ext cx="3793347" cy="42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6"/>
              </a:lnSpc>
            </a:pPr>
            <a:r>
              <a:rPr lang="en-US" sz="2546" spc="-4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Replicas: 3 -&gt; 2 -&gt; 1 -&gt; 0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231658" y="9363177"/>
            <a:ext cx="3793347" cy="42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6"/>
              </a:lnSpc>
            </a:pPr>
            <a:r>
              <a:rPr lang="en-US" sz="2546" spc="-4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Replicas: 0 -&gt; 1 -&gt; 2 -&gt; 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800800" y="6632014"/>
            <a:ext cx="3839012" cy="61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2"/>
              </a:lnSpc>
            </a:pPr>
            <a:r>
              <a:rPr lang="en-US" sz="3686" spc="-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롤링 업데이트 방식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204" y="7423001"/>
            <a:ext cx="11976871" cy="1835299"/>
          </a:xfrm>
          <a:custGeom>
            <a:avLst/>
            <a:gdLst/>
            <a:ahLst/>
            <a:cxnLst/>
            <a:rect r="r" b="b" t="t" l="l"/>
            <a:pathLst>
              <a:path h="1835299" w="11976871">
                <a:moveTo>
                  <a:pt x="0" y="0"/>
                </a:moveTo>
                <a:lnTo>
                  <a:pt x="11976871" y="0"/>
                </a:lnTo>
                <a:lnTo>
                  <a:pt x="11976871" y="1835299"/>
                </a:lnTo>
                <a:lnTo>
                  <a:pt x="0" y="1835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38" r="0" b="-38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8204" y="2175017"/>
            <a:ext cx="6812429" cy="4895671"/>
          </a:xfrm>
          <a:custGeom>
            <a:avLst/>
            <a:gdLst/>
            <a:ahLst/>
            <a:cxnLst/>
            <a:rect r="r" b="b" t="t" l="l"/>
            <a:pathLst>
              <a:path h="4895671" w="6812429">
                <a:moveTo>
                  <a:pt x="0" y="0"/>
                </a:moveTo>
                <a:lnTo>
                  <a:pt x="6812429" y="0"/>
                </a:lnTo>
                <a:lnTo>
                  <a:pt x="6812429" y="4895670"/>
                </a:lnTo>
                <a:lnTo>
                  <a:pt x="0" y="4895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96559" y="2175017"/>
            <a:ext cx="5781743" cy="4252687"/>
          </a:xfrm>
          <a:custGeom>
            <a:avLst/>
            <a:gdLst/>
            <a:ahLst/>
            <a:cxnLst/>
            <a:rect r="r" b="b" t="t" l="l"/>
            <a:pathLst>
              <a:path h="4252687" w="5781743">
                <a:moveTo>
                  <a:pt x="0" y="0"/>
                </a:moveTo>
                <a:lnTo>
                  <a:pt x="5781743" y="0"/>
                </a:lnTo>
                <a:lnTo>
                  <a:pt x="5781743" y="4252687"/>
                </a:lnTo>
                <a:lnTo>
                  <a:pt x="0" y="42526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3286" y="788784"/>
            <a:ext cx="7766451" cy="50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4344" spc="-73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[실습]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3286" y="1491194"/>
            <a:ext cx="5125525" cy="48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905" spc="-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(1) v1 배포 - replicas : 2개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32845" y="1491194"/>
            <a:ext cx="3930079" cy="48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905" spc="-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(2) 배포 결과 화면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247572"/>
            <a:ext cx="6371355" cy="1592839"/>
          </a:xfrm>
          <a:custGeom>
            <a:avLst/>
            <a:gdLst/>
            <a:ahLst/>
            <a:cxnLst/>
            <a:rect r="r" b="b" t="t" l="l"/>
            <a:pathLst>
              <a:path h="1592839" w="6371355">
                <a:moveTo>
                  <a:pt x="0" y="0"/>
                </a:moveTo>
                <a:lnTo>
                  <a:pt x="6371355" y="0"/>
                </a:lnTo>
                <a:lnTo>
                  <a:pt x="6371355" y="1592839"/>
                </a:lnTo>
                <a:lnTo>
                  <a:pt x="0" y="1592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83349" y="1247572"/>
            <a:ext cx="8324816" cy="1592839"/>
          </a:xfrm>
          <a:custGeom>
            <a:avLst/>
            <a:gdLst/>
            <a:ahLst/>
            <a:cxnLst/>
            <a:rect r="r" b="b" t="t" l="l"/>
            <a:pathLst>
              <a:path h="1592839" w="8324816">
                <a:moveTo>
                  <a:pt x="0" y="0"/>
                </a:moveTo>
                <a:lnTo>
                  <a:pt x="8324816" y="0"/>
                </a:lnTo>
                <a:lnTo>
                  <a:pt x="8324816" y="1592839"/>
                </a:lnTo>
                <a:lnTo>
                  <a:pt x="0" y="15928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81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059486"/>
            <a:ext cx="9236157" cy="2161282"/>
          </a:xfrm>
          <a:custGeom>
            <a:avLst/>
            <a:gdLst/>
            <a:ahLst/>
            <a:cxnLst/>
            <a:rect r="r" b="b" t="t" l="l"/>
            <a:pathLst>
              <a:path h="2161282" w="9236157">
                <a:moveTo>
                  <a:pt x="0" y="0"/>
                </a:moveTo>
                <a:lnTo>
                  <a:pt x="9236157" y="0"/>
                </a:lnTo>
                <a:lnTo>
                  <a:pt x="9236157" y="2161282"/>
                </a:lnTo>
                <a:lnTo>
                  <a:pt x="0" y="21612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0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287692"/>
            <a:ext cx="4780195" cy="3627034"/>
          </a:xfrm>
          <a:custGeom>
            <a:avLst/>
            <a:gdLst/>
            <a:ahLst/>
            <a:cxnLst/>
            <a:rect r="r" b="b" t="t" l="l"/>
            <a:pathLst>
              <a:path h="3627034" w="4780195">
                <a:moveTo>
                  <a:pt x="0" y="0"/>
                </a:moveTo>
                <a:lnTo>
                  <a:pt x="4780195" y="0"/>
                </a:lnTo>
                <a:lnTo>
                  <a:pt x="4780195" y="3627035"/>
                </a:lnTo>
                <a:lnTo>
                  <a:pt x="0" y="36270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3286" y="543331"/>
            <a:ext cx="5125525" cy="48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905" spc="-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(3) v2 배포 - replicas : 2개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286" y="5583248"/>
            <a:ext cx="4268788" cy="48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905" spc="-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(4) 업데이트 배포 결과 화면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23859" y="7162430"/>
            <a:ext cx="8329017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7"/>
              </a:lnSpc>
              <a:spcBef>
                <a:spcPct val="0"/>
              </a:spcBef>
            </a:pPr>
            <a:r>
              <a:rPr lang="en-US" sz="2847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kubectl rollout history deploy my-first-deployment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69855" y="6458744"/>
            <a:ext cx="6129216" cy="48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905" spc="-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(5) 바로 전 버전으로 롤백하고 싶다면?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1255" y="4170068"/>
            <a:ext cx="10728447" cy="76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7"/>
              </a:lnSpc>
              <a:spcBef>
                <a:spcPct val="0"/>
              </a:spcBef>
            </a:pPr>
            <a:r>
              <a:rPr lang="en-US" b="true" sz="4734" spc="-8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Pod 관리는 Kubernetes가 하도록 맡겨라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08804" y="4383598"/>
            <a:ext cx="748760" cy="4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7"/>
              </a:lnSpc>
              <a:spcBef>
                <a:spcPct val="0"/>
              </a:spcBef>
            </a:pPr>
            <a:r>
              <a:rPr lang="en-US" sz="2847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결론 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95333" y="4275293"/>
            <a:ext cx="4497333" cy="72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1"/>
              </a:lnSpc>
            </a:pPr>
            <a:r>
              <a:rPr lang="en-US" sz="6232" spc="-105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4. 네트워크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1209" y="3821440"/>
            <a:ext cx="6793363" cy="2614882"/>
            <a:chOff x="0" y="0"/>
            <a:chExt cx="2694174" cy="10370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94174" cy="1037034"/>
            </a:xfrm>
            <a:custGeom>
              <a:avLst/>
              <a:gdLst/>
              <a:ahLst/>
              <a:cxnLst/>
              <a:rect r="r" b="b" t="t" l="l"/>
              <a:pathLst>
                <a:path h="1037034" w="2694174">
                  <a:moveTo>
                    <a:pt x="0" y="0"/>
                  </a:moveTo>
                  <a:lnTo>
                    <a:pt x="2694174" y="0"/>
                  </a:lnTo>
                  <a:lnTo>
                    <a:pt x="2694174" y="1037034"/>
                  </a:lnTo>
                  <a:lnTo>
                    <a:pt x="0" y="10370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694174" cy="1065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83878" y="4299122"/>
            <a:ext cx="2329683" cy="1621418"/>
            <a:chOff x="0" y="0"/>
            <a:chExt cx="923927" cy="6430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3927" cy="643037"/>
            </a:xfrm>
            <a:custGeom>
              <a:avLst/>
              <a:gdLst/>
              <a:ahLst/>
              <a:cxnLst/>
              <a:rect r="r" b="b" t="t" l="l"/>
              <a:pathLst>
                <a:path h="643037" w="923927">
                  <a:moveTo>
                    <a:pt x="0" y="0"/>
                  </a:moveTo>
                  <a:lnTo>
                    <a:pt x="923927" y="0"/>
                  </a:lnTo>
                  <a:lnTo>
                    <a:pt x="923927" y="643037"/>
                  </a:lnTo>
                  <a:lnTo>
                    <a:pt x="0" y="643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23927" cy="671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04188" y="4299122"/>
            <a:ext cx="2240192" cy="1621418"/>
            <a:chOff x="0" y="0"/>
            <a:chExt cx="888436" cy="6430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8436" cy="643037"/>
            </a:xfrm>
            <a:custGeom>
              <a:avLst/>
              <a:gdLst/>
              <a:ahLst/>
              <a:cxnLst/>
              <a:rect r="r" b="b" t="t" l="l"/>
              <a:pathLst>
                <a:path h="643037" w="888436">
                  <a:moveTo>
                    <a:pt x="0" y="0"/>
                  </a:moveTo>
                  <a:lnTo>
                    <a:pt x="888436" y="0"/>
                  </a:lnTo>
                  <a:lnTo>
                    <a:pt x="888436" y="643037"/>
                  </a:lnTo>
                  <a:lnTo>
                    <a:pt x="0" y="643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88436" cy="671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718652" y="4536991"/>
            <a:ext cx="1190273" cy="1213018"/>
          </a:xfrm>
          <a:custGeom>
            <a:avLst/>
            <a:gdLst/>
            <a:ahLst/>
            <a:cxnLst/>
            <a:rect r="r" b="b" t="t" l="l"/>
            <a:pathLst>
              <a:path h="1213018" w="1190273">
                <a:moveTo>
                  <a:pt x="0" y="0"/>
                </a:moveTo>
                <a:lnTo>
                  <a:pt x="1190272" y="0"/>
                </a:lnTo>
                <a:lnTo>
                  <a:pt x="1190272" y="1213018"/>
                </a:lnTo>
                <a:lnTo>
                  <a:pt x="0" y="1213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40" t="0" r="-414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25257" y="3925405"/>
            <a:ext cx="1177062" cy="845716"/>
          </a:xfrm>
          <a:custGeom>
            <a:avLst/>
            <a:gdLst/>
            <a:ahLst/>
            <a:cxnLst/>
            <a:rect r="r" b="b" t="t" l="l"/>
            <a:pathLst>
              <a:path h="845716" w="1177062">
                <a:moveTo>
                  <a:pt x="0" y="0"/>
                </a:moveTo>
                <a:lnTo>
                  <a:pt x="1177062" y="0"/>
                </a:lnTo>
                <a:lnTo>
                  <a:pt x="1177062" y="845716"/>
                </a:lnTo>
                <a:lnTo>
                  <a:pt x="0" y="845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779" r="0" b="-1884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572394" y="3914364"/>
            <a:ext cx="1177062" cy="845716"/>
          </a:xfrm>
          <a:custGeom>
            <a:avLst/>
            <a:gdLst/>
            <a:ahLst/>
            <a:cxnLst/>
            <a:rect r="r" b="b" t="t" l="l"/>
            <a:pathLst>
              <a:path h="845716" w="1177062">
                <a:moveTo>
                  <a:pt x="0" y="0"/>
                </a:moveTo>
                <a:lnTo>
                  <a:pt x="1177062" y="0"/>
                </a:lnTo>
                <a:lnTo>
                  <a:pt x="1177062" y="845715"/>
                </a:lnTo>
                <a:lnTo>
                  <a:pt x="0" y="8457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779" r="0" b="-18847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86239" y="4771121"/>
            <a:ext cx="949701" cy="893836"/>
          </a:xfrm>
          <a:custGeom>
            <a:avLst/>
            <a:gdLst/>
            <a:ahLst/>
            <a:cxnLst/>
            <a:rect r="r" b="b" t="t" l="l"/>
            <a:pathLst>
              <a:path h="893836" w="949701">
                <a:moveTo>
                  <a:pt x="0" y="0"/>
                </a:moveTo>
                <a:lnTo>
                  <a:pt x="949700" y="0"/>
                </a:lnTo>
                <a:lnTo>
                  <a:pt x="949700" y="893836"/>
                </a:lnTo>
                <a:lnTo>
                  <a:pt x="0" y="893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7647" y="436441"/>
            <a:ext cx="11829907" cy="70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9"/>
              </a:lnSpc>
              <a:spcBef>
                <a:spcPct val="0"/>
              </a:spcBef>
            </a:pPr>
            <a:r>
              <a:rPr lang="en-US" b="true" sz="4300" spc="-7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쿠버네티스에서 컨테이너 간의 통신은 어떻게 하는가?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71213" y="3170328"/>
            <a:ext cx="733354" cy="51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5"/>
              </a:lnSpc>
              <a:spcBef>
                <a:spcPct val="0"/>
              </a:spcBef>
            </a:pPr>
            <a:r>
              <a:rPr lang="en-US" b="true" sz="3154" spc="-5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7192" y="2451093"/>
            <a:ext cx="1285446" cy="578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2"/>
              </a:lnSpc>
              <a:spcBef>
                <a:spcPct val="0"/>
              </a:spcBef>
            </a:pPr>
            <a:r>
              <a:rPr lang="en-US" b="true" sz="3513" spc="-5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Case1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1660" y="1278158"/>
            <a:ext cx="12566065" cy="56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8"/>
              </a:lnSpc>
              <a:spcBef>
                <a:spcPct val="0"/>
              </a:spcBef>
            </a:pPr>
            <a:r>
              <a:rPr lang="en-US" sz="3322" spc="-5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※ Let’s say there are 2 apps in k8s cluster connecting each other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10789" y="2490941"/>
            <a:ext cx="2711052" cy="51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sz="3086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1 pod 2 apps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83878" y="5942310"/>
            <a:ext cx="2329683" cy="36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  <a:spcBef>
                <a:spcPct val="0"/>
              </a:spcBef>
            </a:pPr>
            <a:r>
              <a:rPr lang="en-US" b="true" sz="2199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스프링부트 컨테이너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34738" y="5942310"/>
            <a:ext cx="2026599" cy="36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  <a:spcBef>
                <a:spcPct val="0"/>
              </a:spcBef>
            </a:pPr>
            <a:r>
              <a:rPr lang="en-US" b="true" sz="2199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MySQL 컨테이너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10789" y="7207847"/>
            <a:ext cx="8489669" cy="511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sz="3086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Easy to connect each other through </a:t>
            </a:r>
            <a:r>
              <a:rPr lang="en-US" b="true" sz="3086" i="true" spc="-52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localhost</a:t>
            </a:r>
          </a:p>
        </p:txBody>
      </p:sp>
      <p:sp>
        <p:nvSpPr>
          <p:cNvPr name="AutoShape 23" id="23"/>
          <p:cNvSpPr/>
          <p:nvPr/>
        </p:nvSpPr>
        <p:spPr>
          <a:xfrm>
            <a:off x="5313561" y="5109831"/>
            <a:ext cx="89062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TextBox 24" id="24"/>
          <p:cNvSpPr txBox="true"/>
          <p:nvPr/>
        </p:nvSpPr>
        <p:spPr>
          <a:xfrm rot="0">
            <a:off x="5356600" y="5290806"/>
            <a:ext cx="1368657" cy="34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  <a:spcBef>
                <a:spcPct val="0"/>
              </a:spcBef>
            </a:pPr>
            <a:r>
              <a:rPr lang="en-US" b="true" sz="2094" spc="-35">
                <a:solidFill>
                  <a:srgbClr val="5271FF"/>
                </a:solidFill>
                <a:latin typeface="Inter Bold"/>
                <a:ea typeface="Inter Bold"/>
                <a:cs typeface="Inter Bold"/>
                <a:sym typeface="Inter Bold"/>
              </a:rPr>
              <a:t>localhost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10789" y="7976086"/>
            <a:ext cx="12793275" cy="511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sz="3086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그러나 하나의 파드에 하나의 컨테이너를 배치하는게 </a:t>
            </a:r>
            <a:r>
              <a:rPr lang="en-US" b="true" sz="3086" spc="-5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베스트 프랙티스!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95349" y="3079482"/>
            <a:ext cx="3416068" cy="2309931"/>
            <a:chOff x="0" y="0"/>
            <a:chExt cx="1603742" cy="10844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3742" cy="1084444"/>
            </a:xfrm>
            <a:custGeom>
              <a:avLst/>
              <a:gdLst/>
              <a:ahLst/>
              <a:cxnLst/>
              <a:rect r="r" b="b" t="t" l="l"/>
              <a:pathLst>
                <a:path h="1084444" w="1603742">
                  <a:moveTo>
                    <a:pt x="0" y="0"/>
                  </a:moveTo>
                  <a:lnTo>
                    <a:pt x="1603742" y="0"/>
                  </a:lnTo>
                  <a:lnTo>
                    <a:pt x="1603742" y="1084444"/>
                  </a:lnTo>
                  <a:lnTo>
                    <a:pt x="0" y="10844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03742" cy="1113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28395" y="3496168"/>
            <a:ext cx="1968021" cy="1369708"/>
            <a:chOff x="0" y="0"/>
            <a:chExt cx="923927" cy="6430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3927" cy="643037"/>
            </a:xfrm>
            <a:custGeom>
              <a:avLst/>
              <a:gdLst/>
              <a:ahLst/>
              <a:cxnLst/>
              <a:rect r="r" b="b" t="t" l="l"/>
              <a:pathLst>
                <a:path h="643037" w="923927">
                  <a:moveTo>
                    <a:pt x="0" y="0"/>
                  </a:moveTo>
                  <a:lnTo>
                    <a:pt x="923927" y="0"/>
                  </a:lnTo>
                  <a:lnTo>
                    <a:pt x="923927" y="643037"/>
                  </a:lnTo>
                  <a:lnTo>
                    <a:pt x="0" y="643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23927" cy="671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619" y="3496168"/>
            <a:ext cx="1892422" cy="1369708"/>
            <a:chOff x="0" y="0"/>
            <a:chExt cx="888436" cy="6430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8436" cy="643037"/>
            </a:xfrm>
            <a:custGeom>
              <a:avLst/>
              <a:gdLst/>
              <a:ahLst/>
              <a:cxnLst/>
              <a:rect r="r" b="b" t="t" l="l"/>
              <a:pathLst>
                <a:path h="643037" w="888436">
                  <a:moveTo>
                    <a:pt x="0" y="0"/>
                  </a:moveTo>
                  <a:lnTo>
                    <a:pt x="888436" y="0"/>
                  </a:lnTo>
                  <a:lnTo>
                    <a:pt x="888436" y="643037"/>
                  </a:lnTo>
                  <a:lnTo>
                    <a:pt x="0" y="643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88436" cy="671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773216" y="3697110"/>
            <a:ext cx="1005494" cy="1024708"/>
          </a:xfrm>
          <a:custGeom>
            <a:avLst/>
            <a:gdLst/>
            <a:ahLst/>
            <a:cxnLst/>
            <a:rect r="r" b="b" t="t" l="l"/>
            <a:pathLst>
              <a:path h="1024708" w="1005494">
                <a:moveTo>
                  <a:pt x="0" y="0"/>
                </a:moveTo>
                <a:lnTo>
                  <a:pt x="1005494" y="0"/>
                </a:lnTo>
                <a:lnTo>
                  <a:pt x="1005494" y="1024708"/>
                </a:lnTo>
                <a:lnTo>
                  <a:pt x="0" y="1024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40" t="0" r="-414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73216" y="3180468"/>
            <a:ext cx="994334" cy="714426"/>
          </a:xfrm>
          <a:custGeom>
            <a:avLst/>
            <a:gdLst/>
            <a:ahLst/>
            <a:cxnLst/>
            <a:rect r="r" b="b" t="t" l="l"/>
            <a:pathLst>
              <a:path h="714426" w="994334">
                <a:moveTo>
                  <a:pt x="0" y="0"/>
                </a:moveTo>
                <a:lnTo>
                  <a:pt x="994334" y="0"/>
                </a:lnTo>
                <a:lnTo>
                  <a:pt x="994334" y="714426"/>
                </a:lnTo>
                <a:lnTo>
                  <a:pt x="0" y="714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779" r="0" b="-1884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925549" y="3171140"/>
            <a:ext cx="994334" cy="714426"/>
          </a:xfrm>
          <a:custGeom>
            <a:avLst/>
            <a:gdLst/>
            <a:ahLst/>
            <a:cxnLst/>
            <a:rect r="r" b="b" t="t" l="l"/>
            <a:pathLst>
              <a:path h="714426" w="994334">
                <a:moveTo>
                  <a:pt x="0" y="0"/>
                </a:moveTo>
                <a:lnTo>
                  <a:pt x="994334" y="0"/>
                </a:lnTo>
                <a:lnTo>
                  <a:pt x="994334" y="714426"/>
                </a:lnTo>
                <a:lnTo>
                  <a:pt x="0" y="714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779" r="0" b="-18847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021720" y="3894894"/>
            <a:ext cx="802268" cy="755076"/>
          </a:xfrm>
          <a:custGeom>
            <a:avLst/>
            <a:gdLst/>
            <a:ahLst/>
            <a:cxnLst/>
            <a:rect r="r" b="b" t="t" l="l"/>
            <a:pathLst>
              <a:path h="755076" w="802268">
                <a:moveTo>
                  <a:pt x="0" y="0"/>
                </a:moveTo>
                <a:lnTo>
                  <a:pt x="802268" y="0"/>
                </a:lnTo>
                <a:lnTo>
                  <a:pt x="802268" y="755075"/>
                </a:lnTo>
                <a:lnTo>
                  <a:pt x="0" y="755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113101" y="2598826"/>
            <a:ext cx="619507" cy="44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4"/>
              </a:lnSpc>
              <a:spcBef>
                <a:spcPct val="0"/>
              </a:spcBef>
            </a:pPr>
            <a:r>
              <a:rPr lang="en-US" b="true" sz="2665" spc="-4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28395" y="4879830"/>
            <a:ext cx="1968021" cy="30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  <a:spcBef>
                <a:spcPct val="0"/>
              </a:spcBef>
            </a:pPr>
            <a:r>
              <a:rPr lang="en-US" b="true" sz="1857" spc="-3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스프링부트 컨테이너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48902" y="4879830"/>
            <a:ext cx="1711988" cy="30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  <a:spcBef>
                <a:spcPct val="0"/>
              </a:spcBef>
            </a:pPr>
            <a:r>
              <a:rPr lang="en-US" b="true" sz="1857" spc="-3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MySQL 컨테이너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723729" y="3079482"/>
            <a:ext cx="3416068" cy="2309931"/>
            <a:chOff x="0" y="0"/>
            <a:chExt cx="1603742" cy="10844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3742" cy="1084444"/>
            </a:xfrm>
            <a:custGeom>
              <a:avLst/>
              <a:gdLst/>
              <a:ahLst/>
              <a:cxnLst/>
              <a:rect r="r" b="b" t="t" l="l"/>
              <a:pathLst>
                <a:path h="1084444" w="1603742">
                  <a:moveTo>
                    <a:pt x="0" y="0"/>
                  </a:moveTo>
                  <a:lnTo>
                    <a:pt x="1603742" y="0"/>
                  </a:lnTo>
                  <a:lnTo>
                    <a:pt x="1603742" y="1084444"/>
                  </a:lnTo>
                  <a:lnTo>
                    <a:pt x="0" y="10844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603742" cy="1113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141481" y="2598826"/>
            <a:ext cx="619507" cy="44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4"/>
              </a:lnSpc>
              <a:spcBef>
                <a:spcPct val="0"/>
              </a:spcBef>
            </a:pPr>
            <a:r>
              <a:rPr lang="en-US" b="true" sz="2665" spc="-4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100355" y="2411887"/>
            <a:ext cx="4594242" cy="3488105"/>
            <a:chOff x="0" y="0"/>
            <a:chExt cx="2156860" cy="16375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6860" cy="1637562"/>
            </a:xfrm>
            <a:custGeom>
              <a:avLst/>
              <a:gdLst/>
              <a:ahLst/>
              <a:cxnLst/>
              <a:rect r="r" b="b" t="t" l="l"/>
              <a:pathLst>
                <a:path h="1637562" w="2156860">
                  <a:moveTo>
                    <a:pt x="0" y="0"/>
                  </a:moveTo>
                  <a:lnTo>
                    <a:pt x="2156860" y="0"/>
                  </a:lnTo>
                  <a:lnTo>
                    <a:pt x="2156860" y="1637562"/>
                  </a:lnTo>
                  <a:lnTo>
                    <a:pt x="0" y="16375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156860" cy="1666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39754" y="2411887"/>
            <a:ext cx="4594242" cy="3488105"/>
            <a:chOff x="0" y="0"/>
            <a:chExt cx="2156860" cy="16375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6860" cy="1637562"/>
            </a:xfrm>
            <a:custGeom>
              <a:avLst/>
              <a:gdLst/>
              <a:ahLst/>
              <a:cxnLst/>
              <a:rect r="r" b="b" t="t" l="l"/>
              <a:pathLst>
                <a:path h="1637562" w="2156860">
                  <a:moveTo>
                    <a:pt x="0" y="0"/>
                  </a:moveTo>
                  <a:lnTo>
                    <a:pt x="2156860" y="0"/>
                  </a:lnTo>
                  <a:lnTo>
                    <a:pt x="2156860" y="1637562"/>
                  </a:lnTo>
                  <a:lnTo>
                    <a:pt x="0" y="16375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156860" cy="1666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268758" y="7029547"/>
            <a:ext cx="3454971" cy="2839047"/>
            <a:chOff x="0" y="0"/>
            <a:chExt cx="1622006" cy="13328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22006" cy="1332848"/>
            </a:xfrm>
            <a:custGeom>
              <a:avLst/>
              <a:gdLst/>
              <a:ahLst/>
              <a:cxnLst/>
              <a:rect r="r" b="b" t="t" l="l"/>
              <a:pathLst>
                <a:path h="1332848" w="1622006">
                  <a:moveTo>
                    <a:pt x="0" y="0"/>
                  </a:moveTo>
                  <a:lnTo>
                    <a:pt x="1622006" y="0"/>
                  </a:lnTo>
                  <a:lnTo>
                    <a:pt x="1622006" y="1332848"/>
                  </a:lnTo>
                  <a:lnTo>
                    <a:pt x="0" y="1332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622006" cy="1361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85316" y="607340"/>
            <a:ext cx="1355090" cy="578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2"/>
              </a:lnSpc>
              <a:spcBef>
                <a:spcPct val="0"/>
              </a:spcBef>
            </a:pPr>
            <a:r>
              <a:rPr lang="en-US" b="true" sz="3513" spc="-5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Case2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93735" y="647188"/>
            <a:ext cx="2711052" cy="51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sz="3086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1 pod 1 app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68758" y="6519117"/>
            <a:ext cx="3590781" cy="42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b="true" sz="2607" spc="-44">
                <a:solidFill>
                  <a:srgbClr val="5271FF"/>
                </a:solidFill>
                <a:latin typeface="Inter Bold"/>
                <a:ea typeface="Inter Bold"/>
                <a:cs typeface="Inter Bold"/>
                <a:sym typeface="Inter Bold"/>
              </a:rPr>
              <a:t>Service for kube-dns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33500" y="1855030"/>
            <a:ext cx="3590781" cy="42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b="true" sz="2607" spc="-44">
                <a:solidFill>
                  <a:srgbClr val="5271FF"/>
                </a:solidFill>
                <a:latin typeface="Inter Bold"/>
                <a:ea typeface="Inter Bold"/>
                <a:cs typeface="Inter Bold"/>
                <a:sym typeface="Inter Bold"/>
              </a:rPr>
              <a:t>Service for MySQL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558892" y="5618320"/>
            <a:ext cx="1509031" cy="42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b="true" sz="2607" spc="-4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private IP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813988" y="5618320"/>
            <a:ext cx="1509031" cy="42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b="true" sz="2607" spc="-4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private IP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954319" y="2007430"/>
            <a:ext cx="3590781" cy="42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b="true" sz="2607" spc="-44">
                <a:solidFill>
                  <a:srgbClr val="5271FF"/>
                </a:solidFill>
                <a:latin typeface="Inter Bold"/>
                <a:ea typeface="Inter Bold"/>
                <a:cs typeface="Inter Bold"/>
                <a:sym typeface="Inter Bold"/>
              </a:rPr>
              <a:t>Service for springboot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028529" y="7507660"/>
            <a:ext cx="4716811" cy="173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2999" indent="-281499" lvl="1">
              <a:lnSpc>
                <a:spcPts val="3468"/>
              </a:lnSpc>
              <a:buFont typeface="Arial"/>
              <a:buChar char="•"/>
            </a:pPr>
            <a:r>
              <a:rPr lang="en-US" b="true" sz="2607" spc="-4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kube-dns</a:t>
            </a:r>
          </a:p>
          <a:p>
            <a:pPr algn="l" marL="562999" indent="-281499" lvl="1">
              <a:lnSpc>
                <a:spcPts val="3468"/>
              </a:lnSpc>
              <a:buFont typeface="Arial"/>
              <a:buChar char="•"/>
            </a:pPr>
            <a:r>
              <a:rPr lang="en-US" b="true" sz="2607" spc="-4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running on background</a:t>
            </a:r>
          </a:p>
          <a:p>
            <a:pPr algn="l" marL="562999" indent="-281499" lvl="1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7" spc="-4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automatically run in k8s cluster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876148" y="7184717"/>
            <a:ext cx="2240192" cy="2409163"/>
            <a:chOff x="0" y="0"/>
            <a:chExt cx="2986923" cy="3212217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465900" y="1010158"/>
              <a:ext cx="2053783" cy="1562752"/>
              <a:chOff x="0" y="0"/>
              <a:chExt cx="762009" cy="579824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762009" cy="579824"/>
              </a:xfrm>
              <a:custGeom>
                <a:avLst/>
                <a:gdLst/>
                <a:ahLst/>
                <a:cxnLst/>
                <a:rect r="r" b="b" t="t" l="l"/>
                <a:pathLst>
                  <a:path h="579824" w="762009">
                    <a:moveTo>
                      <a:pt x="0" y="0"/>
                    </a:moveTo>
                    <a:lnTo>
                      <a:pt x="762009" y="0"/>
                    </a:lnTo>
                    <a:lnTo>
                      <a:pt x="762009" y="579824"/>
                    </a:lnTo>
                    <a:lnTo>
                      <a:pt x="0" y="57982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762009" cy="6083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869107" y="684202"/>
              <a:ext cx="1258157" cy="903982"/>
            </a:xfrm>
            <a:custGeom>
              <a:avLst/>
              <a:gdLst/>
              <a:ahLst/>
              <a:cxnLst/>
              <a:rect r="r" b="b" t="t" l="l"/>
              <a:pathLst>
                <a:path h="903982" w="1258157">
                  <a:moveTo>
                    <a:pt x="0" y="0"/>
                  </a:moveTo>
                  <a:lnTo>
                    <a:pt x="1258156" y="0"/>
                  </a:lnTo>
                  <a:lnTo>
                    <a:pt x="1258156" y="903981"/>
                  </a:lnTo>
                  <a:lnTo>
                    <a:pt x="0" y="903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779" r="0" b="-18847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050417" y="1542605"/>
              <a:ext cx="860501" cy="884729"/>
            </a:xfrm>
            <a:custGeom>
              <a:avLst/>
              <a:gdLst/>
              <a:ahLst/>
              <a:cxnLst/>
              <a:rect r="r" b="b" t="t" l="l"/>
              <a:pathLst>
                <a:path h="884729" w="860501">
                  <a:moveTo>
                    <a:pt x="0" y="0"/>
                  </a:moveTo>
                  <a:lnTo>
                    <a:pt x="860501" y="0"/>
                  </a:lnTo>
                  <a:lnTo>
                    <a:pt x="860501" y="884729"/>
                  </a:lnTo>
                  <a:lnTo>
                    <a:pt x="0" y="88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709" t="-21907" r="-19709" b="-1369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 rot="0">
              <a:off x="1122102" y="-38100"/>
              <a:ext cx="783879" cy="547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3"/>
                </a:lnSpc>
                <a:spcBef>
                  <a:spcPct val="0"/>
                </a:spcBef>
              </a:pPr>
              <a:r>
                <a:rPr lang="en-US" b="true" sz="2529" spc="-42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pod</a:t>
              </a:r>
            </a:p>
          </p:txBody>
        </p:sp>
        <p:grpSp>
          <p:nvGrpSpPr>
            <p:cNvPr name="Group 46" id="46"/>
            <p:cNvGrpSpPr/>
            <p:nvPr/>
          </p:nvGrpSpPr>
          <p:grpSpPr>
            <a:xfrm rot="0">
              <a:off x="0" y="542032"/>
              <a:ext cx="2986923" cy="2670185"/>
              <a:chOff x="0" y="0"/>
              <a:chExt cx="1108229" cy="99071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108229" cy="990711"/>
              </a:xfrm>
              <a:custGeom>
                <a:avLst/>
                <a:gdLst/>
                <a:ahLst/>
                <a:cxnLst/>
                <a:rect r="r" b="b" t="t" l="l"/>
                <a:pathLst>
                  <a:path h="990711" w="1108229">
                    <a:moveTo>
                      <a:pt x="0" y="0"/>
                    </a:moveTo>
                    <a:lnTo>
                      <a:pt x="1108229" y="0"/>
                    </a:lnTo>
                    <a:lnTo>
                      <a:pt x="1108229" y="990711"/>
                    </a:lnTo>
                    <a:lnTo>
                      <a:pt x="0" y="9907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28575"/>
                <a:ext cx="1108229" cy="10192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748675" y="2650820"/>
              <a:ext cx="1453711" cy="335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1"/>
                </a:lnSpc>
                <a:spcBef>
                  <a:spcPct val="0"/>
                </a:spcBef>
              </a:pPr>
              <a:r>
                <a:rPr lang="en-US" b="true" sz="1534" spc="-26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dns 컨테이너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>
            <a:off x="5913920" y="8628387"/>
            <a:ext cx="2671304" cy="877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1584302" y="8032207"/>
            <a:ext cx="4812113" cy="133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660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springboot-app   10.2.5.10</a:t>
            </a:r>
          </a:p>
          <a:p>
            <a:pPr algn="l">
              <a:lnSpc>
                <a:spcPts val="3538"/>
              </a:lnSpc>
            </a:pPr>
            <a:r>
              <a:rPr lang="en-US" sz="2660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mysql-app           10.2.5.23</a:t>
            </a:r>
          </a:p>
          <a:p>
            <a:pPr algn="ctr">
              <a:lnSpc>
                <a:spcPts val="3538"/>
              </a:lnSpc>
              <a:spcBef>
                <a:spcPct val="0"/>
              </a:spcBef>
            </a:pPr>
            <a:r>
              <a:rPr lang="en-US" b="true" sz="2660" spc="-4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...</a:t>
            </a:r>
          </a:p>
        </p:txBody>
      </p:sp>
      <p:sp>
        <p:nvSpPr>
          <p:cNvPr name="AutoShape 52" id="52"/>
          <p:cNvSpPr/>
          <p:nvPr/>
        </p:nvSpPr>
        <p:spPr>
          <a:xfrm>
            <a:off x="6227315" y="5902415"/>
            <a:ext cx="967498" cy="10884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AutoShape 53" id="53"/>
          <p:cNvSpPr/>
          <p:nvPr/>
        </p:nvSpPr>
        <p:spPr>
          <a:xfrm flipH="true">
            <a:off x="10727314" y="5880201"/>
            <a:ext cx="576324" cy="11636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5954697" y="693146"/>
            <a:ext cx="10390350" cy="45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3"/>
              </a:lnSpc>
              <a:spcBef>
                <a:spcPct val="0"/>
              </a:spcBef>
            </a:pPr>
            <a:r>
              <a:rPr lang="en-US" b="true" sz="2776" spc="-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DNS를 통해 서로의 서비스 IP를 알 수 있기 때문에 파드 간 통신할 수 있다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703598" y="6347470"/>
            <a:ext cx="4070695" cy="42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sz="2607" spc="-44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lookup “mysql-app”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676543" y="5891990"/>
            <a:ext cx="4070695" cy="42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sz="2607" spc="-4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10.2.5.23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199688" y="4298200"/>
            <a:ext cx="1520411" cy="42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sz="2607" spc="-4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10.2.5.23</a:t>
            </a:r>
          </a:p>
        </p:txBody>
      </p:sp>
      <p:sp>
        <p:nvSpPr>
          <p:cNvPr name="AutoShape 58" id="58"/>
          <p:cNvSpPr/>
          <p:nvPr/>
        </p:nvSpPr>
        <p:spPr>
          <a:xfrm>
            <a:off x="6396416" y="4181022"/>
            <a:ext cx="4942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4319" y="2815518"/>
            <a:ext cx="6916853" cy="3890730"/>
          </a:xfrm>
          <a:custGeom>
            <a:avLst/>
            <a:gdLst/>
            <a:ahLst/>
            <a:cxnLst/>
            <a:rect r="r" b="b" t="t" l="l"/>
            <a:pathLst>
              <a:path h="3890730" w="6916853">
                <a:moveTo>
                  <a:pt x="0" y="0"/>
                </a:moveTo>
                <a:lnTo>
                  <a:pt x="6916853" y="0"/>
                </a:lnTo>
                <a:lnTo>
                  <a:pt x="6916853" y="3890730"/>
                </a:lnTo>
                <a:lnTo>
                  <a:pt x="0" y="3890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3247" y="617520"/>
            <a:ext cx="10728447" cy="7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7"/>
              </a:lnSpc>
              <a:spcBef>
                <a:spcPct val="0"/>
              </a:spcBef>
            </a:pPr>
            <a:r>
              <a:rPr lang="en-US" b="true" sz="4734" spc="-8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네임스페이스(Namespace)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1794" y="1915118"/>
            <a:ext cx="1828319" cy="536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  <a:spcBef>
                <a:spcPct val="0"/>
              </a:spcBef>
            </a:pPr>
            <a:r>
              <a:rPr lang="en-US" b="true" sz="3207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파티셔닝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10113" y="8087091"/>
            <a:ext cx="13704932" cy="10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  <a:spcBef>
                <a:spcPct val="0"/>
              </a:spcBef>
            </a:pPr>
            <a:r>
              <a:rPr lang="en-US" sz="3192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You haven’t specified namespaces before, so it was default namespace you’ve used so far.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1794" y="7235101"/>
            <a:ext cx="6234682" cy="52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  <a:spcBef>
                <a:spcPct val="0"/>
              </a:spcBef>
            </a:pPr>
            <a:r>
              <a:rPr lang="en-US" b="true" sz="3207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여태까지 네임스페이스를 썼던거야?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62181" y="1915118"/>
            <a:ext cx="13752864" cy="53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  <a:spcBef>
                <a:spcPct val="0"/>
              </a:spcBef>
            </a:pPr>
            <a:r>
              <a:rPr lang="en-US" sz="3207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Partitioning for grouping resources for their close relation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55036" y="4489652"/>
            <a:ext cx="5568252" cy="88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  <a:spcBef>
                <a:spcPct val="0"/>
              </a:spcBef>
            </a:pPr>
            <a:r>
              <a:rPr lang="en-US" sz="2659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“이렇게 각 역할과 성격에 따라 분류해야 업무가 햇갈리지 않겠죠!?”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46354" y="1430126"/>
            <a:ext cx="5878345" cy="1860934"/>
          </a:xfrm>
          <a:custGeom>
            <a:avLst/>
            <a:gdLst/>
            <a:ahLst/>
            <a:cxnLst/>
            <a:rect r="r" b="b" t="t" l="l"/>
            <a:pathLst>
              <a:path h="1860934" w="5878345">
                <a:moveTo>
                  <a:pt x="0" y="0"/>
                </a:moveTo>
                <a:lnTo>
                  <a:pt x="5878345" y="0"/>
                </a:lnTo>
                <a:lnTo>
                  <a:pt x="5878345" y="1860934"/>
                </a:lnTo>
                <a:lnTo>
                  <a:pt x="0" y="1860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97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19145" y="4552623"/>
            <a:ext cx="11301259" cy="4930174"/>
          </a:xfrm>
          <a:custGeom>
            <a:avLst/>
            <a:gdLst/>
            <a:ahLst/>
            <a:cxnLst/>
            <a:rect r="r" b="b" t="t" l="l"/>
            <a:pathLst>
              <a:path h="4930174" w="11301259">
                <a:moveTo>
                  <a:pt x="0" y="0"/>
                </a:moveTo>
                <a:lnTo>
                  <a:pt x="11301259" y="0"/>
                </a:lnTo>
                <a:lnTo>
                  <a:pt x="11301259" y="4930174"/>
                </a:lnTo>
                <a:lnTo>
                  <a:pt x="0" y="49301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8428" y="736671"/>
            <a:ext cx="3164190" cy="52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  <a:spcBef>
                <a:spcPct val="0"/>
              </a:spcBef>
            </a:pPr>
            <a:r>
              <a:rPr lang="en-US" b="true" sz="3207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kubectl get 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37640" y="736671"/>
            <a:ext cx="10485789" cy="52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  <a:spcBef>
                <a:spcPct val="0"/>
              </a:spcBef>
            </a:pPr>
            <a:r>
              <a:rPr lang="en-US" sz="3207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현재 쿠버네티스 클러스터에 있는 모든 네임스페이스 보여줘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8428" y="3692599"/>
            <a:ext cx="7101434" cy="52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  <a:spcBef>
                <a:spcPct val="0"/>
              </a:spcBef>
            </a:pPr>
            <a:r>
              <a:rPr lang="en-US" b="true" sz="3207" spc="-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kubectl get [리소스] -n [네임스페이스]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69862" y="3692599"/>
            <a:ext cx="7470027" cy="52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  <a:spcBef>
                <a:spcPct val="0"/>
              </a:spcBef>
            </a:pPr>
            <a:r>
              <a:rPr lang="en-US" sz="3207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[네임스페이스]에 해당하는 리소스좀 보여줘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36145" y="3212084"/>
            <a:ext cx="5610308" cy="52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  <a:spcBef>
                <a:spcPct val="0"/>
              </a:spcBef>
            </a:pPr>
            <a:r>
              <a:rPr lang="en-US" sz="3207" spc="-54">
                <a:solidFill>
                  <a:srgbClr val="0C9855"/>
                </a:solidFill>
                <a:latin typeface="Inter"/>
                <a:ea typeface="Inter"/>
                <a:cs typeface="Inter"/>
                <a:sym typeface="Inter"/>
              </a:rPr>
              <a:t>안쓰면 default namespace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5164" y="6836777"/>
            <a:ext cx="3550717" cy="85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4"/>
              </a:lnSpc>
              <a:spcBef>
                <a:spcPct val="0"/>
              </a:spcBef>
            </a:pPr>
            <a:r>
              <a:rPr lang="en-US" sz="2567" spc="-4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“kube-dns라는 서비스가 여기 존재하는구나”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0623" y="559603"/>
            <a:ext cx="7746788" cy="68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  <a:spcBef>
                <a:spcPct val="0"/>
              </a:spcBef>
            </a:pPr>
            <a:r>
              <a:rPr lang="en-US" b="true" sz="4191" spc="-7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kube-system은 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82489" y="1543783"/>
            <a:ext cx="14747789" cy="50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쿠버네티스(Kubernetes) 클러스터에서 시스템 관련 구성 요소가 실행되는 기본 네임스페이스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2141" y="2342786"/>
            <a:ext cx="15324798" cy="98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37"/>
              </a:lnSpc>
              <a:spcBef>
                <a:spcPct val="0"/>
              </a:spcBef>
            </a:pPr>
            <a:r>
              <a:rPr lang="en-US" sz="2960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이 네임스페이스는 쿠버네티스의 내부 관리 작업을 수행하는 데 필요한 핵심 구성 요소들을 분리하여 관리하기 위해 사용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82489" y="3757840"/>
            <a:ext cx="15376811" cy="98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  <a:spcBef>
                <a:spcPct val="0"/>
              </a:spcBef>
            </a:pPr>
            <a:r>
              <a:rPr lang="en-US" sz="2960" spc="-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이 네임스페이스는 쿠버네티스가 내부적으로 사용하는 구성 요소(예: 컨트롤러, DNS, 스케줄러 등)를 격리하여 클러스터 관리의 명확성과 안정성을 높임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0894" y="5095875"/>
            <a:ext cx="7662399" cy="54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6"/>
              </a:lnSpc>
              <a:spcBef>
                <a:spcPct val="0"/>
              </a:spcBef>
            </a:pPr>
            <a:r>
              <a:rPr lang="en-US" b="true" sz="3283" spc="-5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시스템 리소스</a:t>
            </a:r>
            <a:r>
              <a:rPr lang="en-US" sz="3283" spc="-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와 </a:t>
            </a:r>
            <a:r>
              <a:rPr lang="en-US" b="true" sz="3283" spc="-5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사용자 리소스</a:t>
            </a:r>
            <a:r>
              <a:rPr lang="en-US" sz="3283" spc="-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를 명확히 구분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0623" y="5982585"/>
            <a:ext cx="3223145" cy="68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  <a:spcBef>
                <a:spcPct val="0"/>
              </a:spcBef>
            </a:pPr>
            <a:r>
              <a:rPr lang="en-US" b="true" sz="4191" spc="-7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kube-public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58486" y="6040128"/>
            <a:ext cx="5197897" cy="57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  <a:spcBef>
                <a:spcPct val="0"/>
              </a:spcBef>
            </a:pPr>
            <a:r>
              <a:rPr lang="en-US" sz="3520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또 다른 중요한 네임스페이스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9488" y="7077345"/>
            <a:ext cx="11320131" cy="50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0"/>
              </a:lnSpc>
              <a:spcBef>
                <a:spcPct val="0"/>
              </a:spcBef>
            </a:pPr>
            <a:r>
              <a:rPr lang="en-US" sz="3120" spc="-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클러스터의 모든 사용자에게 읽기 가능한 공용 정보를 저장하는 데 사용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9488" y="7881417"/>
            <a:ext cx="16079812" cy="100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  <a:spcBef>
                <a:spcPct val="0"/>
              </a:spcBef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인증되지 않은 사용자도 이 네임스페이스의 리소스에 접근할 수 있으며, 주로 공용 설정 정보나 클러스터 디스커버리 데이터를 저장하는 데 유용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4280" y="2789505"/>
            <a:ext cx="2329683" cy="1621418"/>
            <a:chOff x="0" y="0"/>
            <a:chExt cx="923927" cy="6430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3927" cy="643037"/>
            </a:xfrm>
            <a:custGeom>
              <a:avLst/>
              <a:gdLst/>
              <a:ahLst/>
              <a:cxnLst/>
              <a:rect r="r" b="b" t="t" l="l"/>
              <a:pathLst>
                <a:path h="643037" w="923927">
                  <a:moveTo>
                    <a:pt x="0" y="0"/>
                  </a:moveTo>
                  <a:lnTo>
                    <a:pt x="923927" y="0"/>
                  </a:lnTo>
                  <a:lnTo>
                    <a:pt x="923927" y="643037"/>
                  </a:lnTo>
                  <a:lnTo>
                    <a:pt x="0" y="643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23927" cy="671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5647" y="3152249"/>
            <a:ext cx="1116872" cy="789983"/>
          </a:xfrm>
          <a:custGeom>
            <a:avLst/>
            <a:gdLst/>
            <a:ahLst/>
            <a:cxnLst/>
            <a:rect r="r" b="b" t="t" l="l"/>
            <a:pathLst>
              <a:path h="789983" w="1116872">
                <a:moveTo>
                  <a:pt x="0" y="0"/>
                </a:moveTo>
                <a:lnTo>
                  <a:pt x="1116873" y="0"/>
                </a:lnTo>
                <a:lnTo>
                  <a:pt x="1116873" y="789983"/>
                </a:lnTo>
                <a:lnTo>
                  <a:pt x="0" y="789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14317" y="2789505"/>
            <a:ext cx="2329683" cy="1621418"/>
            <a:chOff x="0" y="0"/>
            <a:chExt cx="923927" cy="6430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3927" cy="643037"/>
            </a:xfrm>
            <a:custGeom>
              <a:avLst/>
              <a:gdLst/>
              <a:ahLst/>
              <a:cxnLst/>
              <a:rect r="r" b="b" t="t" l="l"/>
              <a:pathLst>
                <a:path h="643037" w="923927">
                  <a:moveTo>
                    <a:pt x="0" y="0"/>
                  </a:moveTo>
                  <a:lnTo>
                    <a:pt x="923927" y="0"/>
                  </a:lnTo>
                  <a:lnTo>
                    <a:pt x="923927" y="643037"/>
                  </a:lnTo>
                  <a:lnTo>
                    <a:pt x="0" y="643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23927" cy="671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567732" y="3072561"/>
            <a:ext cx="811854" cy="927833"/>
          </a:xfrm>
          <a:custGeom>
            <a:avLst/>
            <a:gdLst/>
            <a:ahLst/>
            <a:cxnLst/>
            <a:rect r="r" b="b" t="t" l="l"/>
            <a:pathLst>
              <a:path h="927833" w="811854">
                <a:moveTo>
                  <a:pt x="0" y="0"/>
                </a:moveTo>
                <a:lnTo>
                  <a:pt x="811854" y="0"/>
                </a:lnTo>
                <a:lnTo>
                  <a:pt x="811854" y="927833"/>
                </a:lnTo>
                <a:lnTo>
                  <a:pt x="0" y="927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4133963" y="3600214"/>
            <a:ext cx="26803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2674527" y="4158036"/>
            <a:ext cx="589189" cy="524824"/>
          </a:xfrm>
          <a:custGeom>
            <a:avLst/>
            <a:gdLst/>
            <a:ahLst/>
            <a:cxnLst/>
            <a:rect r="r" b="b" t="t" l="l"/>
            <a:pathLst>
              <a:path h="524824" w="589189">
                <a:moveTo>
                  <a:pt x="0" y="0"/>
                </a:moveTo>
                <a:lnTo>
                  <a:pt x="589189" y="0"/>
                </a:lnTo>
                <a:lnTo>
                  <a:pt x="589189" y="524824"/>
                </a:lnTo>
                <a:lnTo>
                  <a:pt x="0" y="524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0623" y="559603"/>
            <a:ext cx="7746788" cy="68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  <a:spcBef>
                <a:spcPct val="0"/>
              </a:spcBef>
            </a:pPr>
            <a:r>
              <a:rPr lang="en-US" b="true" sz="4191" spc="-7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[실습]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38734" y="694421"/>
            <a:ext cx="6840401" cy="50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파드에서 다른 파드로 네트워크 연결 테스트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672321"/>
            <a:ext cx="7225635" cy="5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b="true" sz="3064" spc="-5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(1) busybox 파드와 nginx 파드 간 통신 확인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651432"/>
            <a:ext cx="4830235" cy="5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  <a:spcBef>
                <a:spcPct val="0"/>
              </a:spcBef>
            </a:pPr>
            <a:r>
              <a:rPr lang="en-US" b="true" sz="3064" spc="-5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(2) 서비스를 통한 통신 확인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32855" y="4644760"/>
            <a:ext cx="2473237" cy="5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  <a:spcBef>
                <a:spcPct val="0"/>
              </a:spcBef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busybox 파드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18008" y="4644760"/>
            <a:ext cx="1912801" cy="5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  <a:spcBef>
                <a:spcPct val="0"/>
              </a:spcBef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nginx 파드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684564" y="4158036"/>
            <a:ext cx="589189" cy="524824"/>
          </a:xfrm>
          <a:custGeom>
            <a:avLst/>
            <a:gdLst/>
            <a:ahLst/>
            <a:cxnLst/>
            <a:rect r="r" b="b" t="t" l="l"/>
            <a:pathLst>
              <a:path h="524824" w="589189">
                <a:moveTo>
                  <a:pt x="0" y="0"/>
                </a:moveTo>
                <a:lnTo>
                  <a:pt x="589189" y="0"/>
                </a:lnTo>
                <a:lnTo>
                  <a:pt x="589189" y="524824"/>
                </a:lnTo>
                <a:lnTo>
                  <a:pt x="0" y="524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804280" y="8343379"/>
            <a:ext cx="1533519" cy="1067302"/>
            <a:chOff x="0" y="0"/>
            <a:chExt cx="923927" cy="6430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3927" cy="643037"/>
            </a:xfrm>
            <a:custGeom>
              <a:avLst/>
              <a:gdLst/>
              <a:ahLst/>
              <a:cxnLst/>
              <a:rect r="r" b="b" t="t" l="l"/>
              <a:pathLst>
                <a:path h="643037" w="923927">
                  <a:moveTo>
                    <a:pt x="0" y="0"/>
                  </a:moveTo>
                  <a:lnTo>
                    <a:pt x="923927" y="0"/>
                  </a:lnTo>
                  <a:lnTo>
                    <a:pt x="923927" y="643037"/>
                  </a:lnTo>
                  <a:lnTo>
                    <a:pt x="0" y="643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23927" cy="671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206714" y="8582157"/>
            <a:ext cx="735184" cy="520008"/>
          </a:xfrm>
          <a:custGeom>
            <a:avLst/>
            <a:gdLst/>
            <a:ahLst/>
            <a:cxnLst/>
            <a:rect r="r" b="b" t="t" l="l"/>
            <a:pathLst>
              <a:path h="520008" w="735184">
                <a:moveTo>
                  <a:pt x="0" y="0"/>
                </a:moveTo>
                <a:lnTo>
                  <a:pt x="735183" y="0"/>
                </a:lnTo>
                <a:lnTo>
                  <a:pt x="735183" y="520007"/>
                </a:lnTo>
                <a:lnTo>
                  <a:pt x="0" y="52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4010252" y="7334061"/>
            <a:ext cx="1544457" cy="1074915"/>
            <a:chOff x="0" y="0"/>
            <a:chExt cx="923927" cy="6430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3927" cy="643037"/>
            </a:xfrm>
            <a:custGeom>
              <a:avLst/>
              <a:gdLst/>
              <a:ahLst/>
              <a:cxnLst/>
              <a:rect r="r" b="b" t="t" l="l"/>
              <a:pathLst>
                <a:path h="643037" w="923927">
                  <a:moveTo>
                    <a:pt x="0" y="0"/>
                  </a:moveTo>
                  <a:lnTo>
                    <a:pt x="923927" y="0"/>
                  </a:lnTo>
                  <a:lnTo>
                    <a:pt x="923927" y="643037"/>
                  </a:lnTo>
                  <a:lnTo>
                    <a:pt x="0" y="643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23927" cy="671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4509727" y="7521712"/>
            <a:ext cx="538216" cy="615104"/>
          </a:xfrm>
          <a:custGeom>
            <a:avLst/>
            <a:gdLst/>
            <a:ahLst/>
            <a:cxnLst/>
            <a:rect r="r" b="b" t="t" l="l"/>
            <a:pathLst>
              <a:path h="615104" w="538216">
                <a:moveTo>
                  <a:pt x="0" y="0"/>
                </a:moveTo>
                <a:lnTo>
                  <a:pt x="538217" y="0"/>
                </a:lnTo>
                <a:lnTo>
                  <a:pt x="538217" y="615105"/>
                </a:lnTo>
                <a:lnTo>
                  <a:pt x="0" y="615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377122" y="9244218"/>
            <a:ext cx="387835" cy="345467"/>
          </a:xfrm>
          <a:custGeom>
            <a:avLst/>
            <a:gdLst/>
            <a:ahLst/>
            <a:cxnLst/>
            <a:rect r="r" b="b" t="t" l="l"/>
            <a:pathLst>
              <a:path h="345467" w="387835">
                <a:moveTo>
                  <a:pt x="0" y="0"/>
                </a:moveTo>
                <a:lnTo>
                  <a:pt x="387835" y="0"/>
                </a:lnTo>
                <a:lnTo>
                  <a:pt x="387835" y="345467"/>
                </a:lnTo>
                <a:lnTo>
                  <a:pt x="0" y="345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587180" y="8241325"/>
            <a:ext cx="390602" cy="347931"/>
          </a:xfrm>
          <a:custGeom>
            <a:avLst/>
            <a:gdLst/>
            <a:ahLst/>
            <a:cxnLst/>
            <a:rect r="r" b="b" t="t" l="l"/>
            <a:pathLst>
              <a:path h="347931" w="390602">
                <a:moveTo>
                  <a:pt x="0" y="0"/>
                </a:moveTo>
                <a:lnTo>
                  <a:pt x="390602" y="0"/>
                </a:lnTo>
                <a:lnTo>
                  <a:pt x="390602" y="347931"/>
                </a:lnTo>
                <a:lnTo>
                  <a:pt x="0" y="347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7372274" y="6402722"/>
            <a:ext cx="1222880" cy="1118990"/>
            <a:chOff x="0" y="0"/>
            <a:chExt cx="1630506" cy="1491987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630506" cy="1491987"/>
              <a:chOff x="0" y="0"/>
              <a:chExt cx="4510062" cy="412691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510062" cy="4126911"/>
              </a:xfrm>
              <a:custGeom>
                <a:avLst/>
                <a:gdLst/>
                <a:ahLst/>
                <a:cxnLst/>
                <a:rect r="r" b="b" t="t" l="l"/>
                <a:pathLst>
                  <a:path h="4126911" w="4510062">
                    <a:moveTo>
                      <a:pt x="0" y="0"/>
                    </a:moveTo>
                    <a:lnTo>
                      <a:pt x="4510062" y="0"/>
                    </a:lnTo>
                    <a:lnTo>
                      <a:pt x="4510062" y="4126911"/>
                    </a:lnTo>
                    <a:lnTo>
                      <a:pt x="0" y="4126911"/>
                    </a:lnTo>
                    <a:close/>
                  </a:path>
                </a:pathLst>
              </a:custGeom>
              <a:solidFill>
                <a:srgbClr val="38B6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4510062" cy="41554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276631" y="222659"/>
              <a:ext cx="1073401" cy="1040446"/>
            </a:xfrm>
            <a:custGeom>
              <a:avLst/>
              <a:gdLst/>
              <a:ahLst/>
              <a:cxnLst/>
              <a:rect r="r" b="b" t="t" l="l"/>
              <a:pathLst>
                <a:path h="1040446" w="1073401">
                  <a:moveTo>
                    <a:pt x="0" y="0"/>
                  </a:moveTo>
                  <a:lnTo>
                    <a:pt x="1073401" y="0"/>
                  </a:lnTo>
                  <a:lnTo>
                    <a:pt x="1073401" y="1040446"/>
                  </a:lnTo>
                  <a:lnTo>
                    <a:pt x="0" y="1040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618287" y="8049250"/>
            <a:ext cx="1533519" cy="1067302"/>
            <a:chOff x="0" y="0"/>
            <a:chExt cx="923927" cy="64303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3927" cy="643037"/>
            </a:xfrm>
            <a:custGeom>
              <a:avLst/>
              <a:gdLst/>
              <a:ahLst/>
              <a:cxnLst/>
              <a:rect r="r" b="b" t="t" l="l"/>
              <a:pathLst>
                <a:path h="643037" w="923927">
                  <a:moveTo>
                    <a:pt x="0" y="0"/>
                  </a:moveTo>
                  <a:lnTo>
                    <a:pt x="923927" y="0"/>
                  </a:lnTo>
                  <a:lnTo>
                    <a:pt x="923927" y="643037"/>
                  </a:lnTo>
                  <a:lnTo>
                    <a:pt x="0" y="643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923927" cy="671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020721" y="8288027"/>
            <a:ext cx="735184" cy="520008"/>
          </a:xfrm>
          <a:custGeom>
            <a:avLst/>
            <a:gdLst/>
            <a:ahLst/>
            <a:cxnLst/>
            <a:rect r="r" b="b" t="t" l="l"/>
            <a:pathLst>
              <a:path h="520008" w="735184">
                <a:moveTo>
                  <a:pt x="0" y="0"/>
                </a:moveTo>
                <a:lnTo>
                  <a:pt x="735183" y="0"/>
                </a:lnTo>
                <a:lnTo>
                  <a:pt x="735183" y="520008"/>
                </a:lnTo>
                <a:lnTo>
                  <a:pt x="0" y="520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191129" y="8950089"/>
            <a:ext cx="387835" cy="345467"/>
          </a:xfrm>
          <a:custGeom>
            <a:avLst/>
            <a:gdLst/>
            <a:ahLst/>
            <a:cxnLst/>
            <a:rect r="r" b="b" t="t" l="l"/>
            <a:pathLst>
              <a:path h="345467" w="387835">
                <a:moveTo>
                  <a:pt x="0" y="0"/>
                </a:moveTo>
                <a:lnTo>
                  <a:pt x="387835" y="0"/>
                </a:lnTo>
                <a:lnTo>
                  <a:pt x="387835" y="345466"/>
                </a:lnTo>
                <a:lnTo>
                  <a:pt x="0" y="345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3411621" y="7696329"/>
            <a:ext cx="1533519" cy="1067302"/>
            <a:chOff x="0" y="0"/>
            <a:chExt cx="923927" cy="64303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3927" cy="643037"/>
            </a:xfrm>
            <a:custGeom>
              <a:avLst/>
              <a:gdLst/>
              <a:ahLst/>
              <a:cxnLst/>
              <a:rect r="r" b="b" t="t" l="l"/>
              <a:pathLst>
                <a:path h="643037" w="923927">
                  <a:moveTo>
                    <a:pt x="0" y="0"/>
                  </a:moveTo>
                  <a:lnTo>
                    <a:pt x="923927" y="0"/>
                  </a:lnTo>
                  <a:lnTo>
                    <a:pt x="923927" y="643037"/>
                  </a:lnTo>
                  <a:lnTo>
                    <a:pt x="0" y="643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23927" cy="671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3814054" y="7935106"/>
            <a:ext cx="735184" cy="520008"/>
          </a:xfrm>
          <a:custGeom>
            <a:avLst/>
            <a:gdLst/>
            <a:ahLst/>
            <a:cxnLst/>
            <a:rect r="r" b="b" t="t" l="l"/>
            <a:pathLst>
              <a:path h="520008" w="735184">
                <a:moveTo>
                  <a:pt x="0" y="0"/>
                </a:moveTo>
                <a:lnTo>
                  <a:pt x="735184" y="0"/>
                </a:lnTo>
                <a:lnTo>
                  <a:pt x="735184" y="520008"/>
                </a:lnTo>
                <a:lnTo>
                  <a:pt x="0" y="520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984462" y="8597168"/>
            <a:ext cx="387835" cy="345467"/>
          </a:xfrm>
          <a:custGeom>
            <a:avLst/>
            <a:gdLst/>
            <a:ahLst/>
            <a:cxnLst/>
            <a:rect r="r" b="b" t="t" l="l"/>
            <a:pathLst>
              <a:path h="345467" w="387835">
                <a:moveTo>
                  <a:pt x="0" y="0"/>
                </a:moveTo>
                <a:lnTo>
                  <a:pt x="387836" y="0"/>
                </a:lnTo>
                <a:lnTo>
                  <a:pt x="387836" y="345467"/>
                </a:lnTo>
                <a:lnTo>
                  <a:pt x="0" y="345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4778836" y="7829264"/>
            <a:ext cx="1544457" cy="1074915"/>
            <a:chOff x="0" y="0"/>
            <a:chExt cx="923927" cy="64303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23927" cy="643037"/>
            </a:xfrm>
            <a:custGeom>
              <a:avLst/>
              <a:gdLst/>
              <a:ahLst/>
              <a:cxnLst/>
              <a:rect r="r" b="b" t="t" l="l"/>
              <a:pathLst>
                <a:path h="643037" w="923927">
                  <a:moveTo>
                    <a:pt x="0" y="0"/>
                  </a:moveTo>
                  <a:lnTo>
                    <a:pt x="923927" y="0"/>
                  </a:lnTo>
                  <a:lnTo>
                    <a:pt x="923927" y="643037"/>
                  </a:lnTo>
                  <a:lnTo>
                    <a:pt x="0" y="643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923927" cy="671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5278311" y="8016915"/>
            <a:ext cx="538216" cy="615104"/>
          </a:xfrm>
          <a:custGeom>
            <a:avLst/>
            <a:gdLst/>
            <a:ahLst/>
            <a:cxnLst/>
            <a:rect r="r" b="b" t="t" l="l"/>
            <a:pathLst>
              <a:path h="615104" w="538216">
                <a:moveTo>
                  <a:pt x="0" y="0"/>
                </a:moveTo>
                <a:lnTo>
                  <a:pt x="538216" y="0"/>
                </a:lnTo>
                <a:lnTo>
                  <a:pt x="538216" y="615105"/>
                </a:lnTo>
                <a:lnTo>
                  <a:pt x="0" y="615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5355763" y="8736528"/>
            <a:ext cx="390602" cy="347931"/>
          </a:xfrm>
          <a:custGeom>
            <a:avLst/>
            <a:gdLst/>
            <a:ahLst/>
            <a:cxnLst/>
            <a:rect r="r" b="b" t="t" l="l"/>
            <a:pathLst>
              <a:path h="347931" w="390602">
                <a:moveTo>
                  <a:pt x="0" y="0"/>
                </a:moveTo>
                <a:lnTo>
                  <a:pt x="390602" y="0"/>
                </a:lnTo>
                <a:lnTo>
                  <a:pt x="390602" y="347931"/>
                </a:lnTo>
                <a:lnTo>
                  <a:pt x="0" y="347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2753227" y="7220079"/>
            <a:ext cx="5071314" cy="2700318"/>
            <a:chOff x="0" y="0"/>
            <a:chExt cx="2011228" cy="107091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11228" cy="1070917"/>
            </a:xfrm>
            <a:custGeom>
              <a:avLst/>
              <a:gdLst/>
              <a:ahLst/>
              <a:cxnLst/>
              <a:rect r="r" b="b" t="t" l="l"/>
              <a:pathLst>
                <a:path h="1070917" w="2011228">
                  <a:moveTo>
                    <a:pt x="0" y="0"/>
                  </a:moveTo>
                  <a:lnTo>
                    <a:pt x="2011228" y="0"/>
                  </a:lnTo>
                  <a:lnTo>
                    <a:pt x="2011228" y="1070917"/>
                  </a:lnTo>
                  <a:lnTo>
                    <a:pt x="0" y="10709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2011228" cy="1099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630910" y="8276582"/>
            <a:ext cx="1544457" cy="1074915"/>
            <a:chOff x="0" y="0"/>
            <a:chExt cx="923927" cy="64303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3927" cy="643037"/>
            </a:xfrm>
            <a:custGeom>
              <a:avLst/>
              <a:gdLst/>
              <a:ahLst/>
              <a:cxnLst/>
              <a:rect r="r" b="b" t="t" l="l"/>
              <a:pathLst>
                <a:path h="643037" w="923927">
                  <a:moveTo>
                    <a:pt x="0" y="0"/>
                  </a:moveTo>
                  <a:lnTo>
                    <a:pt x="923927" y="0"/>
                  </a:lnTo>
                  <a:lnTo>
                    <a:pt x="923927" y="643037"/>
                  </a:lnTo>
                  <a:lnTo>
                    <a:pt x="0" y="643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923927" cy="671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6130385" y="8464233"/>
            <a:ext cx="538216" cy="615104"/>
          </a:xfrm>
          <a:custGeom>
            <a:avLst/>
            <a:gdLst/>
            <a:ahLst/>
            <a:cxnLst/>
            <a:rect r="r" b="b" t="t" l="l"/>
            <a:pathLst>
              <a:path h="615104" w="538216">
                <a:moveTo>
                  <a:pt x="0" y="0"/>
                </a:moveTo>
                <a:lnTo>
                  <a:pt x="538216" y="0"/>
                </a:lnTo>
                <a:lnTo>
                  <a:pt x="538216" y="615104"/>
                </a:lnTo>
                <a:lnTo>
                  <a:pt x="0" y="615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6207837" y="9183846"/>
            <a:ext cx="390602" cy="347931"/>
          </a:xfrm>
          <a:custGeom>
            <a:avLst/>
            <a:gdLst/>
            <a:ahLst/>
            <a:cxnLst/>
            <a:rect r="r" b="b" t="t" l="l"/>
            <a:pathLst>
              <a:path h="347931" w="390602">
                <a:moveTo>
                  <a:pt x="0" y="0"/>
                </a:moveTo>
                <a:lnTo>
                  <a:pt x="390602" y="0"/>
                </a:lnTo>
                <a:lnTo>
                  <a:pt x="390602" y="347931"/>
                </a:lnTo>
                <a:lnTo>
                  <a:pt x="0" y="347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0317129" y="6402722"/>
            <a:ext cx="1222880" cy="1118990"/>
            <a:chOff x="0" y="0"/>
            <a:chExt cx="1630506" cy="1491987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1630506" cy="1491987"/>
              <a:chOff x="0" y="0"/>
              <a:chExt cx="4510062" cy="4126911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4510062" cy="4126911"/>
              </a:xfrm>
              <a:custGeom>
                <a:avLst/>
                <a:gdLst/>
                <a:ahLst/>
                <a:cxnLst/>
                <a:rect r="r" b="b" t="t" l="l"/>
                <a:pathLst>
                  <a:path h="4126911" w="4510062">
                    <a:moveTo>
                      <a:pt x="0" y="0"/>
                    </a:moveTo>
                    <a:lnTo>
                      <a:pt x="4510062" y="0"/>
                    </a:lnTo>
                    <a:lnTo>
                      <a:pt x="4510062" y="4126911"/>
                    </a:lnTo>
                    <a:lnTo>
                      <a:pt x="0" y="4126911"/>
                    </a:lnTo>
                    <a:close/>
                  </a:path>
                </a:pathLst>
              </a:custGeom>
              <a:solidFill>
                <a:srgbClr val="0C9855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28575"/>
                <a:ext cx="4510062" cy="41554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7"/>
                  </a:lnSpc>
                </a:pPr>
              </a:p>
            </p:txBody>
          </p:sp>
        </p:grpSp>
        <p:sp>
          <p:nvSpPr>
            <p:cNvPr name="Freeform 61" id="61"/>
            <p:cNvSpPr/>
            <p:nvPr/>
          </p:nvSpPr>
          <p:spPr>
            <a:xfrm flipH="false" flipV="false" rot="0">
              <a:off x="276631" y="222659"/>
              <a:ext cx="1073401" cy="1040446"/>
            </a:xfrm>
            <a:custGeom>
              <a:avLst/>
              <a:gdLst/>
              <a:ahLst/>
              <a:cxnLst/>
              <a:rect r="r" b="b" t="t" l="l"/>
              <a:pathLst>
                <a:path h="1040446" w="1073401">
                  <a:moveTo>
                    <a:pt x="0" y="0"/>
                  </a:moveTo>
                  <a:lnTo>
                    <a:pt x="1073401" y="0"/>
                  </a:lnTo>
                  <a:lnTo>
                    <a:pt x="1073401" y="1040446"/>
                  </a:lnTo>
                  <a:lnTo>
                    <a:pt x="0" y="1040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AutoShape 62" id="62"/>
          <p:cNvSpPr/>
          <p:nvPr/>
        </p:nvSpPr>
        <p:spPr>
          <a:xfrm>
            <a:off x="8595153" y="6962217"/>
            <a:ext cx="17219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3" id="63"/>
          <p:cNvSpPr txBox="true"/>
          <p:nvPr/>
        </p:nvSpPr>
        <p:spPr>
          <a:xfrm rot="0">
            <a:off x="13135142" y="9140708"/>
            <a:ext cx="1912801" cy="5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  <a:spcBef>
                <a:spcPct val="0"/>
              </a:spcBef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nginx 파드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708521" y="9221327"/>
            <a:ext cx="2473237" cy="5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  <a:spcBef>
                <a:spcPct val="0"/>
              </a:spcBef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busybox 파드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220247" y="7220079"/>
            <a:ext cx="5071314" cy="2700318"/>
            <a:chOff x="0" y="0"/>
            <a:chExt cx="2011228" cy="107091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11228" cy="1070917"/>
            </a:xfrm>
            <a:custGeom>
              <a:avLst/>
              <a:gdLst/>
              <a:ahLst/>
              <a:cxnLst/>
              <a:rect r="r" b="b" t="t" l="l"/>
              <a:pathLst>
                <a:path h="1070917" w="2011228">
                  <a:moveTo>
                    <a:pt x="0" y="0"/>
                  </a:moveTo>
                  <a:lnTo>
                    <a:pt x="2011228" y="0"/>
                  </a:lnTo>
                  <a:lnTo>
                    <a:pt x="2011228" y="1070917"/>
                  </a:lnTo>
                  <a:lnTo>
                    <a:pt x="0" y="10709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011228" cy="1099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AutoShape 68" id="68"/>
          <p:cNvSpPr/>
          <p:nvPr/>
        </p:nvSpPr>
        <p:spPr>
          <a:xfrm flipV="true">
            <a:off x="6291561" y="7696329"/>
            <a:ext cx="2105850" cy="87390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 flipH="true" flipV="true">
            <a:off x="10928568" y="7521712"/>
            <a:ext cx="1824658" cy="10485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0" id="70"/>
          <p:cNvSpPr txBox="true"/>
          <p:nvPr/>
        </p:nvSpPr>
        <p:spPr>
          <a:xfrm rot="0">
            <a:off x="6485318" y="5883306"/>
            <a:ext cx="2793817" cy="5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  <a:spcBef>
                <a:spcPct val="0"/>
              </a:spcBef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busybox 서비스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907785" y="5883306"/>
            <a:ext cx="2340723" cy="5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  <a:spcBef>
                <a:spcPct val="0"/>
              </a:spcBef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nginx 서비스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0623" y="559603"/>
            <a:ext cx="2881897" cy="68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  <a:spcBef>
                <a:spcPct val="0"/>
              </a:spcBef>
            </a:pPr>
            <a:r>
              <a:rPr lang="en-US" b="true" sz="4191" spc="-7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[연습문제]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43817" y="714745"/>
            <a:ext cx="3471851" cy="50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WordPress 구축하기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2153" y="1621977"/>
            <a:ext cx="15356151" cy="153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1731" indent="-330865" lvl="1">
              <a:lnSpc>
                <a:spcPts val="4076"/>
              </a:lnSpc>
              <a:buFont typeface="Arial"/>
              <a:buChar char="•"/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WordPress와 MySQL을 각각 디플로이먼트와 서비스로 배포하고, WordPress가 MySQL 데이터베이스에 연결되도록 구성.</a:t>
            </a:r>
          </a:p>
          <a:p>
            <a:pPr algn="just" marL="661731" indent="-330865" lvl="1">
              <a:lnSpc>
                <a:spcPts val="4076"/>
              </a:lnSpc>
              <a:spcBef>
                <a:spcPct val="0"/>
              </a:spcBef>
              <a:buFont typeface="Arial"/>
              <a:buChar char="•"/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WordPress 웹 애플리케이션을 실행하고 MySQL과 연동하여 간단한 블로그 환경을 설정.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2153" y="3533524"/>
            <a:ext cx="7024260" cy="5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1731" indent="-330865" lvl="1">
              <a:lnSpc>
                <a:spcPts val="407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64" spc="-5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mysql-deployment.yml 파일 제공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87200"/>
            <a:ext cx="5525016" cy="4007248"/>
          </a:xfrm>
          <a:custGeom>
            <a:avLst/>
            <a:gdLst/>
            <a:ahLst/>
            <a:cxnLst/>
            <a:rect r="r" b="b" t="t" l="l"/>
            <a:pathLst>
              <a:path h="4007248" w="5525016">
                <a:moveTo>
                  <a:pt x="0" y="0"/>
                </a:moveTo>
                <a:lnTo>
                  <a:pt x="5525016" y="0"/>
                </a:lnTo>
                <a:lnTo>
                  <a:pt x="5525016" y="4007249"/>
                </a:lnTo>
                <a:lnTo>
                  <a:pt x="0" y="4007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340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93082" y="1479649"/>
            <a:ext cx="7120548" cy="3165729"/>
          </a:xfrm>
          <a:custGeom>
            <a:avLst/>
            <a:gdLst/>
            <a:ahLst/>
            <a:cxnLst/>
            <a:rect r="r" b="b" t="t" l="l"/>
            <a:pathLst>
              <a:path h="3165729" w="7120548">
                <a:moveTo>
                  <a:pt x="0" y="0"/>
                </a:moveTo>
                <a:lnTo>
                  <a:pt x="7120548" y="0"/>
                </a:lnTo>
                <a:lnTo>
                  <a:pt x="7120548" y="3165729"/>
                </a:lnTo>
                <a:lnTo>
                  <a:pt x="0" y="3165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403" r="0" b="-44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53716" y="5830121"/>
            <a:ext cx="3639367" cy="3565300"/>
          </a:xfrm>
          <a:custGeom>
            <a:avLst/>
            <a:gdLst/>
            <a:ahLst/>
            <a:cxnLst/>
            <a:rect r="r" b="b" t="t" l="l"/>
            <a:pathLst>
              <a:path h="3565300" w="3639367">
                <a:moveTo>
                  <a:pt x="0" y="0"/>
                </a:moveTo>
                <a:lnTo>
                  <a:pt x="3639366" y="0"/>
                </a:lnTo>
                <a:lnTo>
                  <a:pt x="3639366" y="3565299"/>
                </a:lnTo>
                <a:lnTo>
                  <a:pt x="0" y="35652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720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06818" y="758726"/>
            <a:ext cx="4568780" cy="5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6"/>
              </a:lnSpc>
              <a:spcBef>
                <a:spcPct val="0"/>
              </a:spcBef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사이트 및 사용자 정보 생성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93082" y="758726"/>
            <a:ext cx="4568780" cy="5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6"/>
              </a:lnSpc>
              <a:spcBef>
                <a:spcPct val="0"/>
              </a:spcBef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로그인 후 워드프레스 화면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74508" y="5105400"/>
            <a:ext cx="3518574" cy="5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6"/>
              </a:lnSpc>
              <a:spcBef>
                <a:spcPct val="0"/>
              </a:spcBef>
            </a:pPr>
            <a:r>
              <a:rPr lang="en-US" sz="3064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입력한 정보로 로그인</a:t>
            </a:r>
          </a:p>
        </p:txBody>
      </p:sp>
      <p:sp>
        <p:nvSpPr>
          <p:cNvPr name="AutoShape 8" id="8"/>
          <p:cNvSpPr/>
          <p:nvPr/>
        </p:nvSpPr>
        <p:spPr>
          <a:xfrm>
            <a:off x="5574826" y="4785440"/>
            <a:ext cx="1216251" cy="13711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 flipV="true">
            <a:off x="9701218" y="4645378"/>
            <a:ext cx="1890203" cy="15938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54055" y="4636819"/>
            <a:ext cx="4497333" cy="71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1"/>
              </a:lnSpc>
            </a:pPr>
            <a:r>
              <a:rPr lang="en-US" sz="6232" spc="-105">
                <a:solidFill>
                  <a:srgbClr val="000000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5. 볼륨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885" y="477064"/>
            <a:ext cx="8920955" cy="8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994" spc="-8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데이터 관리는 어떻게 할 것인가?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30648" y="1719240"/>
            <a:ext cx="11718869" cy="57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4"/>
              </a:lnSpc>
            </a:pPr>
            <a:r>
              <a:rPr lang="en-US" sz="3476" spc="-5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쿠버네티스에서도 볼륨을 사용하면 되나요? 어떻게?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95246" y="2638583"/>
            <a:ext cx="11254272" cy="51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3154" spc="-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도커에서는 볼륨을 지정해 컨테이너와 연결하는 방식으로 사용했음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52789" y="4756985"/>
            <a:ext cx="1026038" cy="937094"/>
            <a:chOff x="0" y="0"/>
            <a:chExt cx="1368051" cy="124945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16536" y="935852"/>
              <a:ext cx="934979" cy="313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8"/>
                </a:lnSpc>
              </a:pPr>
              <a:r>
                <a:rPr lang="en-US" sz="1457" spc="-24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컨테이너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8051" cy="946881"/>
            </a:xfrm>
            <a:custGeom>
              <a:avLst/>
              <a:gdLst/>
              <a:ahLst/>
              <a:cxnLst/>
              <a:rect r="r" b="b" t="t" l="l"/>
              <a:pathLst>
                <a:path h="946881" w="1368051">
                  <a:moveTo>
                    <a:pt x="0" y="0"/>
                  </a:moveTo>
                  <a:lnTo>
                    <a:pt x="1368051" y="0"/>
                  </a:lnTo>
                  <a:lnTo>
                    <a:pt x="1368051" y="946881"/>
                  </a:lnTo>
                  <a:lnTo>
                    <a:pt x="0" y="946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184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286860" y="4219561"/>
            <a:ext cx="1557895" cy="417358"/>
          </a:xfrm>
          <a:custGeom>
            <a:avLst/>
            <a:gdLst/>
            <a:ahLst/>
            <a:cxnLst/>
            <a:rect r="r" b="b" t="t" l="l"/>
            <a:pathLst>
              <a:path h="417358" w="1557895">
                <a:moveTo>
                  <a:pt x="0" y="0"/>
                </a:moveTo>
                <a:lnTo>
                  <a:pt x="1557895" y="0"/>
                </a:lnTo>
                <a:lnTo>
                  <a:pt x="1557895" y="417358"/>
                </a:lnTo>
                <a:lnTo>
                  <a:pt x="0" y="41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168893" y="3928743"/>
            <a:ext cx="1793830" cy="1934697"/>
            <a:chOff x="0" y="0"/>
            <a:chExt cx="2956594" cy="31887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56594" cy="3188771"/>
            </a:xfrm>
            <a:custGeom>
              <a:avLst/>
              <a:gdLst/>
              <a:ahLst/>
              <a:cxnLst/>
              <a:rect r="r" b="b" t="t" l="l"/>
              <a:pathLst>
                <a:path h="3188771" w="2956594">
                  <a:moveTo>
                    <a:pt x="0" y="0"/>
                  </a:moveTo>
                  <a:lnTo>
                    <a:pt x="2956594" y="0"/>
                  </a:lnTo>
                  <a:lnTo>
                    <a:pt x="2956594" y="3188771"/>
                  </a:lnTo>
                  <a:lnTo>
                    <a:pt x="0" y="31887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956594" cy="321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168893" y="5906209"/>
            <a:ext cx="1793830" cy="412528"/>
          </a:xfrm>
          <a:custGeom>
            <a:avLst/>
            <a:gdLst/>
            <a:ahLst/>
            <a:cxnLst/>
            <a:rect r="r" b="b" t="t" l="l"/>
            <a:pathLst>
              <a:path h="412528" w="1793830">
                <a:moveTo>
                  <a:pt x="0" y="0"/>
                </a:moveTo>
                <a:lnTo>
                  <a:pt x="1793830" y="0"/>
                </a:lnTo>
                <a:lnTo>
                  <a:pt x="1793830" y="412528"/>
                </a:lnTo>
                <a:lnTo>
                  <a:pt x="0" y="412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6644" r="0" b="-92720"/>
            </a:stretch>
          </a:blipFill>
        </p:spPr>
      </p:sp>
      <p:sp>
        <p:nvSpPr>
          <p:cNvPr name="AutoShape 13" id="13"/>
          <p:cNvSpPr/>
          <p:nvPr/>
        </p:nvSpPr>
        <p:spPr>
          <a:xfrm flipH="true">
            <a:off x="3307252" y="4189056"/>
            <a:ext cx="2117661" cy="9767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5369397" y="3630242"/>
            <a:ext cx="822419" cy="822419"/>
          </a:xfrm>
          <a:custGeom>
            <a:avLst/>
            <a:gdLst/>
            <a:ahLst/>
            <a:cxnLst/>
            <a:rect r="r" b="b" t="t" l="l"/>
            <a:pathLst>
              <a:path h="822419" w="822419">
                <a:moveTo>
                  <a:pt x="0" y="0"/>
                </a:moveTo>
                <a:lnTo>
                  <a:pt x="822419" y="0"/>
                </a:lnTo>
                <a:lnTo>
                  <a:pt x="822419" y="822419"/>
                </a:lnTo>
                <a:lnTo>
                  <a:pt x="0" y="822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512773" y="4457388"/>
            <a:ext cx="358269" cy="25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7"/>
              </a:lnSpc>
              <a:spcBef>
                <a:spcPct val="0"/>
              </a:spcBef>
            </a:pPr>
            <a:r>
              <a:rPr lang="en-US" b="true" sz="1561" spc="-2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볼륨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90083" y="3948564"/>
            <a:ext cx="4177785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docker run -v [볼륨설정]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47646" y="6787054"/>
            <a:ext cx="15364054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그런데 쿠버네티스에선 우리가 컨테이너를 실행시키지 않음 (쿠버네티스 자체적으로 관리함)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90083" y="5118154"/>
            <a:ext cx="4177785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docker compose up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85032" y="4546330"/>
            <a:ext cx="4177785" cy="50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52789" y="7587221"/>
            <a:ext cx="4177785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그럼 어떻게???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65808" y="8415566"/>
            <a:ext cx="7023662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설정 파일을 통해 쿠버네티스에게 전달한다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885" y="477064"/>
            <a:ext cx="8920955" cy="8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994" spc="-8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쿠버네티스에서의 볼륨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4303" y="1737617"/>
            <a:ext cx="7643556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도커의 볼륨보다 다양한 유형의 볼륨을 제공함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4303" y="2509911"/>
            <a:ext cx="10771203" cy="101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341" indent="-325670" lvl="1">
              <a:lnSpc>
                <a:spcPts val="4012"/>
              </a:lnSpc>
              <a:buFont typeface="Arial"/>
              <a:buChar char="•"/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워커노드에 존재하는 로컬 볼륨</a:t>
            </a:r>
          </a:p>
          <a:p>
            <a:pPr algn="l" marL="651341" indent="-325670" lvl="1">
              <a:lnSpc>
                <a:spcPts val="4012"/>
              </a:lnSpc>
              <a:buFont typeface="Arial"/>
              <a:buChar char="•"/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클라우드 프로바이더용 볼륨 (EKS, GKE...)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4303" y="3967962"/>
            <a:ext cx="7643556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그리고 볼륨의 수명이 파드에 의존적임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4827" y="4738759"/>
            <a:ext cx="10940265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왜냐하면 파드가 컨테이너와 함께 볼륨을 구성요소로 포함하고 있음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5092" y="4738759"/>
            <a:ext cx="5051272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즉 파드 안에 볼륨이 들어있음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862348" y="6218076"/>
            <a:ext cx="1793830" cy="1652927"/>
            <a:chOff x="0" y="0"/>
            <a:chExt cx="2956594" cy="27243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56594" cy="2724357"/>
            </a:xfrm>
            <a:custGeom>
              <a:avLst/>
              <a:gdLst/>
              <a:ahLst/>
              <a:cxnLst/>
              <a:rect r="r" b="b" t="t" l="l"/>
              <a:pathLst>
                <a:path h="2724357" w="2956594">
                  <a:moveTo>
                    <a:pt x="0" y="0"/>
                  </a:moveTo>
                  <a:lnTo>
                    <a:pt x="2956594" y="0"/>
                  </a:lnTo>
                  <a:lnTo>
                    <a:pt x="2956594" y="2724357"/>
                  </a:lnTo>
                  <a:lnTo>
                    <a:pt x="0" y="2724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956594" cy="275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425888" y="7837281"/>
            <a:ext cx="863989" cy="50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파드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59587" y="6578145"/>
            <a:ext cx="1398599" cy="89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</a:pPr>
            <a:r>
              <a:rPr lang="en-US" sz="2690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컨테이너</a:t>
            </a:r>
          </a:p>
          <a:p>
            <a:pPr algn="ctr">
              <a:lnSpc>
                <a:spcPts val="3577"/>
              </a:lnSpc>
            </a:pPr>
            <a:r>
              <a:rPr lang="en-US" sz="2690" spc="-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볼륨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4827" y="5690531"/>
            <a:ext cx="10940265" cy="1007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컨테이너가 종료되어도 볼륨은 살아있지만,</a:t>
            </a:r>
          </a:p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                        </a:t>
            </a:r>
            <a:r>
              <a:rPr lang="en-US" sz="3016" spc="-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파드가 종료되면 볼륨도 사라짐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885" y="477064"/>
            <a:ext cx="8920955" cy="8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994" spc="-8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emptyDir 볼륨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4303" y="1737617"/>
            <a:ext cx="4295696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파드의 생명주기만큼 존재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4303" y="2509911"/>
            <a:ext cx="6844390" cy="101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341" indent="-325670" lvl="1">
              <a:lnSpc>
                <a:spcPts val="4012"/>
              </a:lnSpc>
              <a:buFont typeface="Arial"/>
              <a:buChar char="•"/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컨테이너 재시작 시 데이터 유지시켜줌</a:t>
            </a:r>
          </a:p>
          <a:p>
            <a:pPr algn="l" marL="651341" indent="-325670" lvl="1">
              <a:lnSpc>
                <a:spcPts val="4012"/>
              </a:lnSpc>
              <a:buFont typeface="Arial"/>
              <a:buChar char="•"/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그러나 파드가 종료되면 같이 제거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885" y="477064"/>
            <a:ext cx="8920955" cy="8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994" spc="-8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hostPath 드라이버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4303" y="1737617"/>
            <a:ext cx="7643556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emptyDir 은 하나의 파드 내에서 구동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4303" y="2509911"/>
            <a:ext cx="12039168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341" indent="-325670" lvl="1">
              <a:lnSpc>
                <a:spcPts val="4012"/>
              </a:lnSpc>
              <a:buFont typeface="Arial"/>
              <a:buChar char="•"/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즉, 여러 파드가 존재한다면 ( replicas ) 어떤 파드는 데이터 유지 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4303" y="4413454"/>
            <a:ext cx="15563231" cy="252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341" indent="-325670" lvl="1">
              <a:lnSpc>
                <a:spcPts val="4012"/>
              </a:lnSpc>
              <a:buFont typeface="Arial"/>
              <a:buChar char="•"/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따라서 이제 여러 Pod가 Pod 특정 경로 대신, </a:t>
            </a: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호스트 머신의 동일한 경로에서 하나를 공유 가능</a:t>
            </a:r>
          </a:p>
          <a:p>
            <a:pPr algn="l" marL="651341" indent="-325670" lvl="1">
              <a:lnSpc>
                <a:spcPts val="4012"/>
              </a:lnSpc>
              <a:buFont typeface="Arial"/>
              <a:buChar char="•"/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두 개의 키가 필요</a:t>
            </a:r>
          </a:p>
          <a:p>
            <a:pPr algn="l" marL="651341" indent="-325670" lvl="1">
              <a:lnSpc>
                <a:spcPts val="4012"/>
              </a:lnSpc>
              <a:buFont typeface="Arial"/>
              <a:buChar char="•"/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설정해야 하는 첫 번째 설정은 데이터가 저장되어야 하는 호스트 머신의 경로</a:t>
            </a:r>
          </a:p>
          <a:p>
            <a:pPr algn="l" marL="651341" indent="-325670" lvl="1">
              <a:lnSpc>
                <a:spcPts val="4012"/>
              </a:lnSpc>
              <a:buFont typeface="Arial"/>
              <a:buChar char="•"/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즉, 컨테이너의 경로가 아니라, 호스트 머신의 경로</a:t>
            </a:r>
          </a:p>
          <a:p>
            <a:pPr algn="l" marL="651341" indent="-325670" lvl="1">
              <a:lnSpc>
                <a:spcPts val="4012"/>
              </a:lnSpc>
              <a:buFont typeface="Arial"/>
              <a:buChar char="•"/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그래서 hostPath는 바인드 마운트와 비슷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4303" y="3461682"/>
            <a:ext cx="7643556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hostPath 는 머신에 종속됌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4303" y="7747328"/>
            <a:ext cx="12039168" cy="50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하지만 이 방법 역시 minikube와 같이 단일 노드에서만 동작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58762" y="8347608"/>
            <a:ext cx="12039168" cy="50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실제로 운영환경에선 보통 다중 노드에서 쿠버네티스 클러스터가 동작함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885" y="477064"/>
            <a:ext cx="8920955" cy="8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994" spc="-8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영구 볼륨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755" y="1603723"/>
            <a:ext cx="15813630" cy="414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3731" indent="-381865" lvl="1">
              <a:lnSpc>
                <a:spcPts val="4704"/>
              </a:lnSpc>
              <a:buFont typeface="Arial"/>
              <a:buChar char="•"/>
            </a:pPr>
            <a:r>
              <a:rPr lang="en-US" sz="3537" spc="-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영구 볼륨은 Pod와 Node에 독립적</a:t>
            </a:r>
          </a:p>
          <a:p>
            <a:pPr algn="l" marL="1527461" indent="-509154" lvl="2">
              <a:lnSpc>
                <a:spcPts val="4704"/>
              </a:lnSpc>
              <a:buFont typeface="Arial"/>
              <a:buChar char="⚬"/>
            </a:pPr>
            <a:r>
              <a:rPr lang="en-US" sz="3537" spc="-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AWS ElasticBlockStore, Azure Disc, Azure File, NFS</a:t>
            </a:r>
          </a:p>
          <a:p>
            <a:pPr algn="l" marL="763731" indent="-381865" lvl="1">
              <a:lnSpc>
                <a:spcPts val="4704"/>
              </a:lnSpc>
              <a:buFont typeface="Arial"/>
              <a:buChar char="•"/>
            </a:pPr>
            <a:r>
              <a:rPr lang="en-US" sz="3537" spc="-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기타 여러 옵션과 마찬가지로 결국에는 Pod 및 노드에 독립적인 스토리지를 제공</a:t>
            </a:r>
          </a:p>
          <a:p>
            <a:pPr algn="l" marL="763731" indent="-381865" lvl="1">
              <a:lnSpc>
                <a:spcPts val="4704"/>
              </a:lnSpc>
              <a:buFont typeface="Arial"/>
              <a:buChar char="•"/>
            </a:pPr>
            <a:r>
              <a:rPr lang="en-US" sz="3537" spc="-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영구 볼륨 개념은 단순한 독립 스토리지, 그 이상</a:t>
            </a:r>
          </a:p>
          <a:p>
            <a:pPr algn="l" marL="1527461" indent="-509154" lvl="2">
              <a:lnSpc>
                <a:spcPts val="4704"/>
              </a:lnSpc>
              <a:buFont typeface="Arial"/>
              <a:buChar char="⚬"/>
            </a:pPr>
            <a:r>
              <a:rPr lang="en-US" sz="3537" spc="-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그 핵심 아이디어는 볼륨이 Pod에서 분리된다는 것</a:t>
            </a:r>
          </a:p>
          <a:p>
            <a:pPr algn="l" marL="763731" indent="-381865" lvl="1">
              <a:lnSpc>
                <a:spcPts val="4704"/>
              </a:lnSpc>
              <a:buFont typeface="Arial"/>
              <a:buChar char="•"/>
            </a:pPr>
            <a:r>
              <a:rPr lang="en-US" sz="3537" spc="-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그리고 여기에는 Pod 수명 주기와 완전히 분리되는 것이 포함됨</a:t>
            </a:r>
          </a:p>
          <a:p>
            <a:pPr algn="l" marL="763731" indent="-381865" lvl="1">
              <a:lnSpc>
                <a:spcPts val="4704"/>
              </a:lnSpc>
              <a:buFont typeface="Arial"/>
              <a:buChar char="•"/>
            </a:pPr>
            <a:r>
              <a:rPr lang="en-US" sz="3537" spc="-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영구 볼륨으로 해당 Pod 및 노드에 대한 독립성을 갖게됨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7955" y="3163453"/>
            <a:ext cx="4880778" cy="2784591"/>
            <a:chOff x="0" y="0"/>
            <a:chExt cx="8044507" cy="45895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44507" cy="4589569"/>
            </a:xfrm>
            <a:custGeom>
              <a:avLst/>
              <a:gdLst/>
              <a:ahLst/>
              <a:cxnLst/>
              <a:rect r="r" b="b" t="t" l="l"/>
              <a:pathLst>
                <a:path h="4589569" w="8044507">
                  <a:moveTo>
                    <a:pt x="0" y="0"/>
                  </a:moveTo>
                  <a:lnTo>
                    <a:pt x="8044507" y="0"/>
                  </a:lnTo>
                  <a:lnTo>
                    <a:pt x="8044507" y="4589569"/>
                  </a:lnTo>
                  <a:lnTo>
                    <a:pt x="0" y="45895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044507" cy="4618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1818" y="4072742"/>
            <a:ext cx="952703" cy="1252515"/>
            <a:chOff x="0" y="0"/>
            <a:chExt cx="1270270" cy="16700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0270" cy="1270270"/>
            </a:xfrm>
            <a:custGeom>
              <a:avLst/>
              <a:gdLst/>
              <a:ahLst/>
              <a:cxnLst/>
              <a:rect r="r" b="b" t="t" l="l"/>
              <a:pathLst>
                <a:path h="1270270" w="1270270">
                  <a:moveTo>
                    <a:pt x="0" y="0"/>
                  </a:moveTo>
                  <a:lnTo>
                    <a:pt x="1270270" y="0"/>
                  </a:lnTo>
                  <a:lnTo>
                    <a:pt x="1270270" y="1270270"/>
                  </a:lnTo>
                  <a:lnTo>
                    <a:pt x="0" y="1270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221452" y="1278420"/>
              <a:ext cx="553366" cy="39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6"/>
                </a:lnSpc>
                <a:spcBef>
                  <a:spcPct val="0"/>
                </a:spcBef>
              </a:pPr>
              <a:r>
                <a:rPr lang="en-US" b="true" sz="1809" spc="-3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볼륨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9822" y="3288696"/>
            <a:ext cx="1570193" cy="989754"/>
            <a:chOff x="0" y="0"/>
            <a:chExt cx="2093591" cy="1319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6961" y="0"/>
              <a:ext cx="1102467" cy="1102467"/>
            </a:xfrm>
            <a:custGeom>
              <a:avLst/>
              <a:gdLst/>
              <a:ahLst/>
              <a:cxnLst/>
              <a:rect r="r" b="b" t="t" l="l"/>
              <a:pathLst>
                <a:path h="1102467" w="1102467">
                  <a:moveTo>
                    <a:pt x="0" y="0"/>
                  </a:moveTo>
                  <a:lnTo>
                    <a:pt x="1102468" y="0"/>
                  </a:lnTo>
                  <a:lnTo>
                    <a:pt x="1102468" y="1102467"/>
                  </a:lnTo>
                  <a:lnTo>
                    <a:pt x="0" y="1102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856688"/>
              <a:ext cx="2093591" cy="4629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0"/>
                </a:lnSpc>
                <a:spcBef>
                  <a:spcPct val="0"/>
                </a:spcBef>
              </a:pPr>
              <a:r>
                <a:rPr lang="en-US" b="true" sz="2158" i="true" spc="-36">
                  <a:solidFill>
                    <a:srgbClr val="000000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k8s cluster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50177" y="6594380"/>
            <a:ext cx="4738556" cy="3109677"/>
            <a:chOff x="0" y="0"/>
            <a:chExt cx="812800" cy="533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38100" y="60325"/>
              <a:ext cx="7366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014964" y="7625976"/>
            <a:ext cx="995118" cy="877062"/>
          </a:xfrm>
          <a:custGeom>
            <a:avLst/>
            <a:gdLst/>
            <a:ahLst/>
            <a:cxnLst/>
            <a:rect r="r" b="b" t="t" l="l"/>
            <a:pathLst>
              <a:path h="877062" w="995118">
                <a:moveTo>
                  <a:pt x="0" y="0"/>
                </a:moveTo>
                <a:lnTo>
                  <a:pt x="995118" y="0"/>
                </a:lnTo>
                <a:lnTo>
                  <a:pt x="995118" y="877062"/>
                </a:lnTo>
                <a:lnTo>
                  <a:pt x="0" y="877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753" t="0" r="-17616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22772" y="7272156"/>
            <a:ext cx="1502584" cy="707639"/>
          </a:xfrm>
          <a:custGeom>
            <a:avLst/>
            <a:gdLst/>
            <a:ahLst/>
            <a:cxnLst/>
            <a:rect r="r" b="b" t="t" l="l"/>
            <a:pathLst>
              <a:path h="707639" w="1502584">
                <a:moveTo>
                  <a:pt x="0" y="0"/>
                </a:moveTo>
                <a:lnTo>
                  <a:pt x="1502584" y="0"/>
                </a:lnTo>
                <a:lnTo>
                  <a:pt x="1502584" y="707639"/>
                </a:lnTo>
                <a:lnTo>
                  <a:pt x="0" y="707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311414" y="8412104"/>
            <a:ext cx="2165961" cy="703468"/>
            <a:chOff x="0" y="0"/>
            <a:chExt cx="2887947" cy="93795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3890" cy="937957"/>
            </a:xfrm>
            <a:custGeom>
              <a:avLst/>
              <a:gdLst/>
              <a:ahLst/>
              <a:cxnLst/>
              <a:rect r="r" b="b" t="t" l="l"/>
              <a:pathLst>
                <a:path h="937957" w="993890">
                  <a:moveTo>
                    <a:pt x="0" y="0"/>
                  </a:moveTo>
                  <a:lnTo>
                    <a:pt x="993890" y="0"/>
                  </a:lnTo>
                  <a:lnTo>
                    <a:pt x="993890" y="937957"/>
                  </a:lnTo>
                  <a:lnTo>
                    <a:pt x="0" y="937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971325" y="116783"/>
              <a:ext cx="1916623" cy="677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5"/>
                </a:lnSpc>
                <a:spcBef>
                  <a:spcPct val="0"/>
                </a:spcBef>
              </a:pPr>
              <a:r>
                <a:rPr lang="en-US" b="true" sz="1552" spc="-26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GCP Persistent Disk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42885" y="477064"/>
            <a:ext cx="8920955" cy="8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994" spc="-8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pv 볼륨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01439" y="2707168"/>
            <a:ext cx="4983794" cy="655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apiVersion: apps/v1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kind: PersistenceVolume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metadata: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name: host-pv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spec: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capacity: 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storage: 4Gi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volumeMode: FileSystem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storageClassName: standard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accessMode: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C9855"/>
                </a:solidFill>
                <a:latin typeface="Inter"/>
                <a:ea typeface="Inter"/>
                <a:cs typeface="Inter"/>
                <a:sym typeface="Inter"/>
              </a:rPr>
              <a:t>    - ReadWriteOnce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C9855"/>
                </a:solidFill>
                <a:latin typeface="Inter"/>
                <a:ea typeface="Inter"/>
                <a:cs typeface="Inter"/>
                <a:sym typeface="Inter"/>
              </a:rPr>
              <a:t>    - ReadOnlyMany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C9855"/>
                </a:solidFill>
                <a:latin typeface="Inter"/>
                <a:ea typeface="Inter"/>
                <a:cs typeface="Inter"/>
                <a:sym typeface="Inter"/>
              </a:rPr>
              <a:t>    - ReadWriteMany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hostPath: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path: /data</a:t>
            </a:r>
          </a:p>
          <a:p>
            <a:pPr algn="l">
              <a:lnSpc>
                <a:spcPts val="3235"/>
              </a:lnSpc>
              <a:spcBef>
                <a:spcPct val="0"/>
              </a:spcBef>
            </a:pPr>
            <a:r>
              <a:rPr lang="en-US" sz="2432" spc="-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type: DirectoryOrCreate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179" y="1736163"/>
            <a:ext cx="10066355" cy="93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  <a:spcBef>
                <a:spcPct val="0"/>
              </a:spcBef>
            </a:pPr>
            <a:r>
              <a:rPr lang="en-US" sz="2786" spc="-4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Persistent Volume (PV): 클러스터 내에서 제공하는 영구 저장소로, 다양한 스토리지 제공자와 연결할 수 있음.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42162" y="5277633"/>
            <a:ext cx="1554585" cy="46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  <a:spcBef>
                <a:spcPct val="0"/>
              </a:spcBef>
            </a:pPr>
            <a:r>
              <a:rPr lang="en-US" b="true" sz="2786" spc="-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클러스터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68187" y="8873319"/>
            <a:ext cx="1554585" cy="46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  <a:spcBef>
                <a:spcPct val="0"/>
              </a:spcBef>
            </a:pPr>
            <a:r>
              <a:rPr lang="en-US" b="true" sz="2786" spc="-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클라우드</a:t>
            </a:r>
          </a:p>
        </p:txBody>
      </p:sp>
      <p:sp>
        <p:nvSpPr>
          <p:cNvPr name="AutoShape 24" id="24"/>
          <p:cNvSpPr/>
          <p:nvPr/>
        </p:nvSpPr>
        <p:spPr>
          <a:xfrm flipH="true" flipV="true">
            <a:off x="2819726" y="5491974"/>
            <a:ext cx="1474391" cy="18729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885" y="477064"/>
            <a:ext cx="8920955" cy="8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994" spc="-8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pvc : 볼륨 클레임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90213" y="706456"/>
            <a:ext cx="11469087" cy="46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847" spc="-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볼륨을 정의했으면 파드가 사용할 PVC, 즉 볼륨 클레임도 정의해야 한다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8410" y="3761679"/>
            <a:ext cx="3734953" cy="368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1823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apiVersion: v1</a:t>
            </a:r>
          </a:p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1823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kind: PersistenceVolumeClaim</a:t>
            </a:r>
          </a:p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1823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metadata:</a:t>
            </a:r>
          </a:p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1823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name: host-pvc</a:t>
            </a:r>
          </a:p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1823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spec:</a:t>
            </a:r>
          </a:p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1823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volumeName: </a:t>
            </a:r>
            <a:r>
              <a:rPr lang="en-US" b="true" sz="1823" spc="-3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host-pv</a:t>
            </a:r>
          </a:p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1823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accessModes: </a:t>
            </a:r>
          </a:p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1823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- ReadWriteOnce</a:t>
            </a:r>
          </a:p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1823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storageClassName: standard</a:t>
            </a:r>
          </a:p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1823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resources:</a:t>
            </a:r>
          </a:p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1823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requests:</a:t>
            </a:r>
          </a:p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1823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storage: 1Gi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812579" y="3775236"/>
            <a:ext cx="1193724" cy="1841628"/>
            <a:chOff x="0" y="0"/>
            <a:chExt cx="1591632" cy="2455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0882" y="521913"/>
              <a:ext cx="1470751" cy="1470751"/>
            </a:xfrm>
            <a:custGeom>
              <a:avLst/>
              <a:gdLst/>
              <a:ahLst/>
              <a:cxnLst/>
              <a:rect r="r" b="b" t="t" l="l"/>
              <a:pathLst>
                <a:path h="1470751" w="1470751">
                  <a:moveTo>
                    <a:pt x="0" y="0"/>
                  </a:moveTo>
                  <a:lnTo>
                    <a:pt x="1470750" y="0"/>
                  </a:lnTo>
                  <a:lnTo>
                    <a:pt x="1470750" y="1470750"/>
                  </a:lnTo>
                  <a:lnTo>
                    <a:pt x="0" y="1470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377285" y="2006609"/>
              <a:ext cx="640701" cy="448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86"/>
                </a:lnSpc>
                <a:spcBef>
                  <a:spcPct val="0"/>
                </a:spcBef>
              </a:pPr>
              <a:r>
                <a:rPr lang="en-US" b="true" sz="2094" spc="-35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볼륨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1332451" cy="448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86"/>
                </a:lnSpc>
                <a:spcBef>
                  <a:spcPct val="0"/>
                </a:spcBef>
              </a:pPr>
              <a:r>
                <a:rPr lang="en-US" b="true" sz="2094" spc="-35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host-pv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4124153" y="4588090"/>
            <a:ext cx="3772694" cy="70015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5599722" y="5995558"/>
            <a:ext cx="10633018" cy="43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640" spc="-4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그리고 deployment.yaml 에서 pod가 어떤 볼륨을 사용할지 다시 정의한다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63268" y="6614659"/>
            <a:ext cx="3644897" cy="328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79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spec:</a:t>
            </a:r>
          </a:p>
          <a:p>
            <a:pPr algn="l">
              <a:lnSpc>
                <a:spcPts val="2366"/>
              </a:lnSpc>
            </a:pPr>
            <a:r>
              <a:rPr lang="en-US" sz="1779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containers:</a:t>
            </a:r>
          </a:p>
          <a:p>
            <a:pPr algn="l">
              <a:lnSpc>
                <a:spcPts val="2366"/>
              </a:lnSpc>
            </a:pPr>
            <a:r>
              <a:rPr lang="en-US" sz="1779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- name: diary-app</a:t>
            </a:r>
          </a:p>
          <a:p>
            <a:pPr algn="l">
              <a:lnSpc>
                <a:spcPts val="2366"/>
              </a:lnSpc>
            </a:pPr>
            <a:r>
              <a:rPr lang="en-US" sz="1779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image: captainyun/diary-app</a:t>
            </a:r>
          </a:p>
          <a:p>
            <a:pPr algn="l">
              <a:lnSpc>
                <a:spcPts val="2366"/>
              </a:lnSpc>
            </a:pPr>
            <a:r>
              <a:rPr lang="en-US" sz="1779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volumeMounts:</a:t>
            </a:r>
          </a:p>
          <a:p>
            <a:pPr algn="l">
              <a:lnSpc>
                <a:spcPts val="2366"/>
              </a:lnSpc>
            </a:pPr>
            <a:r>
              <a:rPr lang="en-US" sz="1779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- mountPath: /app/diary</a:t>
            </a:r>
          </a:p>
          <a:p>
            <a:pPr algn="l">
              <a:lnSpc>
                <a:spcPts val="2366"/>
              </a:lnSpc>
            </a:pPr>
            <a:r>
              <a:rPr lang="en-US" sz="1779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name: my-first-volume</a:t>
            </a:r>
          </a:p>
          <a:p>
            <a:pPr algn="l">
              <a:lnSpc>
                <a:spcPts val="2366"/>
              </a:lnSpc>
            </a:pPr>
            <a:r>
              <a:rPr lang="en-US" sz="1779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volumes:</a:t>
            </a:r>
          </a:p>
          <a:p>
            <a:pPr algn="l">
              <a:lnSpc>
                <a:spcPts val="2366"/>
              </a:lnSpc>
            </a:pPr>
            <a:r>
              <a:rPr lang="en-US" sz="1779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- name: my-first-volume</a:t>
            </a:r>
          </a:p>
          <a:p>
            <a:pPr algn="l">
              <a:lnSpc>
                <a:spcPts val="2366"/>
              </a:lnSpc>
            </a:pPr>
            <a:r>
              <a:rPr lang="en-US" sz="1779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persistenceVolumeClaim:</a:t>
            </a:r>
          </a:p>
          <a:p>
            <a:pPr algn="l">
              <a:lnSpc>
                <a:spcPts val="2366"/>
              </a:lnSpc>
              <a:spcBef>
                <a:spcPct val="0"/>
              </a:spcBef>
            </a:pPr>
            <a:r>
              <a:rPr lang="en-US" sz="1779" spc="-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claimName: host-pvc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39828" y="7761434"/>
            <a:ext cx="5395734" cy="74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4"/>
              </a:lnSpc>
            </a:pPr>
            <a:r>
              <a:rPr lang="en-US" sz="2221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단지 하나의 파드에만 적용되는 볼륨이 아니라 클러스터 전체에서 사용 가능한 볼륨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608233"/>
            <a:ext cx="8473205" cy="145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0717" indent="-235358" lvl="1">
              <a:lnSpc>
                <a:spcPts val="2899"/>
              </a:lnSpc>
              <a:spcBef>
                <a:spcPct val="0"/>
              </a:spcBef>
              <a:buFont typeface="Arial"/>
              <a:buChar char="•"/>
            </a:pPr>
            <a:r>
              <a:rPr lang="en-US" sz="2180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PVC는 파드가 PV를 요청할 수 있는 클레임(요청)</a:t>
            </a:r>
          </a:p>
          <a:p>
            <a:pPr algn="l" marL="470717" indent="-235358" lvl="1">
              <a:lnSpc>
                <a:spcPts val="2899"/>
              </a:lnSpc>
              <a:spcBef>
                <a:spcPct val="0"/>
              </a:spcBef>
              <a:buFont typeface="Arial"/>
              <a:buChar char="•"/>
            </a:pPr>
            <a:r>
              <a:rPr lang="en-US" sz="2180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파드가 PVC를 통해 필요한 저장소를 요청하면, PVC는 PV와 연결되어 파드가 필요한 영구 저장소를 제공</a:t>
            </a:r>
          </a:p>
          <a:p>
            <a:pPr algn="l" marL="470717" indent="-235358" lvl="1">
              <a:lnSpc>
                <a:spcPts val="2899"/>
              </a:lnSpc>
              <a:spcBef>
                <a:spcPct val="0"/>
              </a:spcBef>
              <a:buFont typeface="Arial"/>
              <a:buChar char="•"/>
            </a:pPr>
            <a:r>
              <a:rPr lang="en-US" sz="2180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PVC를 통해 파드가 직접적으로 PV를 마운트하여 사용 가능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885" y="477064"/>
            <a:ext cx="8920955" cy="8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994" spc="-8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볼륨 적용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54606" y="1720599"/>
            <a:ext cx="12149803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앞서 정의한 볼륨과 볼륨 클레임을 통해 쿠버네티스에게 명령을 전달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746738" y="3039167"/>
            <a:ext cx="1364007" cy="2104333"/>
            <a:chOff x="0" y="0"/>
            <a:chExt cx="1818676" cy="28057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38125" y="596363"/>
              <a:ext cx="1680551" cy="1680551"/>
            </a:xfrm>
            <a:custGeom>
              <a:avLst/>
              <a:gdLst/>
              <a:ahLst/>
              <a:cxnLst/>
              <a:rect r="r" b="b" t="t" l="l"/>
              <a:pathLst>
                <a:path h="1680551" w="1680551">
                  <a:moveTo>
                    <a:pt x="0" y="0"/>
                  </a:moveTo>
                  <a:lnTo>
                    <a:pt x="1680551" y="0"/>
                  </a:lnTo>
                  <a:lnTo>
                    <a:pt x="1680551" y="1680551"/>
                  </a:lnTo>
                  <a:lnTo>
                    <a:pt x="0" y="1680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431104" y="2296925"/>
              <a:ext cx="732096" cy="50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3"/>
                </a:lnSpc>
                <a:spcBef>
                  <a:spcPct val="0"/>
                </a:spcBef>
              </a:pPr>
              <a:r>
                <a:rPr lang="en-US" b="true" sz="2393" spc="-4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볼륨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1522523" cy="50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3"/>
                </a:lnSpc>
                <a:spcBef>
                  <a:spcPct val="0"/>
                </a:spcBef>
              </a:pPr>
              <a:r>
                <a:rPr lang="en-US" b="true" sz="2393" spc="-4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host-pv</a:t>
              </a: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216252" y="3967974"/>
            <a:ext cx="3626775" cy="56060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450389" y="2441795"/>
            <a:ext cx="5455281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kubectl apply -f=host-pv.yaml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0389" y="3098292"/>
            <a:ext cx="6092854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kubectl apply -f=host-pvc.yaml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0389" y="3777838"/>
            <a:ext cx="6092854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kubectl apply -f=deployment.yaml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4606" y="4766339"/>
            <a:ext cx="12149803" cy="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쿠버네티스에 적용이 성공적으로 완료되면 kubectl get pv로 볼륨 확인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6761" y="4291727"/>
            <a:ext cx="1269495" cy="1958523"/>
            <a:chOff x="0" y="0"/>
            <a:chExt cx="1692660" cy="26113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8554" y="555041"/>
              <a:ext cx="1564105" cy="1564105"/>
            </a:xfrm>
            <a:custGeom>
              <a:avLst/>
              <a:gdLst/>
              <a:ahLst/>
              <a:cxnLst/>
              <a:rect r="r" b="b" t="t" l="l"/>
              <a:pathLst>
                <a:path h="1564105" w="1564105">
                  <a:moveTo>
                    <a:pt x="0" y="0"/>
                  </a:moveTo>
                  <a:lnTo>
                    <a:pt x="1564106" y="0"/>
                  </a:lnTo>
                  <a:lnTo>
                    <a:pt x="1564106" y="1564105"/>
                  </a:lnTo>
                  <a:lnTo>
                    <a:pt x="0" y="1564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01232" y="2135790"/>
              <a:ext cx="681369" cy="475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3"/>
                </a:lnSpc>
                <a:spcBef>
                  <a:spcPct val="0"/>
                </a:spcBef>
              </a:pPr>
              <a:r>
                <a:rPr lang="en-US" b="true" sz="2227" spc="-3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PV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1417027" cy="475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3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2963501" y="4731838"/>
            <a:ext cx="3375475" cy="5217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570922" y="4108555"/>
            <a:ext cx="1580231" cy="1246566"/>
            <a:chOff x="0" y="0"/>
            <a:chExt cx="447178" cy="3527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7178" cy="352756"/>
            </a:xfrm>
            <a:custGeom>
              <a:avLst/>
              <a:gdLst/>
              <a:ahLst/>
              <a:cxnLst/>
              <a:rect r="r" b="b" t="t" l="l"/>
              <a:pathLst>
                <a:path h="352756" w="447178">
                  <a:moveTo>
                    <a:pt x="0" y="0"/>
                  </a:moveTo>
                  <a:lnTo>
                    <a:pt x="447178" y="0"/>
                  </a:lnTo>
                  <a:lnTo>
                    <a:pt x="447178" y="352756"/>
                  </a:lnTo>
                  <a:lnTo>
                    <a:pt x="0" y="3527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47178" cy="381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70922" y="5697632"/>
            <a:ext cx="1580231" cy="1246566"/>
            <a:chOff x="0" y="0"/>
            <a:chExt cx="447178" cy="3527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7178" cy="352756"/>
            </a:xfrm>
            <a:custGeom>
              <a:avLst/>
              <a:gdLst/>
              <a:ahLst/>
              <a:cxnLst/>
              <a:rect r="r" b="b" t="t" l="l"/>
              <a:pathLst>
                <a:path h="352756" w="447178">
                  <a:moveTo>
                    <a:pt x="0" y="0"/>
                  </a:moveTo>
                  <a:lnTo>
                    <a:pt x="447178" y="0"/>
                  </a:lnTo>
                  <a:lnTo>
                    <a:pt x="447178" y="352756"/>
                  </a:lnTo>
                  <a:lnTo>
                    <a:pt x="0" y="3527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47178" cy="381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784624" y="4317500"/>
            <a:ext cx="134879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648" spc="-7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3GB</a:t>
            </a:r>
          </a:p>
        </p:txBody>
      </p:sp>
      <p:sp>
        <p:nvSpPr>
          <p:cNvPr name="AutoShape 14" id="14"/>
          <p:cNvSpPr/>
          <p:nvPr/>
        </p:nvSpPr>
        <p:spPr>
          <a:xfrm>
            <a:off x="3030747" y="5680237"/>
            <a:ext cx="3345154" cy="6128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133423" y="4731838"/>
            <a:ext cx="3371287" cy="510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8157748" y="6135669"/>
            <a:ext cx="3427008" cy="1718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1945261" y="3990459"/>
            <a:ext cx="1280530" cy="1280530"/>
          </a:xfrm>
          <a:custGeom>
            <a:avLst/>
            <a:gdLst/>
            <a:ahLst/>
            <a:cxnLst/>
            <a:rect r="r" b="b" t="t" l="l"/>
            <a:pathLst>
              <a:path h="1280530" w="1280530">
                <a:moveTo>
                  <a:pt x="0" y="0"/>
                </a:moveTo>
                <a:lnTo>
                  <a:pt x="1280531" y="0"/>
                </a:lnTo>
                <a:lnTo>
                  <a:pt x="1280531" y="1280530"/>
                </a:lnTo>
                <a:lnTo>
                  <a:pt x="0" y="1280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018033" y="5652789"/>
            <a:ext cx="1280530" cy="1280530"/>
          </a:xfrm>
          <a:custGeom>
            <a:avLst/>
            <a:gdLst/>
            <a:ahLst/>
            <a:cxnLst/>
            <a:rect r="r" b="b" t="t" l="l"/>
            <a:pathLst>
              <a:path h="1280530" w="1280530">
                <a:moveTo>
                  <a:pt x="0" y="0"/>
                </a:moveTo>
                <a:lnTo>
                  <a:pt x="1280530" y="0"/>
                </a:lnTo>
                <a:lnTo>
                  <a:pt x="1280530" y="1280531"/>
                </a:lnTo>
                <a:lnTo>
                  <a:pt x="0" y="12805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386098" y="3331483"/>
            <a:ext cx="1274516" cy="1199544"/>
          </a:xfrm>
          <a:custGeom>
            <a:avLst/>
            <a:gdLst/>
            <a:ahLst/>
            <a:cxnLst/>
            <a:rect r="r" b="b" t="t" l="l"/>
            <a:pathLst>
              <a:path h="1199544" w="1274516">
                <a:moveTo>
                  <a:pt x="0" y="0"/>
                </a:moveTo>
                <a:lnTo>
                  <a:pt x="1274516" y="0"/>
                </a:lnTo>
                <a:lnTo>
                  <a:pt x="1274516" y="1199544"/>
                </a:lnTo>
                <a:lnTo>
                  <a:pt x="0" y="11995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42885" y="477064"/>
            <a:ext cx="8920955" cy="8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994" spc="-8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pv : pvc : 논리적 볼륨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4103" y="6529860"/>
            <a:ext cx="162931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648" spc="-7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10GB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02354" y="5932834"/>
            <a:ext cx="134879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648" spc="-7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2GB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24218" y="7045343"/>
            <a:ext cx="1099971" cy="56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3324" spc="-5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pvc2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58398" y="3370977"/>
            <a:ext cx="1183520" cy="56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3324" spc="-5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pvc1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15781" y="3370977"/>
            <a:ext cx="1685034" cy="56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3324" spc="-5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volume1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89333" y="6983146"/>
            <a:ext cx="1685034" cy="56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3324" spc="-5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volume2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47921" y="2452368"/>
            <a:ext cx="3875210" cy="461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4"/>
              </a:lnSpc>
              <a:spcBef>
                <a:spcPct val="0"/>
              </a:spcBef>
            </a:pPr>
            <a:r>
              <a:rPr lang="en-US" b="true" sz="2807" spc="-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PVC를 통해 마운트된 볼륨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22414" y="7957582"/>
            <a:ext cx="4277247" cy="79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9"/>
              </a:lnSpc>
              <a:spcBef>
                <a:spcPct val="0"/>
              </a:spcBef>
            </a:pPr>
            <a:r>
              <a:rPr lang="en-US" b="true" sz="2375" spc="-4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PVC는 사용자가 PV에서 필요한 스토리지를 요청하는 리소스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5482755" y="6383982"/>
            <a:ext cx="1274516" cy="1199544"/>
          </a:xfrm>
          <a:custGeom>
            <a:avLst/>
            <a:gdLst/>
            <a:ahLst/>
            <a:cxnLst/>
            <a:rect r="r" b="b" t="t" l="l"/>
            <a:pathLst>
              <a:path h="1199544" w="1274516">
                <a:moveTo>
                  <a:pt x="0" y="0"/>
                </a:moveTo>
                <a:lnTo>
                  <a:pt x="1274516" y="0"/>
                </a:lnTo>
                <a:lnTo>
                  <a:pt x="1274516" y="1199544"/>
                </a:lnTo>
                <a:lnTo>
                  <a:pt x="0" y="11995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 flipV="true">
            <a:off x="13229757" y="4084466"/>
            <a:ext cx="1964374" cy="577544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3356183" y="6483662"/>
            <a:ext cx="1934440" cy="500092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5851024" y="8200010"/>
            <a:ext cx="644006" cy="461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4"/>
              </a:lnSpc>
              <a:spcBef>
                <a:spcPct val="0"/>
              </a:spcBef>
            </a:pPr>
            <a:r>
              <a:rPr lang="en-US" b="true" sz="2807" spc="-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파드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7330" y="2982889"/>
            <a:ext cx="4168357" cy="86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  <a:spcBef>
                <a:spcPct val="0"/>
              </a:spcBef>
            </a:pPr>
            <a:r>
              <a:rPr lang="en-US" b="true" sz="2602" spc="-4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물리적 저장소를 클러스터에서 정의한 것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885" y="477064"/>
            <a:ext cx="8920955" cy="8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994" spc="-8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[실습] 볼륨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3949" y="2460811"/>
            <a:ext cx="7690051" cy="151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(1) 볼륨 없이 MySQL 디플로이먼트 생성</a:t>
            </a:r>
          </a:p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(2) 테이블 및 데이터 생성</a:t>
            </a:r>
          </a:p>
          <a:p>
            <a:pPr algn="l">
              <a:lnSpc>
                <a:spcPts val="4012"/>
              </a:lnSpc>
            </a:pPr>
            <a:r>
              <a:rPr lang="en-US" sz="3016" spc="-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(3) MySQL 디플로이먼트 제거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24794"/>
            <a:ext cx="3914499" cy="57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8"/>
              </a:lnSpc>
            </a:pPr>
            <a:r>
              <a:rPr lang="en-US" sz="3494" spc="-5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#1. 볼륨없이 테스트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680824"/>
            <a:ext cx="7027668" cy="57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8"/>
              </a:lnSpc>
            </a:pPr>
            <a:r>
              <a:rPr lang="en-US" sz="3494" spc="-5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#2. 볼륨 추가해서 #1번 반복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542" y="6682706"/>
            <a:ext cx="11301259" cy="3319745"/>
          </a:xfrm>
          <a:custGeom>
            <a:avLst/>
            <a:gdLst/>
            <a:ahLst/>
            <a:cxnLst/>
            <a:rect r="r" b="b" t="t" l="l"/>
            <a:pathLst>
              <a:path h="3319745" w="11301259">
                <a:moveTo>
                  <a:pt x="0" y="0"/>
                </a:moveTo>
                <a:lnTo>
                  <a:pt x="11301259" y="0"/>
                </a:lnTo>
                <a:lnTo>
                  <a:pt x="11301259" y="3319745"/>
                </a:lnTo>
                <a:lnTo>
                  <a:pt x="0" y="331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3542" y="1343709"/>
            <a:ext cx="8199955" cy="257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211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CREATE TABLE todo (</a:t>
            </a:r>
          </a:p>
          <a:p>
            <a:pPr algn="l">
              <a:lnSpc>
                <a:spcPts val="2941"/>
              </a:lnSpc>
            </a:pPr>
            <a:r>
              <a:rPr lang="en-US" sz="2211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id INT AUTO_INCREMENT PRIMARY KEY, </a:t>
            </a:r>
          </a:p>
          <a:p>
            <a:pPr algn="l">
              <a:lnSpc>
                <a:spcPts val="2941"/>
              </a:lnSpc>
            </a:pPr>
            <a:r>
              <a:rPr lang="en-US" sz="2211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title VARCHAR(255) NOT NULL,  </a:t>
            </a:r>
          </a:p>
          <a:p>
            <a:pPr algn="l">
              <a:lnSpc>
                <a:spcPts val="2941"/>
              </a:lnSpc>
            </a:pPr>
            <a:r>
              <a:rPr lang="en-US" sz="2211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description TEXT,                   </a:t>
            </a:r>
          </a:p>
          <a:p>
            <a:pPr algn="l">
              <a:lnSpc>
                <a:spcPts val="2941"/>
              </a:lnSpc>
            </a:pPr>
            <a:r>
              <a:rPr lang="en-US" sz="2211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completed BOOLEAN DEFAULT FALSE, </a:t>
            </a:r>
          </a:p>
          <a:p>
            <a:pPr algn="l">
              <a:lnSpc>
                <a:spcPts val="2941"/>
              </a:lnSpc>
            </a:pPr>
            <a:r>
              <a:rPr lang="en-US" sz="2211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created_at TIMESTAMP DEFAULT CURRENT_TIMESTAMP</a:t>
            </a:r>
          </a:p>
          <a:p>
            <a:pPr algn="l">
              <a:lnSpc>
                <a:spcPts val="2941"/>
              </a:lnSpc>
              <a:spcBef>
                <a:spcPct val="0"/>
              </a:spcBef>
            </a:pPr>
            <a:r>
              <a:rPr lang="en-US" sz="2211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7174" y="621993"/>
            <a:ext cx="6347277" cy="50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  <a:r>
              <a:rPr lang="en-US" sz="3016" spc="-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테이블 생성 및 데이터 입력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7174" y="4421740"/>
            <a:ext cx="2038047" cy="4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962" spc="-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데이터 입력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3542" y="5288404"/>
            <a:ext cx="13321526" cy="84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551" spc="-4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INSERT INTO todo (title, description, completed) VALUES ('Eat healthy', 'dinner', TRUE);</a:t>
            </a:r>
          </a:p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551" spc="-4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INSERT INTO todo (title, description, completed) VALUES ('Smiling!', 'all day', TRUE);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04286" y="4205110"/>
            <a:ext cx="2283550" cy="2462873"/>
            <a:chOff x="0" y="0"/>
            <a:chExt cx="2956594" cy="31887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594" cy="3188771"/>
            </a:xfrm>
            <a:custGeom>
              <a:avLst/>
              <a:gdLst/>
              <a:ahLst/>
              <a:cxnLst/>
              <a:rect r="r" b="b" t="t" l="l"/>
              <a:pathLst>
                <a:path h="3188771" w="2956594">
                  <a:moveTo>
                    <a:pt x="0" y="0"/>
                  </a:moveTo>
                  <a:lnTo>
                    <a:pt x="2956594" y="0"/>
                  </a:lnTo>
                  <a:lnTo>
                    <a:pt x="2956594" y="3188771"/>
                  </a:lnTo>
                  <a:lnTo>
                    <a:pt x="0" y="31887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56594" cy="321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96284" y="4205110"/>
            <a:ext cx="2601387" cy="2462873"/>
            <a:chOff x="0" y="0"/>
            <a:chExt cx="3188439" cy="3018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88439" cy="3018668"/>
            </a:xfrm>
            <a:custGeom>
              <a:avLst/>
              <a:gdLst/>
              <a:ahLst/>
              <a:cxnLst/>
              <a:rect r="r" b="b" t="t" l="l"/>
              <a:pathLst>
                <a:path h="3018668" w="3188439">
                  <a:moveTo>
                    <a:pt x="0" y="0"/>
                  </a:moveTo>
                  <a:lnTo>
                    <a:pt x="3188439" y="0"/>
                  </a:lnTo>
                  <a:lnTo>
                    <a:pt x="3188439" y="3018668"/>
                  </a:lnTo>
                  <a:lnTo>
                    <a:pt x="0" y="30186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188439" cy="3047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50070" y="4205110"/>
            <a:ext cx="2601387" cy="2462873"/>
            <a:chOff x="0" y="0"/>
            <a:chExt cx="3188439" cy="30186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88439" cy="3018668"/>
            </a:xfrm>
            <a:custGeom>
              <a:avLst/>
              <a:gdLst/>
              <a:ahLst/>
              <a:cxnLst/>
              <a:rect r="r" b="b" t="t" l="l"/>
              <a:pathLst>
                <a:path h="3018668" w="3188439">
                  <a:moveTo>
                    <a:pt x="0" y="0"/>
                  </a:moveTo>
                  <a:lnTo>
                    <a:pt x="3188439" y="0"/>
                  </a:lnTo>
                  <a:lnTo>
                    <a:pt x="3188439" y="3018668"/>
                  </a:lnTo>
                  <a:lnTo>
                    <a:pt x="0" y="30186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188439" cy="3047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373053" y="4418591"/>
            <a:ext cx="1006372" cy="872746"/>
          </a:xfrm>
          <a:custGeom>
            <a:avLst/>
            <a:gdLst/>
            <a:ahLst/>
            <a:cxnLst/>
            <a:rect r="r" b="b" t="t" l="l"/>
            <a:pathLst>
              <a:path h="872746" w="1006372">
                <a:moveTo>
                  <a:pt x="0" y="0"/>
                </a:moveTo>
                <a:lnTo>
                  <a:pt x="1006372" y="0"/>
                </a:lnTo>
                <a:lnTo>
                  <a:pt x="1006372" y="872745"/>
                </a:lnTo>
                <a:lnTo>
                  <a:pt x="0" y="872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78112" y="5644932"/>
            <a:ext cx="901313" cy="873641"/>
          </a:xfrm>
          <a:custGeom>
            <a:avLst/>
            <a:gdLst/>
            <a:ahLst/>
            <a:cxnLst/>
            <a:rect r="r" b="b" t="t" l="l"/>
            <a:pathLst>
              <a:path h="873641" w="901313">
                <a:moveTo>
                  <a:pt x="0" y="0"/>
                </a:moveTo>
                <a:lnTo>
                  <a:pt x="901313" y="0"/>
                </a:lnTo>
                <a:lnTo>
                  <a:pt x="901313" y="873641"/>
                </a:lnTo>
                <a:lnTo>
                  <a:pt x="0" y="873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200322" y="5644932"/>
            <a:ext cx="901313" cy="873641"/>
          </a:xfrm>
          <a:custGeom>
            <a:avLst/>
            <a:gdLst/>
            <a:ahLst/>
            <a:cxnLst/>
            <a:rect r="r" b="b" t="t" l="l"/>
            <a:pathLst>
              <a:path h="873641" w="901313">
                <a:moveTo>
                  <a:pt x="0" y="0"/>
                </a:moveTo>
                <a:lnTo>
                  <a:pt x="901313" y="0"/>
                </a:lnTo>
                <a:lnTo>
                  <a:pt x="901313" y="873641"/>
                </a:lnTo>
                <a:lnTo>
                  <a:pt x="0" y="873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795404" y="5644932"/>
            <a:ext cx="901313" cy="873641"/>
          </a:xfrm>
          <a:custGeom>
            <a:avLst/>
            <a:gdLst/>
            <a:ahLst/>
            <a:cxnLst/>
            <a:rect r="r" b="b" t="t" l="l"/>
            <a:pathLst>
              <a:path h="873641" w="901313">
                <a:moveTo>
                  <a:pt x="0" y="0"/>
                </a:moveTo>
                <a:lnTo>
                  <a:pt x="901313" y="0"/>
                </a:lnTo>
                <a:lnTo>
                  <a:pt x="901313" y="873641"/>
                </a:lnTo>
                <a:lnTo>
                  <a:pt x="0" y="873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097167" y="4355822"/>
            <a:ext cx="1107623" cy="998283"/>
          </a:xfrm>
          <a:custGeom>
            <a:avLst/>
            <a:gdLst/>
            <a:ahLst/>
            <a:cxnLst/>
            <a:rect r="r" b="b" t="t" l="l"/>
            <a:pathLst>
              <a:path h="998283" w="1107623">
                <a:moveTo>
                  <a:pt x="0" y="0"/>
                </a:moveTo>
                <a:lnTo>
                  <a:pt x="1107622" y="0"/>
                </a:lnTo>
                <a:lnTo>
                  <a:pt x="1107622" y="998283"/>
                </a:lnTo>
                <a:lnTo>
                  <a:pt x="0" y="998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350" t="0" r="-48536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474546" y="4490148"/>
            <a:ext cx="1543029" cy="801188"/>
          </a:xfrm>
          <a:custGeom>
            <a:avLst/>
            <a:gdLst/>
            <a:ahLst/>
            <a:cxnLst/>
            <a:rect r="r" b="b" t="t" l="l"/>
            <a:pathLst>
              <a:path h="801188" w="1543029">
                <a:moveTo>
                  <a:pt x="0" y="0"/>
                </a:moveTo>
                <a:lnTo>
                  <a:pt x="1543029" y="0"/>
                </a:lnTo>
                <a:lnTo>
                  <a:pt x="1543029" y="801188"/>
                </a:lnTo>
                <a:lnTo>
                  <a:pt x="0" y="801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793296" y="2426896"/>
            <a:ext cx="11616132" cy="6152306"/>
            <a:chOff x="0" y="0"/>
            <a:chExt cx="14237536" cy="75406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237536" cy="7540692"/>
            </a:xfrm>
            <a:custGeom>
              <a:avLst/>
              <a:gdLst/>
              <a:ahLst/>
              <a:cxnLst/>
              <a:rect r="r" b="b" t="t" l="l"/>
              <a:pathLst>
                <a:path h="7540692" w="14237536">
                  <a:moveTo>
                    <a:pt x="0" y="0"/>
                  </a:moveTo>
                  <a:lnTo>
                    <a:pt x="14237536" y="0"/>
                  </a:lnTo>
                  <a:lnTo>
                    <a:pt x="14237536" y="7540692"/>
                  </a:lnTo>
                  <a:lnTo>
                    <a:pt x="0" y="75406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237536" cy="756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7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509377" y="1707798"/>
            <a:ext cx="2366861" cy="1438197"/>
          </a:xfrm>
          <a:custGeom>
            <a:avLst/>
            <a:gdLst/>
            <a:ahLst/>
            <a:cxnLst/>
            <a:rect r="r" b="b" t="t" l="l"/>
            <a:pathLst>
              <a:path h="1438197" w="2366861">
                <a:moveTo>
                  <a:pt x="0" y="0"/>
                </a:moveTo>
                <a:lnTo>
                  <a:pt x="2366862" y="0"/>
                </a:lnTo>
                <a:lnTo>
                  <a:pt x="2366862" y="1438197"/>
                </a:lnTo>
                <a:lnTo>
                  <a:pt x="0" y="1438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67174" y="612468"/>
            <a:ext cx="4238579" cy="67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0"/>
              </a:lnSpc>
            </a:pPr>
            <a:r>
              <a:rPr lang="en-US" b="true" sz="4090" spc="-69" u="sng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최종 실습 프로젝트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71256" y="645150"/>
            <a:ext cx="9038688" cy="62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730" spc="-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투두리스트 서비스 구축 in Minikube 클러스터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DAGlVdNZdvs</dc:identifier>
  <dcterms:modified xsi:type="dcterms:W3CDTF">2011-08-01T06:04:30Z</dcterms:modified>
  <cp:revision>1</cp:revision>
  <dc:title>쿠버네티스</dc:title>
</cp:coreProperties>
</file>