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143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0" y="3571966"/>
            <a:ext cx="9509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0000"/>
                </a:solidFill>
                <a:latin typeface="맑은 고딕"/>
              </a:defRPr>
            </a:pPr>
            <a:r>
              <a:rPr dirty="0"/>
              <a:t>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40115" y="8200571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Inter"/>
              </a:defRPr>
            </a:pPr>
            <a:r>
              <a:rPr dirty="0"/>
              <a:t>WRITTEN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16365" y="8860971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Inter"/>
              </a:defRPr>
            </a:pPr>
            <a:r>
              <a:rPr dirty="0"/>
              <a:t>YUN JISOO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7972" y="3950026"/>
            <a:ext cx="923834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200" b="1">
                <a:solidFill>
                  <a:srgbClr val="000000"/>
                </a:solidFill>
                <a:latin typeface="맑은 고딕"/>
              </a:defRPr>
            </a:pPr>
            <a:r>
              <a:rPr dirty="0"/>
              <a:t>1.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기초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네트워크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네트워크란?</a:t>
            </a:r>
            <a:br/>
            <a:r>
              <a:t>• 두 대 이상의 컴퓨터가 서로 연결되어 데이터를 주고받는 시스템</a:t>
            </a:r>
            <a:br/>
            <a:r>
              <a:t>• 하드웨어(케이블, 스위치, 라우터)와 소프트웨어(프로토콜)로 구성</a:t>
            </a:r>
            <a:br/>
            <a:br/>
            <a:r>
              <a:t>네트워크의 종류</a:t>
            </a:r>
            <a:br/>
            <a:r>
              <a:t>• LAN (Local Area Network): 근거리 통신망</a:t>
            </a:r>
            <a:br/>
            <a:r>
              <a:t>• WAN (Wide Area Network): 광역 통신망</a:t>
            </a:r>
            <a:br/>
            <a:r>
              <a:t>• MAN (Metropolitan Area Network): 도시권 통신망</a:t>
            </a:r>
            <a:br/>
            <a:br/>
            <a:r>
              <a:t>OSI 7계층 모델</a:t>
            </a:r>
            <a:br/>
            <a:r>
              <a:t>• 7계층 - Application (HTTP, FTP, DNS)</a:t>
            </a:r>
            <a:br/>
            <a:r>
              <a:t>• 6계층 - Presentation (암호화, 압축)</a:t>
            </a:r>
            <a:br/>
            <a:r>
              <a:t>• 5계층 - Session (세션 관리)</a:t>
            </a:r>
            <a:br/>
            <a:r>
              <a:t>• 4계층 - Transport (TCP, UDP)</a:t>
            </a:r>
            <a:br/>
            <a:r>
              <a:t>• 3계층 - Network (IP, 라우팅)</a:t>
            </a:r>
            <a:br/>
            <a:r>
              <a:t>• 2계층 - Data Link (MAC, 스위칭)</a:t>
            </a:r>
            <a:br/>
            <a:r>
              <a:t>• 1계층 - Physical (케이블, 신호)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TCP/IP 및 네트워크 Protocols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rPr dirty="0"/>
              <a:t>TCP/IP 4계층 </a:t>
            </a:r>
            <a:r>
              <a:rPr dirty="0" err="1"/>
              <a:t>모델</a:t>
            </a:r>
            <a:br>
              <a:rPr dirty="0"/>
            </a:br>
            <a:r>
              <a:rPr dirty="0"/>
              <a:t>• Application Layer: HTTP, FTP, SMTP, DNS, SSH</a:t>
            </a:r>
            <a:br>
              <a:rPr dirty="0"/>
            </a:br>
            <a:r>
              <a:rPr dirty="0"/>
              <a:t>• Transport Layer: TCP (</a:t>
            </a:r>
            <a:r>
              <a:rPr dirty="0" err="1"/>
              <a:t>연결</a:t>
            </a:r>
            <a:r>
              <a:rPr dirty="0"/>
              <a:t> </a:t>
            </a:r>
            <a:r>
              <a:rPr dirty="0" err="1"/>
              <a:t>지향</a:t>
            </a:r>
            <a:r>
              <a:rPr dirty="0"/>
              <a:t>), UDP (</a:t>
            </a:r>
            <a:r>
              <a:rPr dirty="0" err="1"/>
              <a:t>비연결</a:t>
            </a:r>
            <a:r>
              <a:rPr dirty="0"/>
              <a:t>)</a:t>
            </a:r>
            <a:br>
              <a:rPr dirty="0"/>
            </a:br>
            <a:r>
              <a:rPr dirty="0"/>
              <a:t>• Internet Layer: IP, ICMP, ARP</a:t>
            </a:r>
            <a:br>
              <a:rPr dirty="0"/>
            </a:br>
            <a:r>
              <a:rPr dirty="0"/>
              <a:t>• Network Access Layer: Ethernet, Wi-Fi</a:t>
            </a:r>
            <a:br>
              <a:rPr dirty="0"/>
            </a:br>
            <a:br>
              <a:rPr dirty="0"/>
            </a:br>
            <a:r>
              <a:rPr dirty="0"/>
              <a:t>TCP vs UDP</a:t>
            </a:r>
            <a:br>
              <a:rPr dirty="0"/>
            </a:br>
            <a:r>
              <a:rPr dirty="0"/>
              <a:t>• TCP: </a:t>
            </a:r>
            <a:r>
              <a:rPr dirty="0" err="1"/>
              <a:t>신뢰성</a:t>
            </a:r>
            <a:r>
              <a:rPr dirty="0"/>
              <a:t> </a:t>
            </a:r>
            <a:r>
              <a:rPr dirty="0" err="1"/>
              <a:t>보장</a:t>
            </a:r>
            <a:r>
              <a:rPr dirty="0"/>
              <a:t>, 3-way handshake, </a:t>
            </a:r>
            <a:r>
              <a:rPr dirty="0" err="1"/>
              <a:t>순서</a:t>
            </a:r>
            <a:r>
              <a:rPr dirty="0"/>
              <a:t> </a:t>
            </a:r>
            <a:r>
              <a:rPr dirty="0" err="1"/>
              <a:t>보장</a:t>
            </a:r>
            <a:br>
              <a:rPr dirty="0"/>
            </a:br>
            <a:r>
              <a:rPr dirty="0"/>
              <a:t>• UDP: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전송</a:t>
            </a:r>
            <a:r>
              <a:rPr dirty="0"/>
              <a:t>, </a:t>
            </a:r>
            <a:r>
              <a:rPr dirty="0" err="1"/>
              <a:t>비연결성</a:t>
            </a:r>
            <a:r>
              <a:rPr dirty="0"/>
              <a:t>,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스트리밍에</a:t>
            </a:r>
            <a:r>
              <a:rPr dirty="0"/>
              <a:t> </a:t>
            </a:r>
            <a:r>
              <a:rPr dirty="0" err="1"/>
              <a:t>적합</a:t>
            </a:r>
            <a:br>
              <a:rPr dirty="0"/>
            </a:br>
            <a:br>
              <a:rPr dirty="0"/>
            </a:b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프로토콜</a:t>
            </a:r>
            <a:br>
              <a:rPr dirty="0"/>
            </a:br>
            <a:r>
              <a:rPr dirty="0"/>
              <a:t>• IP (Internet Protocol): </a:t>
            </a:r>
            <a:r>
              <a:rPr dirty="0" err="1"/>
              <a:t>논리적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지정</a:t>
            </a:r>
            <a:r>
              <a:rPr dirty="0"/>
              <a:t>, </a:t>
            </a:r>
            <a:r>
              <a:rPr dirty="0" err="1"/>
              <a:t>패킷</a:t>
            </a:r>
            <a:r>
              <a:rPr dirty="0"/>
              <a:t> </a:t>
            </a:r>
            <a:r>
              <a:rPr dirty="0" err="1"/>
              <a:t>라우팅</a:t>
            </a:r>
            <a:br>
              <a:rPr dirty="0"/>
            </a:br>
            <a:r>
              <a:rPr dirty="0"/>
              <a:t>• ARP (Address Resolution Protocol): IP → MAC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변환</a:t>
            </a:r>
            <a:br>
              <a:rPr dirty="0"/>
            </a:br>
            <a:r>
              <a:rPr dirty="0"/>
              <a:t>• ICMP: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진단</a:t>
            </a:r>
            <a:r>
              <a:rPr dirty="0"/>
              <a:t> (ping)</a:t>
            </a:r>
            <a:br>
              <a:rPr dirty="0"/>
            </a:br>
            <a:r>
              <a:rPr dirty="0"/>
              <a:t>• DNS: </a:t>
            </a:r>
            <a:r>
              <a:rPr dirty="0" err="1"/>
              <a:t>도메인</a:t>
            </a:r>
            <a:r>
              <a:rPr dirty="0"/>
              <a:t> → IP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변환</a:t>
            </a:r>
            <a:br>
              <a:rPr dirty="0"/>
            </a:br>
            <a:r>
              <a:rPr dirty="0"/>
              <a:t>• DHCP: IP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할당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L2/L3/L4/L7 스위치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L2 스위치 (Data Link Layer)</a:t>
            </a:r>
            <a:br/>
            <a:r>
              <a:t>• MAC 주소 기반 프레임 전달</a:t>
            </a:r>
            <a:br/>
            <a:r>
              <a:t>• 같은 네트워크(VLAN) 내 통신, 브로드캐스트 도메인 분리 불가</a:t>
            </a:r>
            <a:br/>
            <a:br/>
            <a:r>
              <a:t>L3 스위치 (Network Layer)</a:t>
            </a:r>
            <a:br/>
            <a:r>
              <a:t>• IP 주소 기반 라우팅 기능</a:t>
            </a:r>
            <a:br/>
            <a:r>
              <a:t>• VLAN 간 라우팅 가능 (Inter-VLAN Routing)</a:t>
            </a:r>
            <a:br/>
            <a:br/>
            <a:r>
              <a:t>L4 스위치 (Transport Layer)</a:t>
            </a:r>
            <a:br/>
            <a:r>
              <a:t>• TCP/UDP 포트 기반 로드밸런싱</a:t>
            </a:r>
            <a:br/>
            <a:r>
              <a:t>• 서버 부하 분산, Health Check</a:t>
            </a:r>
            <a:br/>
            <a:br/>
            <a:r>
              <a:t>L7 스위치 (Application Layer)</a:t>
            </a:r>
            <a:br/>
            <a:r>
              <a:t>• HTTP 헤더, URL, 쿠키 기반 로드밸런싱</a:t>
            </a:r>
            <a:br/>
            <a:r>
              <a:t>• 콘텐츠 기반 스위칭, WAF 기능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링크 이중화 (STP, Etherchannel)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STP (Spanning Tree Protocol)</a:t>
            </a:r>
            <a:br/>
            <a:r>
              <a:t>• 스위치 간 루프(Loop) 방지 프로토콜</a:t>
            </a:r>
            <a:br/>
            <a:r>
              <a:t>• Root Bridge 선출 → 최적 경로 결정 → 나머지 포트 차단</a:t>
            </a:r>
            <a:br/>
            <a:r>
              <a:t>• RSTP (Rapid STP): 빠른 수렴 시간</a:t>
            </a:r>
            <a:br/>
            <a:r>
              <a:t>• PVST+ (Per-VLAN STP): VLAN별 STP 운영</a:t>
            </a:r>
            <a:br/>
            <a:br/>
            <a:r>
              <a:t>Etherchannel (Link Aggregation)</a:t>
            </a:r>
            <a:br/>
            <a:r>
              <a:t>• 여러 물리 링크를 하나의 논리 링크로 묶음</a:t>
            </a:r>
            <a:br/>
            <a:r>
              <a:t>• 대역폭 증가 + 이중화(Redundancy)</a:t>
            </a:r>
            <a:br/>
            <a:br/>
            <a:r>
              <a:t>Etherchannel 프로토콜</a:t>
            </a:r>
            <a:br/>
            <a:r>
              <a:t>• PAgP: Cisco 전용</a:t>
            </a:r>
            <a:br/>
            <a:r>
              <a:t>• LACP: IEEE 표준 802.3ad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VLAN and PVLAN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VLAN (Virtual LAN)</a:t>
            </a:r>
            <a:br/>
            <a:r>
              <a:t>• 물리적 위치와 상관없이 논리적으로 네트워크 분리</a:t>
            </a:r>
            <a:br/>
            <a:r>
              <a:t>• 브로드캐스트 도메인 축소 → 성능/보안 향상</a:t>
            </a:r>
            <a:br/>
            <a:r>
              <a:t>• VLAN ID: 1~4094</a:t>
            </a:r>
            <a:br/>
            <a:br/>
            <a:r>
              <a:t>VLAN 포트 유형</a:t>
            </a:r>
            <a:br/>
            <a:r>
              <a:t>• Access Port: 단일 VLAN에 속하는 포트 (PC 연결용)</a:t>
            </a:r>
            <a:br/>
            <a:r>
              <a:t>• Trunk Port: 여러 VLAN 트래픽 전달 (스위치 간 연결)</a:t>
            </a:r>
            <a:br/>
            <a:r>
              <a:t>• 802.1Q Tagging: VLAN 식별을 위한 태그 삽입</a:t>
            </a:r>
            <a:br/>
            <a:br/>
            <a:r>
              <a:t>PVLAN (Private VLAN)</a:t>
            </a:r>
            <a:br/>
            <a:r>
              <a:t>• VLAN 내에서 다시 세분화된 격리</a:t>
            </a:r>
            <a:br/>
            <a:r>
              <a:t>• Isolated: 같은 VLAN 내 다른 포트와 통신 불가</a:t>
            </a:r>
            <a:br/>
            <a:r>
              <a:t>• Community: 같은 Community 내에서만 통신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Inter-VLAN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Inter-VLAN Routing이란?</a:t>
            </a:r>
            <a:br/>
            <a:r>
              <a:t>• 서로 다른 VLAN 간의 통신을 가능하게 하는 기술</a:t>
            </a:r>
            <a:br/>
            <a:r>
              <a:t>• VLAN은 기본적으로 격리 → L3 장비 필요</a:t>
            </a:r>
            <a:br/>
            <a:br/>
            <a:r>
              <a:t>구현 방식</a:t>
            </a:r>
            <a:br/>
            <a:br/>
            <a:r>
              <a:t>1. 전통적 방식 (Legacy)</a:t>
            </a:r>
            <a:br/>
            <a:r>
              <a:t>   • 라우터의 각 인터페이스를 VLAN별로 연결</a:t>
            </a:r>
            <a:br/>
            <a:br/>
            <a:r>
              <a:t>2. Router-on-a-Stick</a:t>
            </a:r>
            <a:br/>
            <a:r>
              <a:t>   • 라우터 1개 포트에 서브인터페이스 생성</a:t>
            </a:r>
            <a:br/>
            <a:r>
              <a:t>   • Trunk 연결로 여러 VLAN 처리</a:t>
            </a:r>
            <a:br/>
            <a:br/>
            <a:r>
              <a:t>3. L3 스위치 (SVI)</a:t>
            </a:r>
            <a:br/>
            <a:r>
              <a:t>   • Switch Virtual Interface 사용</a:t>
            </a:r>
            <a:br/>
            <a:r>
              <a:t>   • 하드웨어 기반 빠른 라우팅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  <a:latin typeface="맑은 고딕"/>
              </a:defRPr>
            </a:pPr>
            <a:r>
              <a:t>Gateway 이중화 (HSRP, VRRP, GLBP)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FHRP (First Hop Redundancy Protocol)</a:t>
            </a:r>
            <a:br/>
            <a:r>
              <a:t>• 기본 게이트웨이 장애 시 자동 전환</a:t>
            </a:r>
            <a:br/>
            <a:r>
              <a:t>• 가상 IP/MAC 주소 사용</a:t>
            </a:r>
            <a:br/>
            <a:br/>
            <a:r>
              <a:t>HSRP (Hot Standby Router Protocol)</a:t>
            </a:r>
            <a:br/>
            <a:r>
              <a:t>• Cisco 전용, Active/Standby 구조 (1:1)</a:t>
            </a:r>
            <a:br/>
            <a:r>
              <a:t>• Priority 높은 라우터가 Active</a:t>
            </a:r>
            <a:br/>
            <a:br/>
            <a:r>
              <a:t>VRRP (Virtual Router Redundancy Protocol)</a:t>
            </a:r>
            <a:br/>
            <a:r>
              <a:t>• IEEE 표준 프로토콜, Master/Backup 구조</a:t>
            </a:r>
            <a:br/>
            <a:r>
              <a:t>• 멀티벤더 환경에서 사용</a:t>
            </a:r>
            <a:br/>
            <a:br/>
            <a:r>
              <a:t>GLBP (Gateway Load Balancing Protocol)</a:t>
            </a:r>
            <a:br/>
            <a:r>
              <a:t>• Cisco 전용, 로드밸런싱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200" b="1">
                <a:solidFill>
                  <a:srgbClr val="000000"/>
                </a:solidFill>
                <a:latin typeface="맑은 고딕"/>
              </a:defRPr>
            </a:pPr>
            <a:r>
              <a:t>2. 라우팅 (Routing)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Static Routing Table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라우팅 테이블이란?</a:t>
            </a:r>
            <a:br/>
            <a:r>
              <a:t>• 목적지 네트워크로 가기 위한 경로 정보 저장</a:t>
            </a:r>
            <a:br/>
            <a:r>
              <a:t>• 패킷 전달 시 라우팅 테이블 참조</a:t>
            </a:r>
            <a:br/>
            <a:br/>
            <a:r>
              <a:t>라우팅 테이블 구성 요소</a:t>
            </a:r>
            <a:br/>
            <a:r>
              <a:t>• Destination Network: 목적지 네트워크/서브넷</a:t>
            </a:r>
            <a:br/>
            <a:r>
              <a:t>• Subnet Mask: 네트워크 범위 지정</a:t>
            </a:r>
            <a:br/>
            <a:r>
              <a:t>• Next Hop: 다음 라우터 IP 주소</a:t>
            </a:r>
            <a:br/>
            <a:r>
              <a:t>• Interface: 패킷이 나가는 인터페이스</a:t>
            </a:r>
            <a:br/>
            <a:r>
              <a:t>• Metric: 경로 비용 (낮을수록 우선)</a:t>
            </a:r>
            <a:br/>
            <a:br/>
            <a:r>
              <a:t>라우팅 테이블 확인</a:t>
            </a:r>
            <a:br/>
            <a:r>
              <a:t>• show ip route (Cisco)</a:t>
            </a:r>
            <a:br/>
            <a:r>
              <a:t>• route print (Windows)</a:t>
            </a:r>
            <a:br/>
            <a:r>
              <a:t>• ip route (Linux)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Static and Default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Static Routing (정적 라우팅)</a:t>
            </a:r>
            <a:br/>
            <a:r>
              <a:t>• 관리자가 수동으로 경로 설정</a:t>
            </a:r>
            <a:br/>
            <a:r>
              <a:t>• 소규모 네트워크, 보안이 중요한 구간에 적합</a:t>
            </a:r>
            <a:br/>
            <a:br/>
            <a:r>
              <a:t>설정 예시 (Cisco)</a:t>
            </a:r>
            <a:br/>
            <a:r>
              <a:t>ip route 192.168.2.0 255.255.255.0 10.0.0.2</a:t>
            </a:r>
            <a:br/>
            <a:br/>
            <a:r>
              <a:t>Default Route (기본 경로)</a:t>
            </a:r>
            <a:br/>
            <a:r>
              <a:t>• 라우팅 테이블에 없는 모든 목적지를 위한 경로</a:t>
            </a:r>
            <a:br/>
            <a:r>
              <a:t>• 'Gateway of Last Resort'</a:t>
            </a:r>
            <a:br/>
            <a:r>
              <a:t>• 인터넷 연결 시 필수</a:t>
            </a:r>
            <a:br/>
            <a:br/>
            <a:r>
              <a:t>설정 예시</a:t>
            </a:r>
            <a:br/>
            <a:r>
              <a:t>ip route 0.0.0.0 0.0.0.0 203.0.113.1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동적 라우팅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동적 라우팅이란?</a:t>
            </a:r>
            <a:br/>
            <a:r>
              <a:t>• 라우터가 자동으로 경로 정보 학습 및 공유</a:t>
            </a:r>
            <a:br/>
            <a:r>
              <a:t>• 네트워크 변화에 자동 대응</a:t>
            </a:r>
            <a:br/>
            <a:r>
              <a:t>• 대규모 네트워크에 적합</a:t>
            </a:r>
            <a:br/>
            <a:br/>
            <a:r>
              <a:t>동적 라우팅 프로토콜 분류</a:t>
            </a:r>
            <a:br/>
            <a:br/>
            <a:r>
              <a:t>IGP (Interior Gateway Protocol) - AS 내부</a:t>
            </a:r>
            <a:br/>
            <a:r>
              <a:t>• Distance Vector: RIP, EIGRP</a:t>
            </a:r>
            <a:br/>
            <a:r>
              <a:t>• Link State: OSPF, IS-IS</a:t>
            </a:r>
            <a:br/>
            <a:br/>
            <a:r>
              <a:t>EGP (Exterior Gateway Protocol) - AS 간</a:t>
            </a:r>
            <a:br/>
            <a:r>
              <a:t>• BGP (Border Gateway Protocol)</a:t>
            </a:r>
            <a:br/>
            <a:br/>
            <a:r>
              <a:t>Metric (경로 비용)</a:t>
            </a:r>
            <a:br/>
            <a:r>
              <a:t>• RIP: Hop Count | OSPF: Cost | EIGRP: Bandwidth + Delay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IGP 프로토콜의 역할 및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RIP (Routing Information Protocol)</a:t>
            </a:r>
            <a:br/>
            <a:r>
              <a:t>• Distance Vector 방식, Metric: Hop Count (최대 15)</a:t>
            </a:r>
            <a:br/>
            <a:r>
              <a:t>• 소규모 네트워크용, 수렴 속도 느림</a:t>
            </a:r>
            <a:br/>
            <a:br/>
            <a:r>
              <a:t>OSPF (Open Shortest Path First)</a:t>
            </a:r>
            <a:br/>
            <a:r>
              <a:t>• Link State 방식, Metric: Cost</a:t>
            </a:r>
            <a:br/>
            <a:r>
              <a:t>• Area 기반 계층 구조 (Area 0 = Backbone)</a:t>
            </a:r>
            <a:br/>
            <a:r>
              <a:t>• 대규모 네트워크에 적합, 빠른 수렴</a:t>
            </a:r>
            <a:br/>
            <a:br/>
            <a:r>
              <a:t>EIGRP (Enhanced Interior Gateway Routing Protocol)</a:t>
            </a:r>
            <a:br/>
            <a:r>
              <a:t>• Advanced Distance Vector (하이브리드)</a:t>
            </a:r>
            <a:br/>
            <a:r>
              <a:t>• DUAL 알고리즘, 빠른 수렴</a:t>
            </a:r>
            <a:br/>
            <a:r>
              <a:t>• Metric: Bandwidth + Delay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BGP 라우팅 프로토콜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BGP (Border Gateway Protocol)</a:t>
            </a:r>
            <a:br/>
            <a:r>
              <a:t>• EGP (Exterior Gateway Protocol)</a:t>
            </a:r>
            <a:br/>
            <a:r>
              <a:t>• AS (Autonomous System) 간 라우팅</a:t>
            </a:r>
            <a:br/>
            <a:r>
              <a:t>• 인터넷의 핵심 라우팅 프로토콜</a:t>
            </a:r>
            <a:br/>
            <a:br/>
            <a:r>
              <a:t>BGP 특징</a:t>
            </a:r>
            <a:br/>
            <a:r>
              <a:t>• Path Vector 방식</a:t>
            </a:r>
            <a:br/>
            <a:r>
              <a:t>• TCP 포트 179 사용</a:t>
            </a:r>
            <a:br/>
            <a:r>
              <a:t>• 정책 기반 라우팅, 안정성 중시</a:t>
            </a:r>
            <a:br/>
            <a:br/>
            <a:r>
              <a:t>BGP 유형</a:t>
            </a:r>
            <a:br/>
            <a:r>
              <a:t>• iBGP (Internal BGP): 같은 AS 내</a:t>
            </a:r>
            <a:br/>
            <a:r>
              <a:t>• eBGP (External BGP): 다른 AS 간</a:t>
            </a:r>
            <a:br/>
            <a:br/>
            <a:r>
              <a:t>BGP Attributes</a:t>
            </a:r>
            <a:br/>
            <a:r>
              <a:t>• Weight, Local Preference, AS-Path, Origin, MED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200" b="1">
                <a:solidFill>
                  <a:srgbClr val="000000"/>
                </a:solidFill>
                <a:latin typeface="맑은 고딕"/>
              </a:defRPr>
            </a:pPr>
            <a:r>
              <a:t>3. 트래픽 제어 및 NAT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ACL을 통한 트래픽 제어하기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ACL (Access Control List)</a:t>
            </a:r>
            <a:br/>
            <a:r>
              <a:t>• 패킷 필터링을 통한 트래픽 제어</a:t>
            </a:r>
            <a:br/>
            <a:br/>
            <a:r>
              <a:t>ACL 유형</a:t>
            </a:r>
            <a:br/>
            <a:r>
              <a:t>• Standard ACL (1-99): 출발지 IP만 검사</a:t>
            </a:r>
            <a:br/>
            <a:r>
              <a:t>• Extended ACL (100-199): 출발지/목적지 IP, 포트, 프로토콜</a:t>
            </a:r>
            <a:br/>
            <a:r>
              <a:t>• Named ACL: 이름으로 식별, 수정 용이</a:t>
            </a:r>
            <a:br/>
            <a:br/>
            <a:r>
              <a:t>ACL 규칙</a:t>
            </a:r>
            <a:br/>
            <a:r>
              <a:t>• 위에서 아래로 순차 검사 (Top-Down)</a:t>
            </a:r>
            <a:br/>
            <a:r>
              <a:t>• 첫 번째 매칭 규칙 적용 후 중단</a:t>
            </a:r>
            <a:br/>
            <a:r>
              <a:t>• 마지막에 암묵적 deny any</a:t>
            </a:r>
            <a:br/>
            <a:br/>
            <a:r>
              <a:t>적용 방향</a:t>
            </a:r>
            <a:br/>
            <a:r>
              <a:t>• Inbound: 들어오는 트래픽</a:t>
            </a:r>
            <a:br/>
            <a:r>
              <a:t>• Outbound: 나가는 트래픽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NAT (Network Address Translation)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NAT란?</a:t>
            </a:r>
            <a:br/>
            <a:r>
              <a:t>• 사설 IP ↔ 공인 IP 주소 변환</a:t>
            </a:r>
            <a:br/>
            <a:r>
              <a:t>• IPv4 주소 부족 해결</a:t>
            </a:r>
            <a:br/>
            <a:br/>
            <a:r>
              <a:t>NAT 용어</a:t>
            </a:r>
            <a:br/>
            <a:r>
              <a:t>• Inside Local: 내부 사설 IP</a:t>
            </a:r>
            <a:br/>
            <a:r>
              <a:t>• Inside Global: 외부에서 보이는 공인 IP</a:t>
            </a:r>
            <a:br/>
            <a:br/>
            <a:r>
              <a:t>NAT 유형</a:t>
            </a:r>
            <a:br/>
            <a:r>
              <a:t>• Static NAT: 1:1 고정 매핑</a:t>
            </a:r>
            <a:br/>
            <a:r>
              <a:t>• Dynamic NAT: Pool에서 동적 할당</a:t>
            </a:r>
            <a:br/>
            <a:r>
              <a:t>• PAT: 다:1, 포트로 구분 (NAT Overload)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  <a:latin typeface="맑은 고딕"/>
              </a:defRPr>
            </a:pPr>
            <a:r>
              <a:t>Static NAT &amp; Dynamic NAT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Static NAT</a:t>
            </a:r>
            <a:br/>
            <a:r>
              <a:t>• 사설 IP와 공인 IP 1:1 매핑</a:t>
            </a:r>
            <a:br/>
            <a:r>
              <a:t>• 웹서버 등 외부 접속이 필요한 경우</a:t>
            </a:r>
            <a:br/>
            <a:r>
              <a:t>• ip nat inside source static 192.168.1.10 203.0.113.10</a:t>
            </a:r>
            <a:br/>
            <a:br/>
            <a:r>
              <a:t>Dynamic NAT</a:t>
            </a:r>
            <a:br/>
            <a:r>
              <a:t>• IP Pool에서 동적으로 공인 IP 할당</a:t>
            </a:r>
            <a:br/>
            <a:br/>
            <a:r>
              <a:t>인터페이스 설정</a:t>
            </a:r>
            <a:br/>
            <a:r>
              <a:t>interface GigabitEthernet0/0</a:t>
            </a:r>
            <a:br/>
            <a:r>
              <a:t>  ip nat inside</a:t>
            </a:r>
            <a:br/>
            <a:r>
              <a:t>interface GigabitEthernet0/1</a:t>
            </a:r>
            <a:br/>
            <a:r>
              <a:t>  ip nat outside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200" b="1">
                <a:solidFill>
                  <a:srgbClr val="000000"/>
                </a:solidFill>
                <a:latin typeface="맑은 고딕"/>
              </a:defRPr>
            </a:pPr>
            <a:r>
              <a:t>4. Amazon VPC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Amazon VPC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VPC (Virtual Private Cloud)</a:t>
            </a:r>
            <a:br/>
            <a:r>
              <a:t>• AWS 클라우드 내 논리적으로 격리된 가상 네트워크</a:t>
            </a:r>
            <a:br/>
            <a:r>
              <a:t>• 온프레미스 네트워크 개념을 클라우드에 적용</a:t>
            </a:r>
            <a:br/>
            <a:br/>
            <a:r>
              <a:t>VPC 특징</a:t>
            </a:r>
            <a:br/>
            <a:r>
              <a:t>• Region 단위로 생성</a:t>
            </a:r>
            <a:br/>
            <a:r>
              <a:t>• CIDR 블록 지정 (/16 ~ /28)</a:t>
            </a:r>
            <a:br/>
            <a:br/>
            <a:r>
              <a:t>온프레미스 vs AWS 매핑</a:t>
            </a:r>
            <a:br/>
            <a:r>
              <a:t>• VLAN → Subnet</a:t>
            </a:r>
            <a:br/>
            <a:r>
              <a:t>• Router → Route Table</a:t>
            </a:r>
            <a:br/>
            <a:r>
              <a:t>• Firewall → Security Group / NACL</a:t>
            </a:r>
            <a:br/>
            <a:r>
              <a:t>• NAT Gateway → NAT Gateway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  <a:latin typeface="맑은 고딕"/>
              </a:defRPr>
            </a:pPr>
            <a:r>
              <a:t>VPC 기본 구성요소 (IGW, NAT, Subnet)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Subnet (서브넷)</a:t>
            </a:r>
            <a:br/>
            <a:r>
              <a:t>• VPC 내 IP 주소 범위를 나눈 단위</a:t>
            </a:r>
            <a:br/>
            <a:r>
              <a:t>• Public Subnet: IGW와 연결</a:t>
            </a:r>
            <a:br/>
            <a:r>
              <a:t>• Private Subnet: 외부 직접 접근 불가</a:t>
            </a:r>
            <a:br/>
            <a:br/>
            <a:r>
              <a:t>Internet Gateway (IGW)</a:t>
            </a:r>
            <a:br/>
            <a:r>
              <a:t>• VPC와 인터넷 간 통신 게이트웨이</a:t>
            </a:r>
            <a:br/>
            <a:r>
              <a:t>• Public Subnet의 Route Table에 연결</a:t>
            </a:r>
            <a:br/>
            <a:br/>
            <a:r>
              <a:t>NAT Gateway</a:t>
            </a:r>
            <a:br/>
            <a:r>
              <a:t>• Private Subnet → 인터넷 아웃바운드 통신</a:t>
            </a:r>
            <a:br/>
            <a:r>
              <a:t>• Public Subnet에 배치</a:t>
            </a:r>
            <a:br/>
            <a:r>
              <a:t>• Elastic IP 할당 필요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VPC 라우팅 테이블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Route Table</a:t>
            </a:r>
            <a:br/>
            <a:r>
              <a:t>• 트래픽이 어디로 전달될지 결정하는 규칙</a:t>
            </a:r>
            <a:br/>
            <a:r>
              <a:t>• 각 서브넷은 하나의 Route Table과 연결</a:t>
            </a:r>
            <a:br/>
            <a:br/>
            <a:r>
              <a:t>Route Table 구성</a:t>
            </a:r>
            <a:br/>
            <a:r>
              <a:t>• Destination: 목적지 CIDR</a:t>
            </a:r>
            <a:br/>
            <a:r>
              <a:t>• Target: 트래픽 전달 대상</a:t>
            </a:r>
            <a:br/>
            <a:br/>
            <a:r>
              <a:t>Target 유형</a:t>
            </a:r>
            <a:br/>
            <a:r>
              <a:t>• local: VPC 내부 통신 (자동 생성)</a:t>
            </a:r>
            <a:br/>
            <a:r>
              <a:t>• igw-xxx: Internet Gateway</a:t>
            </a:r>
            <a:br/>
            <a:r>
              <a:t>• nat-xxx: NAT Gateway</a:t>
            </a:r>
            <a:br/>
            <a:r>
              <a:t>• pcx-xxx: VPC Peering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  <a:latin typeface="맑은 고딕"/>
              </a:defRPr>
            </a:pPr>
            <a:r>
              <a:t>VPC 보안요소 (Security Group, NACL)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Security Group (보안 그룹)</a:t>
            </a:r>
            <a:br/>
            <a:r>
              <a:t>• 인스턴스 레벨 방화벽</a:t>
            </a:r>
            <a:br/>
            <a:r>
              <a:t>• Stateful: 아웃바운드 응답 자동 허용</a:t>
            </a:r>
            <a:br/>
            <a:r>
              <a:t>• Allow 규칙만 지정 (Deny 불가)</a:t>
            </a:r>
            <a:br/>
            <a:br/>
            <a:r>
              <a:t>NACL (Network Access Control List)</a:t>
            </a:r>
            <a:br/>
            <a:r>
              <a:t>• 서브넷 레벨 방화벽</a:t>
            </a:r>
            <a:br/>
            <a:r>
              <a:t>• Stateless: 인바운드/아웃바운드 별도 설정</a:t>
            </a:r>
            <a:br/>
            <a:r>
              <a:t>• Allow/Deny 규칙 모두 지정 가능</a:t>
            </a:r>
            <a:br/>
            <a:br/>
            <a:r>
              <a:t>비교</a:t>
            </a:r>
            <a:br/>
            <a:r>
              <a:t>• Security Group: 인스턴스, Stateful, Allow만</a:t>
            </a:r>
            <a:br/>
            <a:r>
              <a:t>• NACL: 서브넷, Stateless, Allow/Deny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[Lab] VPC 생성하기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실습 목표</a:t>
            </a:r>
            <a:br/>
            <a:r>
              <a:t>• VPC 생성 및 기본 구성요소 설정</a:t>
            </a:r>
            <a:br/>
            <a:br/>
            <a:r>
              <a:t>실습 단계</a:t>
            </a:r>
            <a:br/>
            <a:r>
              <a:t>1. VPC 생성 (10.0.0.0/16)</a:t>
            </a:r>
            <a:br/>
            <a:r>
              <a:t>2. Public Subnet 생성 (10.0.1.0/24)</a:t>
            </a:r>
            <a:br/>
            <a:r>
              <a:t>3. Private Subnet 생성 (10.0.2.0/24)</a:t>
            </a:r>
            <a:br/>
            <a:r>
              <a:t>4. Internet Gateway 생성 및 VPC 연결</a:t>
            </a:r>
            <a:br/>
            <a:r>
              <a:t>5. NAT Gateway 생성 (Public Subnet)</a:t>
            </a:r>
            <a:br/>
            <a:r>
              <a:t>6. Route Table 설정</a:t>
            </a:r>
            <a:br/>
            <a:r>
              <a:t>   - Public: 0.0.0.0/0 → IGW</a:t>
            </a:r>
            <a:br/>
            <a:r>
              <a:t>   - Private: 0.0.0.0/0 → NAT GW</a:t>
            </a:r>
            <a:br/>
            <a:r>
              <a:t>7. Security Group 생성</a:t>
            </a:r>
            <a:br/>
            <a:r>
              <a:t>8. EC2 배포 및 통신 테스트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300" b="1">
                <a:solidFill>
                  <a:srgbClr val="000000"/>
                </a:solidFill>
                <a:latin typeface="맑은 고딕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947672"/>
            <a:ext cx="15544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600">
                <a:solidFill>
                  <a:srgbClr val="000000"/>
                </a:solidFill>
                <a:latin typeface="맑은 고딕"/>
              </a:defRPr>
            </a:pPr>
            <a:r>
              <a:t>온프레미스 네트워크 → AWS 클라우드 연계</a:t>
            </a:r>
            <a:br/>
            <a:br/>
            <a:r>
              <a:t>• 네트워크 기초: OSI 7계층, TCP/IP, 스위칭</a:t>
            </a:r>
            <a:br/>
            <a:r>
              <a:t>• 스위칭: L2/L3/L4/L7, VLAN, STP, Etherchannel</a:t>
            </a:r>
            <a:br/>
            <a:r>
              <a:t>• 라우팅: Static/Dynamic, OSPF, BGP</a:t>
            </a:r>
            <a:br/>
            <a:r>
              <a:t>• 보안: ACL, NAT</a:t>
            </a:r>
            <a:br/>
            <a:r>
              <a:t>• AWS VPC: Subnet, IGW, NAT GW, Route Table</a:t>
            </a:r>
            <a:br/>
            <a:br/>
            <a:r>
              <a:t>핵심 매핑</a:t>
            </a:r>
            <a:br/>
            <a:r>
              <a:t>• VLAN = Subnet</a:t>
            </a:r>
            <a:br/>
            <a:r>
              <a:t>• Router = Route Table</a:t>
            </a:r>
            <a:br/>
            <a:r>
              <a:t>• ACL = Security Group / NACL</a:t>
            </a:r>
            <a:br/>
            <a:br/>
            <a:r>
              <a:t>온프레미스 개념을 이해하면 클라우드도 쉽게 이해할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2096</Words>
  <Application>Microsoft Office PowerPoint</Application>
  <PresentationFormat>사용자 지정</PresentationFormat>
  <Paragraphs>49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JISOO YUN</cp:lastModifiedBy>
  <cp:revision>2</cp:revision>
  <dcterms:created xsi:type="dcterms:W3CDTF">2013-01-27T09:14:16Z</dcterms:created>
  <dcterms:modified xsi:type="dcterms:W3CDTF">2025-12-27T15:42:50Z</dcterms:modified>
  <cp:category/>
</cp:coreProperties>
</file>